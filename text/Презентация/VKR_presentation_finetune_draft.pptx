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69" r:id="rId4"/>
    <p:sldId id="258" r:id="rId5"/>
    <p:sldId id="267" r:id="rId6"/>
    <p:sldId id="259" r:id="rId7"/>
    <p:sldId id="260" r:id="rId8"/>
    <p:sldId id="261" r:id="rId9"/>
    <p:sldId id="263" r:id="rId10"/>
    <p:sldId id="264" r:id="rId11"/>
    <p:sldId id="266" r:id="rId12"/>
    <p:sldId id="270" r:id="rId13"/>
    <p:sldId id="271" r:id="rId14"/>
    <p:sldId id="262" r:id="rId15"/>
  </p:sldIdLst>
  <p:sldSz cx="14630400" cy="8229600"/>
  <p:notesSz cx="8229600" cy="14630400"/>
  <p:embeddedFontLst>
    <p:embeddedFont>
      <p:font typeface="Candara" panose="020E0502030303020204" pitchFamily="34" charset="0"/>
      <p:regular r:id="rId17"/>
      <p:bold r:id="rId18"/>
      <p:italic r:id="rId19"/>
      <p:boldItalic r:id="rId20"/>
    </p:embeddedFont>
    <p:embeddedFont>
      <p:font typeface="Montserrat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4B51"/>
    <a:srgbClr val="FA8072"/>
    <a:srgbClr val="3A5DB2"/>
    <a:srgbClr val="3E65D8"/>
    <a:srgbClr val="648FD1"/>
    <a:srgbClr val="ECF3FD"/>
    <a:srgbClr val="1E3E8D"/>
    <a:srgbClr val="4582B4"/>
    <a:srgbClr val="FCFDFF"/>
    <a:srgbClr val="315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04"/>
    <p:restoredTop sz="94610"/>
  </p:normalViewPr>
  <p:slideViewPr>
    <p:cSldViewPr snapToGrid="0" snapToObjects="1">
      <p:cViewPr>
        <p:scale>
          <a:sx n="134" d="100"/>
          <a:sy n="134" d="100"/>
        </p:scale>
        <p:origin x="-1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3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311" y="3477600"/>
            <a:ext cx="5703090" cy="4752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33" y="670327"/>
            <a:ext cx="2980800" cy="19872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72234" y="7300627"/>
            <a:ext cx="197977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None/>
              <a:defRPr sz="216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72233" y="3080671"/>
            <a:ext cx="3233706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None/>
              <a:defRPr sz="288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72234" y="3837801"/>
            <a:ext cx="3523249" cy="7755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None/>
              <a:defRPr sz="432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4737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E6EA7C-CF0A-7C36-965C-365245E00981}"/>
              </a:ext>
            </a:extLst>
          </p:cNvPr>
          <p:cNvSpPr/>
          <p:nvPr/>
        </p:nvSpPr>
        <p:spPr>
          <a:xfrm>
            <a:off x="5244584" y="2405300"/>
            <a:ext cx="414123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9AA9FB-D664-0176-51F6-29592CE5974D}"/>
              </a:ext>
            </a:extLst>
          </p:cNvPr>
          <p:cNvSpPr/>
          <p:nvPr/>
        </p:nvSpPr>
        <p:spPr>
          <a:xfrm>
            <a:off x="5380673" y="2509599"/>
            <a:ext cx="38690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62B92A-E117-FB88-3B04-23DB35775F46}"/>
              </a:ext>
            </a:extLst>
          </p:cNvPr>
          <p:cNvSpPr/>
          <p:nvPr/>
        </p:nvSpPr>
        <p:spPr>
          <a:xfrm>
            <a:off x="793790" y="2958584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Методы классификации текстовых документов на основе дообучения большой языковой модели</a:t>
            </a:r>
            <a:endParaRPr lang="en-US" sz="4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C67A2-CDCE-02F8-DCD5-35C503367FAE}"/>
              </a:ext>
            </a:extLst>
          </p:cNvPr>
          <p:cNvSpPr txBox="1"/>
          <p:nvPr/>
        </p:nvSpPr>
        <p:spPr>
          <a:xfrm>
            <a:off x="5244584" y="332615"/>
            <a:ext cx="9178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МИНИСТЕРСТВО НАУКИ И ВЫСШЕГО ОБРАЗОВАНИЯ РОССИЙСКОЙ ФЕДЕРАЦИИ</a:t>
            </a:r>
            <a:r>
              <a:rPr lang="en-US" sz="1400" dirty="0">
                <a:latin typeface="Montserrat" panose="00000500000000000000" pitchFamily="2" charset="-52"/>
              </a:rPr>
              <a:t>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ФЕДЕРАЛЬНОЕ ГОСУДАРСТВЕННОЕ АВТОНОМНОЕ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ОБРАЗОВАТЕЛЬНОЕ УЧРЕЖДЕНИЕ ВЫСШЕГО ОБРАЗОВАНИЯ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“НАЦИОНАЛЬНЫЙ ИССЛЕДОВАТЕЛЬСКИЙ ЯДЕРНЫЙ УНИВЕРСИТЕТ МИФИ”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3F45AF-0069-29D8-EA0E-3FEEB7865CE6}"/>
              </a:ext>
            </a:extLst>
          </p:cNvPr>
          <p:cNvSpPr txBox="1"/>
          <p:nvPr/>
        </p:nvSpPr>
        <p:spPr>
          <a:xfrm>
            <a:off x="5606270" y="1286722"/>
            <a:ext cx="80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Кафедра № 42 «Криптология и кибербезопасность»</a:t>
            </a:r>
            <a:endParaRPr lang="ru-R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8C0E7-C054-4553-B144-EB4F55B91043}"/>
              </a:ext>
            </a:extLst>
          </p:cNvPr>
          <p:cNvSpPr txBox="1"/>
          <p:nvPr/>
        </p:nvSpPr>
        <p:spPr>
          <a:xfrm>
            <a:off x="278607" y="7565062"/>
            <a:ext cx="7315200" cy="428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2850"/>
              </a:lnSpc>
            </a:pPr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Дата защиты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: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 23.06.2026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3B225-2B32-DCCE-AAAF-D10276E2932D}"/>
              </a:ext>
            </a:extLst>
          </p:cNvPr>
          <p:cNvSpPr txBox="1"/>
          <p:nvPr/>
        </p:nvSpPr>
        <p:spPr>
          <a:xfrm>
            <a:off x="278607" y="6449006"/>
            <a:ext cx="5619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90909"/>
                </a:solidFill>
                <a:effectLst/>
                <a:latin typeface="Times New Roman" panose="02020603050405020304" pitchFamily="18" charset="0"/>
              </a:rPr>
              <a:t>Тураносов Константин Викторович</a:t>
            </a:r>
            <a:endParaRPr lang="ru-RU" dirty="0">
              <a:solidFill>
                <a:srgbClr val="090909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ru-RU" b="1" dirty="0">
                <a:solidFill>
                  <a:srgbClr val="090909"/>
                </a:solidFill>
                <a:effectLst/>
                <a:latin typeface="Times New Roman" panose="02020603050405020304" pitchFamily="18" charset="0"/>
              </a:rPr>
              <a:t>01.04.02 -Прикладная математика и информатика</a:t>
            </a:r>
            <a:endParaRPr lang="ru-RU" dirty="0">
              <a:solidFill>
                <a:srgbClr val="090909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ru-RU" b="1" dirty="0">
                <a:solidFill>
                  <a:srgbClr val="090909"/>
                </a:solidFill>
                <a:effectLst/>
                <a:latin typeface="Times New Roman" panose="02020603050405020304" pitchFamily="18" charset="0"/>
              </a:rPr>
              <a:t>Программа: Машинное обучение</a:t>
            </a:r>
            <a:endParaRPr lang="ru-RU" dirty="0">
              <a:solidFill>
                <a:srgbClr val="090909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65F5F9-CA94-0885-E61E-2B44E95F9B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589" y="-5847"/>
            <a:ext cx="14626513" cy="82317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4357" y="156485"/>
            <a:ext cx="7137797" cy="116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 </a:t>
            </a:r>
            <a:r>
              <a:rPr lang="ru-RU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темы </a:t>
            </a:r>
            <a:r>
              <a:rPr lang="en-US" sz="37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</a:t>
            </a: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sz="375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ctr">
              <a:lnSpc>
                <a:spcPts val="4700"/>
              </a:lnSpc>
              <a:buNone/>
            </a:pPr>
            <a:r>
              <a:rPr lang="ru-RU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</a:rPr>
              <a:t>Проблематика исследования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340537" y="17959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Проблема</a:t>
            </a: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тика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514725" y="2163827"/>
            <a:ext cx="9961169" cy="85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600" dirty="0">
                <a:latin typeface=""/>
                <a:ea typeface="Roboto Slab Black" pitchFamily="2" charset="0"/>
              </a:rPr>
              <a:t>Крупный нефтяной холдинг получает всю входящую корреспонденцию в один общий почтовый ящик.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Ручная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маршрутизация по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подразделениям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трудоёмка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, </a:t>
            </a:r>
            <a:r>
              <a:rPr lang="ru-RU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может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приводит</a:t>
            </a:r>
            <a:r>
              <a:rPr lang="ru-RU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ь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к потерям корреспонденции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и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задержкам</a:t>
            </a:r>
            <a:r>
              <a:rPr lang="ru-RU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доставки до адресата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.</a:t>
            </a:r>
            <a:endParaRPr lang="en-US" sz="1500" dirty="0">
              <a:latin typeface=""/>
              <a:ea typeface="Roboto Slab Black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98112" y="3634573"/>
            <a:ext cx="7063935" cy="1196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00"/>
              </a:lnSpc>
            </a:pPr>
            <a:r>
              <a:rPr lang="ru-RU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Большие языковые модели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</a:p>
          <a:p>
            <a:pPr algn="l">
              <a:lnSpc>
                <a:spcPts val="2200"/>
              </a:lnSpc>
            </a:pP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</a:t>
            </a:r>
            <a:r>
              <a:rPr lang="ru-RU" sz="1600" dirty="0">
                <a:latin typeface=""/>
                <a:ea typeface="Roboto Slab Black" pitchFamily="2" charset="0"/>
              </a:rPr>
              <a:t>на старте имеют глубокое понимание языка и специфики отрасли;</a:t>
            </a:r>
          </a:p>
          <a:p>
            <a:pPr algn="l">
              <a:lnSpc>
                <a:spcPts val="2200"/>
              </a:lnSpc>
            </a:pPr>
            <a:r>
              <a:rPr lang="ru-RU" sz="1600" dirty="0">
                <a:latin typeface=""/>
                <a:ea typeface="Roboto Slab Black" pitchFamily="2" charset="0"/>
              </a:rPr>
              <a:t>      крупные модели могут справляться с задачами без дообучения</a:t>
            </a:r>
            <a:r>
              <a:rPr lang="en-US" sz="1600" dirty="0">
                <a:latin typeface=""/>
                <a:ea typeface="Roboto Slab Black" pitchFamily="2" charset="0"/>
              </a:rPr>
              <a:t>;</a:t>
            </a:r>
            <a:endParaRPr lang="ru-RU" sz="1600" dirty="0">
              <a:latin typeface=""/>
              <a:ea typeface="Roboto Slab Black" pitchFamily="2" charset="0"/>
            </a:endParaRPr>
          </a:p>
          <a:p>
            <a:pPr algn="l">
              <a:lnSpc>
                <a:spcPts val="2200"/>
              </a:lnSpc>
            </a:pPr>
            <a:r>
              <a:rPr lang="ru-RU" sz="1600" dirty="0">
                <a:latin typeface=""/>
                <a:ea typeface="Roboto Slab Black" pitchFamily="2" charset="0"/>
              </a:rPr>
              <a:t>      дорогие в </a:t>
            </a:r>
            <a:r>
              <a:rPr lang="ru-RU" sz="1600" dirty="0" err="1">
                <a:latin typeface=""/>
                <a:ea typeface="Roboto Slab Black" pitchFamily="2" charset="0"/>
              </a:rPr>
              <a:t>инференсе</a:t>
            </a:r>
            <a:r>
              <a:rPr lang="ru-RU" sz="1600" dirty="0">
                <a:latin typeface=""/>
                <a:ea typeface="Roboto Slab Black" pitchFamily="2" charset="0"/>
              </a:rPr>
              <a:t> и дообучении.</a:t>
            </a:r>
            <a:endParaRPr lang="en-US" sz="1600" dirty="0">
              <a:latin typeface=""/>
              <a:ea typeface="Roboto Slab Black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92642" y="321538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</a:t>
            </a:r>
            <a:endParaRPr lang="en-US" sz="185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05024A5-2E6B-479E-9445-943452F4A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4726" y="3902428"/>
            <a:ext cx="299561" cy="29956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F0919E-77AD-47BC-8511-7245BF710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5131" y="4211363"/>
            <a:ext cx="299561" cy="29956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2B61E80-BF31-42B0-895E-FA0633541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4725" y="4500967"/>
            <a:ext cx="299561" cy="29956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21BEDE79-20AB-4AE0-8DE3-3C44C2D57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5860" y="3160043"/>
            <a:ext cx="476588" cy="47658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20458756-3D7B-41CF-ADB8-390C27568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65860" y="1721807"/>
            <a:ext cx="449580" cy="44958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96369AC-E4EE-AF30-614B-67BA17CBA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58188" y="3606379"/>
            <a:ext cx="1016842" cy="101684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9BB0B3-8FA8-72DD-2406-F9808A80C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9911" y="5083418"/>
            <a:ext cx="1016843" cy="1016843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0D3CD19A-8B69-C6B0-1B05-F0701E5ADECA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1</a:t>
            </a:r>
            <a:endParaRPr lang="en-US" sz="1850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2E28BF59-2E53-FF13-4B7E-6D702EC78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16394"/>
              </p:ext>
            </p:extLst>
          </p:nvPr>
        </p:nvGraphicFramePr>
        <p:xfrm>
          <a:off x="2718812" y="5137487"/>
          <a:ext cx="9083712" cy="2397947"/>
        </p:xfrm>
        <a:graphic>
          <a:graphicData uri="http://schemas.openxmlformats.org/drawingml/2006/table">
            <a:tbl>
              <a:tblPr/>
              <a:tblGrid>
                <a:gridCol w="223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2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3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Исследование 1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Исследование 2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Текущая </a:t>
                      </a: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работа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Задача · язык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 новостных групп · CN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605 меток новостей · CN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К</a:t>
                      </a:r>
                      <a:r>
                        <a:rPr lang="en-US" sz="1050" b="1" dirty="0" err="1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орреспонденция</a:t>
                      </a: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, 36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блоков</a:t>
                      </a: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· </a:t>
                      </a: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RU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Датасет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К</a:t>
                      </a:r>
                      <a:r>
                        <a:rPr lang="en-US" sz="1050" dirty="0" err="1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рупный</a:t>
                      </a:r>
                      <a:b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</a:br>
                      <a:r>
                        <a:rPr lang="ru-RU" sz="1050" kern="120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18 846 новостных документов</a:t>
                      </a:r>
                      <a:endParaRPr lang="en-US" sz="1050" kern="1200" dirty="0">
                        <a:solidFill>
                          <a:srgbClr val="3F3F46"/>
                        </a:solidFill>
                        <a:latin typeface="Roboto" pitchFamily="34" charset="0"/>
                        <a:ea typeface="Roboto" pitchFamily="34" charset="-122"/>
                        <a:cs typeface="Roboto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К</a:t>
                      </a:r>
                      <a:r>
                        <a:rPr lang="en-US" sz="1050" dirty="0" err="1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рупный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,</a:t>
                      </a:r>
                      <a:endParaRPr lang="ru-RU" sz="1050" dirty="0">
                        <a:solidFill>
                          <a:srgbClr val="3F3F46"/>
                        </a:solidFill>
                        <a:latin typeface="Roboto" pitchFamily="34" charset="0"/>
                        <a:ea typeface="Roboto" pitchFamily="34" charset="-122"/>
                        <a:cs typeface="Roboto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</a:t>
                      </a: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200000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новостных статей,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дисбаланс классов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</a:t>
                      </a:r>
                      <a:r>
                        <a:rPr lang="en-US" sz="1050" b="1" dirty="0" err="1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алый</a:t>
                      </a: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 1 774</a:t>
                      </a: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писем,</a:t>
                      </a: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дисбаланс классов</a:t>
                      </a:r>
                      <a:endParaRPr lang="en-US" sz="1050" b="1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10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Метод дообучения</a:t>
                      </a:r>
                      <a:r>
                        <a:rPr lang="en-US" sz="110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LLM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err="1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полный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FT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PEFT: </a:t>
                      </a:r>
                      <a:r>
                        <a:rPr lang="en-US" sz="1050" dirty="0" err="1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LoRA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PEFT</a:t>
                      </a:r>
                      <a:r>
                        <a:rPr lang="ru-RU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4 метода</a:t>
                      </a: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: QLoRA / LoRA / AdaLoRA / TinyLoRA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Размер моделей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Llama</a:t>
                      </a: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8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B, </a:t>
                      </a: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70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QWEN</a:t>
                      </a:r>
                      <a:r>
                        <a:rPr lang="ru-RU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n-US" sz="1050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1,5B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F3F4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8–32B, разные семейства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6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Итог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LLM ↑ </a:t>
                      </a:r>
                      <a:r>
                        <a:rPr lang="en-US" sz="1050" b="1" dirty="0" err="1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бьёт</a:t>
                      </a:r>
                      <a:r>
                        <a:rPr lang="en-US" sz="105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энкодеры</a:t>
                      </a:r>
                      <a:endParaRPr lang="ru-RU" sz="1050" b="1" dirty="0">
                        <a:solidFill>
                          <a:srgbClr val="17215A"/>
                        </a:solidFill>
                        <a:latin typeface="Roboto" pitchFamily="34" charset="0"/>
                        <a:ea typeface="Roboto" pitchFamily="34" charset="-122"/>
                        <a:cs typeface="Roboto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 </a:t>
                      </a:r>
                      <a:r>
                        <a:rPr lang="en-US" sz="1050" b="1" dirty="0">
                          <a:solidFill>
                            <a:srgbClr val="17215A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F-1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14C4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LLM ↓ </a:t>
                      </a:r>
                      <a:r>
                        <a:rPr lang="en-US" sz="1050" b="1" dirty="0" err="1">
                          <a:solidFill>
                            <a:srgbClr val="D14C4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уступает</a:t>
                      </a:r>
                      <a:r>
                        <a:rPr lang="en-US" sz="1050" b="1" dirty="0">
                          <a:solidFill>
                            <a:srgbClr val="D14C4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D14C4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энкодерам</a:t>
                      </a:r>
                      <a:endParaRPr lang="en-US" sz="1050" b="1" dirty="0">
                        <a:solidFill>
                          <a:srgbClr val="D14C4F"/>
                        </a:solidFill>
                        <a:latin typeface="Roboto" pitchFamily="34" charset="0"/>
                        <a:ea typeface="Roboto" pitchFamily="34" charset="-122"/>
                        <a:cs typeface="Roboto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D14C4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По </a:t>
                      </a:r>
                      <a:r>
                        <a:rPr lang="en-US" sz="1050" b="1" dirty="0">
                          <a:solidFill>
                            <a:srgbClr val="D14C4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F-1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3357B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Предстоит исследовать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3C87224-641B-3350-446E-C673657A8C5C}"/>
              </a:ext>
            </a:extLst>
          </p:cNvPr>
          <p:cNvSpPr txBox="1"/>
          <p:nvPr/>
        </p:nvSpPr>
        <p:spPr>
          <a:xfrm>
            <a:off x="12023754" y="4542968"/>
            <a:ext cx="141079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3F3F46"/>
                </a:solidFill>
                <a:latin typeface="Roboto Slab Black" pitchFamily="2" charset="0"/>
                <a:ea typeface="Roboto Slab Black" pitchFamily="2" charset="0"/>
                <a:cs typeface="Roboto" pitchFamily="34" charset="-120"/>
              </a:rPr>
              <a:t>QR </a:t>
            </a:r>
            <a:r>
              <a:rPr lang="ru-RU" sz="1050" dirty="0">
                <a:solidFill>
                  <a:srgbClr val="3F3F46"/>
                </a:solidFill>
                <a:latin typeface="Roboto Slab Black" pitchFamily="2" charset="0"/>
                <a:ea typeface="Roboto Slab Black" pitchFamily="2" charset="0"/>
                <a:cs typeface="Roboto" pitchFamily="34" charset="-120"/>
              </a:rPr>
              <a:t>код:</a:t>
            </a:r>
          </a:p>
          <a:p>
            <a:r>
              <a:rPr lang="ru-RU" sz="1050" dirty="0">
                <a:solidFill>
                  <a:srgbClr val="3F3F46"/>
                </a:solidFill>
                <a:latin typeface="Roboto Slab Black" pitchFamily="2" charset="0"/>
                <a:ea typeface="Roboto Slab Black" pitchFamily="2" charset="0"/>
                <a:cs typeface="Roboto" pitchFamily="34" charset="-120"/>
              </a:rPr>
              <a:t>Исследование 1</a:t>
            </a:r>
            <a:endParaRPr lang="ru-RU" sz="1050" dirty="0">
              <a:latin typeface="Roboto Slab Black" pitchFamily="2" charset="0"/>
              <a:ea typeface="Roboto Slab Black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84679-BD32-5139-30E4-18BE0AF0E0BB}"/>
              </a:ext>
            </a:extLst>
          </p:cNvPr>
          <p:cNvSpPr txBox="1"/>
          <p:nvPr/>
        </p:nvSpPr>
        <p:spPr>
          <a:xfrm>
            <a:off x="12023754" y="6030568"/>
            <a:ext cx="141079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3F3F46"/>
                </a:solidFill>
                <a:latin typeface="Roboto Slab Black" pitchFamily="2" charset="0"/>
                <a:ea typeface="Roboto Slab Black" pitchFamily="2" charset="0"/>
                <a:cs typeface="Roboto" pitchFamily="34" charset="-120"/>
              </a:rPr>
              <a:t>QR </a:t>
            </a:r>
            <a:r>
              <a:rPr lang="ru-RU" sz="1050" dirty="0">
                <a:solidFill>
                  <a:srgbClr val="3F3F46"/>
                </a:solidFill>
                <a:latin typeface="Roboto Slab Black" pitchFamily="2" charset="0"/>
                <a:ea typeface="Roboto Slab Black" pitchFamily="2" charset="0"/>
                <a:cs typeface="Roboto" pitchFamily="34" charset="-120"/>
              </a:rPr>
              <a:t>код:</a:t>
            </a:r>
          </a:p>
          <a:p>
            <a:r>
              <a:rPr lang="ru-RU" sz="1050" dirty="0">
                <a:solidFill>
                  <a:srgbClr val="3F3F46"/>
                </a:solidFill>
                <a:latin typeface="Roboto Slab Black" pitchFamily="2" charset="0"/>
                <a:ea typeface="Roboto Slab Black" pitchFamily="2" charset="0"/>
                <a:cs typeface="Roboto" pitchFamily="34" charset="-120"/>
              </a:rPr>
              <a:t>Исследование 2</a:t>
            </a:r>
            <a:endParaRPr lang="ru-RU" sz="1050" dirty="0">
              <a:latin typeface="Roboto Slab Black" pitchFamily="2" charset="0"/>
              <a:ea typeface="Roboto Slab Black" pitchFamily="2" charset="0"/>
            </a:endParaRPr>
          </a:p>
        </p:txBody>
      </p:sp>
      <p:sp>
        <p:nvSpPr>
          <p:cNvPr id="27" name="Todo1BG">
            <a:extLst>
              <a:ext uri="{FF2B5EF4-FFF2-40B4-BE49-F238E27FC236}">
                <a16:creationId xmlns:a16="http://schemas.microsoft.com/office/drawing/2014/main" id="{DE2A60DE-9438-B802-39AC-41C4ACA283DB}"/>
              </a:ext>
            </a:extLst>
          </p:cNvPr>
          <p:cNvSpPr/>
          <p:nvPr/>
        </p:nvSpPr>
        <p:spPr>
          <a:xfrm>
            <a:off x="12058187" y="3545636"/>
            <a:ext cx="1247578" cy="1382221"/>
          </a:xfrm>
          <a:prstGeom prst="roundRect">
            <a:avLst>
              <a:gd name="adj" fmla="val 5000"/>
            </a:avLst>
          </a:prstGeom>
          <a:noFill/>
          <a:ln w="38100">
            <a:solidFill>
              <a:schemeClr val="accent1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endParaRPr lang="ru-RU" sz="1400" dirty="0">
              <a:solidFill>
                <a:srgbClr val="4A4A4A"/>
              </a:solidFill>
              <a:latin typeface="Roboto"/>
            </a:endParaRPr>
          </a:p>
        </p:txBody>
      </p:sp>
      <p:sp>
        <p:nvSpPr>
          <p:cNvPr id="28" name="Todo1BG">
            <a:extLst>
              <a:ext uri="{FF2B5EF4-FFF2-40B4-BE49-F238E27FC236}">
                <a16:creationId xmlns:a16="http://schemas.microsoft.com/office/drawing/2014/main" id="{E25C92DC-219F-6087-8382-C960F89E5B02}"/>
              </a:ext>
            </a:extLst>
          </p:cNvPr>
          <p:cNvSpPr/>
          <p:nvPr/>
        </p:nvSpPr>
        <p:spPr>
          <a:xfrm>
            <a:off x="12044873" y="5063845"/>
            <a:ext cx="1247578" cy="1382221"/>
          </a:xfrm>
          <a:prstGeom prst="roundRect">
            <a:avLst>
              <a:gd name="adj" fmla="val 5000"/>
            </a:avLst>
          </a:prstGeom>
          <a:noFill/>
          <a:ln w="38100">
            <a:solidFill>
              <a:srgbClr val="CF4B51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endParaRPr lang="ru-RU" sz="1400" dirty="0">
              <a:solidFill>
                <a:srgbClr val="4A4A4A"/>
              </a:solidFill>
              <a:latin typeface="Robot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95218C-E192-C3C8-017A-1408E1848BBC}"/>
              </a:ext>
            </a:extLst>
          </p:cNvPr>
          <p:cNvSpPr txBox="1"/>
          <p:nvPr/>
        </p:nvSpPr>
        <p:spPr>
          <a:xfrm>
            <a:off x="2718812" y="4787381"/>
            <a:ext cx="4808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Таблица: сравнение  с другими исследованиями</a:t>
            </a:r>
            <a:endParaRPr lang="en-US" sz="1400" dirty="0">
              <a:latin typeface="Roboto" charset="0"/>
              <a:ea typeface="Roboto" charset="0"/>
              <a:cs typeface="Roboto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ne1BG">
            <a:extLst>
              <a:ext uri="{FF2B5EF4-FFF2-40B4-BE49-F238E27FC236}">
                <a16:creationId xmlns:a16="http://schemas.microsoft.com/office/drawing/2014/main" id="{C90FC044-52A7-D410-36EF-D338019193E2}"/>
              </a:ext>
            </a:extLst>
          </p:cNvPr>
          <p:cNvSpPr/>
          <p:nvPr/>
        </p:nvSpPr>
        <p:spPr>
          <a:xfrm>
            <a:off x="7552279" y="3369854"/>
            <a:ext cx="6929437" cy="20790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2" name="Done1BG">
            <a:extLst>
              <a:ext uri="{FF2B5EF4-FFF2-40B4-BE49-F238E27FC236}">
                <a16:creationId xmlns:a16="http://schemas.microsoft.com/office/drawing/2014/main" id="{17E74464-FCDF-7735-95DA-572F793EBB84}"/>
              </a:ext>
            </a:extLst>
          </p:cNvPr>
          <p:cNvSpPr/>
          <p:nvPr/>
        </p:nvSpPr>
        <p:spPr>
          <a:xfrm>
            <a:off x="7552279" y="5750472"/>
            <a:ext cx="6929437" cy="20315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9" name="Done1BG">
            <a:extLst>
              <a:ext uri="{FF2B5EF4-FFF2-40B4-BE49-F238E27FC236}">
                <a16:creationId xmlns:a16="http://schemas.microsoft.com/office/drawing/2014/main" id="{96A3591E-654A-4152-F7E6-06BE1426EB88}"/>
              </a:ext>
            </a:extLst>
          </p:cNvPr>
          <p:cNvSpPr/>
          <p:nvPr/>
        </p:nvSpPr>
        <p:spPr>
          <a:xfrm>
            <a:off x="231362" y="3396099"/>
            <a:ext cx="6929437" cy="2052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FC109A3-14E9-9E0F-6F62-E08CA92286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18959" b="10374"/>
          <a:stretch>
            <a:fillRect/>
          </a:stretch>
        </p:blipFill>
        <p:spPr>
          <a:xfrm>
            <a:off x="44365" y="3564318"/>
            <a:ext cx="7352671" cy="2031546"/>
          </a:xfrm>
          <a:prstGeom prst="rect">
            <a:avLst/>
          </a:prstGeom>
        </p:spPr>
      </p:pic>
      <p:sp>
        <p:nvSpPr>
          <p:cNvPr id="7" name="Todo1BG">
            <a:extLst>
              <a:ext uri="{FF2B5EF4-FFF2-40B4-BE49-F238E27FC236}">
                <a16:creationId xmlns:a16="http://schemas.microsoft.com/office/drawing/2014/main" id="{D494AD1B-2FE7-87FE-5410-3A52F9C0E337}"/>
              </a:ext>
            </a:extLst>
          </p:cNvPr>
          <p:cNvSpPr/>
          <p:nvPr/>
        </p:nvSpPr>
        <p:spPr>
          <a:xfrm>
            <a:off x="600497" y="1162611"/>
            <a:ext cx="13365533" cy="11410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257B8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endParaRPr lang="ru-RU" sz="1400" dirty="0">
              <a:solidFill>
                <a:srgbClr val="4A4A4A"/>
              </a:solidFill>
              <a:latin typeface="Roboto"/>
            </a:endParaRP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F0012D36-5205-98E6-C3D5-8C3C62C499DB}"/>
              </a:ext>
            </a:extLst>
          </p:cNvPr>
          <p:cNvSpPr/>
          <p:nvPr/>
        </p:nvSpPr>
        <p:spPr>
          <a:xfrm>
            <a:off x="1334413" y="137802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работы</a:t>
            </a:r>
            <a:endParaRPr lang="en-US" sz="185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8C0FA1CF-A947-3B47-AE76-2A7A988B0CAA}"/>
              </a:ext>
            </a:extLst>
          </p:cNvPr>
          <p:cNvSpPr/>
          <p:nvPr/>
        </p:nvSpPr>
        <p:spPr>
          <a:xfrm>
            <a:off x="3170357" y="1378030"/>
            <a:ext cx="10680986" cy="70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Исследовать применимость методов дообучения больших языковых моделей для решения задачи классификации русскоязычной корреспонденции.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3CB726-D68F-BBF7-7727-C5C906244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057" y="1290349"/>
            <a:ext cx="476588" cy="47658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6796AD-F48E-6CC7-D63F-21B8050B5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307" y="2813494"/>
            <a:ext cx="416173" cy="416173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512E48E-D80C-26AC-CD0A-75C375BE3CDA}"/>
              </a:ext>
            </a:extLst>
          </p:cNvPr>
          <p:cNvSpPr/>
          <p:nvPr/>
        </p:nvSpPr>
        <p:spPr>
          <a:xfrm>
            <a:off x="3744357" y="156485"/>
            <a:ext cx="7137797" cy="91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ru-RU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и задачи</a:t>
            </a: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2D3C0B3-BDDF-9ED4-F03C-E96EC7B5FE4F}"/>
              </a:ext>
            </a:extLst>
          </p:cNvPr>
          <p:cNvSpPr/>
          <p:nvPr/>
        </p:nvSpPr>
        <p:spPr>
          <a:xfrm>
            <a:off x="1386800" y="2882624"/>
            <a:ext cx="120638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Решаемые задачи</a:t>
            </a:r>
            <a:endParaRPr lang="en-US" sz="18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BBA814D-5635-F9C2-122F-39E90AC37C06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2</a:t>
            </a:r>
            <a:endParaRPr lang="en-US" sz="18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CB488-02E1-CD23-E65B-B4E12CBCC008}"/>
              </a:ext>
            </a:extLst>
          </p:cNvPr>
          <p:cNvSpPr txBox="1"/>
          <p:nvPr/>
        </p:nvSpPr>
        <p:spPr>
          <a:xfrm>
            <a:off x="198267" y="3695575"/>
            <a:ext cx="6920579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Произвести разведочный анализ данных</a:t>
            </a:r>
          </a:p>
        </p:txBody>
      </p:sp>
      <p:sp>
        <p:nvSpPr>
          <p:cNvPr id="23" name="Done1BG">
            <a:extLst>
              <a:ext uri="{FF2B5EF4-FFF2-40B4-BE49-F238E27FC236}">
                <a16:creationId xmlns:a16="http://schemas.microsoft.com/office/drawing/2014/main" id="{C1D7315E-38BC-89DE-1F4E-A81CE4C483EF}"/>
              </a:ext>
            </a:extLst>
          </p:cNvPr>
          <p:cNvSpPr/>
          <p:nvPr/>
        </p:nvSpPr>
        <p:spPr>
          <a:xfrm>
            <a:off x="231360" y="5750473"/>
            <a:ext cx="6929437" cy="20315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EB2ED6C-CD0A-B2BD-A48E-DB0641818BF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rcRect t="21307"/>
          <a:stretch>
            <a:fillRect/>
          </a:stretch>
        </p:blipFill>
        <p:spPr>
          <a:xfrm>
            <a:off x="273148" y="6101360"/>
            <a:ext cx="7082940" cy="18307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463396-5A88-63A6-31CD-5CA88C8C2645}"/>
              </a:ext>
            </a:extLst>
          </p:cNvPr>
          <p:cNvSpPr txBox="1"/>
          <p:nvPr/>
        </p:nvSpPr>
        <p:spPr>
          <a:xfrm>
            <a:off x="240217" y="6120794"/>
            <a:ext cx="6920580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lnSpc>
                <a:spcPts val="2400"/>
              </a:lnSpc>
              <a:buAutoNum type="arabicPeriod" startAt="2"/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пайплайн аугментации данных </a:t>
            </a:r>
          </a:p>
          <a:p>
            <a:pPr algn="ctr">
              <a:lnSpc>
                <a:spcPts val="2400"/>
              </a:lnSpc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компенсации дисбаланса. 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0C92C18-AA4D-1147-5478-20D56C22B22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t="52216" b="1324"/>
          <a:stretch>
            <a:fillRect/>
          </a:stretch>
        </p:blipFill>
        <p:spPr>
          <a:xfrm>
            <a:off x="7313255" y="6465119"/>
            <a:ext cx="7190589" cy="148476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2ADB82BD-F614-4913-101C-1F4917C4304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t="3746" b="50412"/>
          <a:stretch>
            <a:fillRect/>
          </a:stretch>
        </p:blipFill>
        <p:spPr>
          <a:xfrm>
            <a:off x="7313255" y="3990976"/>
            <a:ext cx="7221878" cy="14603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124F050-A4FD-F41A-CAD8-0900428B3530}"/>
              </a:ext>
            </a:extLst>
          </p:cNvPr>
          <p:cNvSpPr txBox="1"/>
          <p:nvPr/>
        </p:nvSpPr>
        <p:spPr>
          <a:xfrm>
            <a:off x="7510326" y="3695575"/>
            <a:ext cx="6929437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ts val="2400"/>
              </a:lnSpc>
              <a:buNone/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Реализовать и проверить эффективность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few-shot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классификации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1EB94B-44D2-249B-E326-F2C44937399F}"/>
              </a:ext>
            </a:extLst>
          </p:cNvPr>
          <p:cNvSpPr txBox="1"/>
          <p:nvPr/>
        </p:nvSpPr>
        <p:spPr>
          <a:xfrm>
            <a:off x="7766890" y="6101360"/>
            <a:ext cx="6479612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Реализовать дообучение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c 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помощью 4 методов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PEFT: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TinyLoRA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800" dirty="0">
              <a:solidFill>
                <a:srgbClr val="15213F"/>
              </a:solidFill>
              <a:highlight>
                <a:srgbClr val="FFFF00"/>
              </a:highlight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44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09A4F964-D1BB-AACA-7295-6B3363B89660}"/>
              </a:ext>
            </a:extLst>
          </p:cNvPr>
          <p:cNvSpPr/>
          <p:nvPr/>
        </p:nvSpPr>
        <p:spPr>
          <a:xfrm>
            <a:off x="1079183" y="540425"/>
            <a:ext cx="9122092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ru-RU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Разведочный анализ</a:t>
            </a: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5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данных</a:t>
            </a:r>
            <a:endParaRPr lang="en-US" sz="35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12E55CA-A358-89D2-3122-72A02DAA916B}"/>
              </a:ext>
            </a:extLst>
          </p:cNvPr>
          <p:cNvSpPr/>
          <p:nvPr/>
        </p:nvSpPr>
        <p:spPr>
          <a:xfrm>
            <a:off x="1079183" y="1450657"/>
            <a:ext cx="4465796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Корпус: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1 774 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36 блоков компании. </a:t>
            </a:r>
            <a:endParaRPr lang="en-US" sz="14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DA6E7B7-BB6E-B2DA-714C-88F22C1AC8ED}"/>
              </a:ext>
            </a:extLst>
          </p:cNvPr>
          <p:cNvSpPr/>
          <p:nvPr/>
        </p:nvSpPr>
        <p:spPr>
          <a:xfrm>
            <a:off x="1079183" y="1839992"/>
            <a:ext cx="44657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данные заменены плейсхолдерами — имена, организации, даты.</a:t>
            </a:r>
            <a:endParaRPr lang="en-US" sz="1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5D3684D-71C0-CEAC-F7B5-03533097C6C1}"/>
              </a:ext>
            </a:extLst>
          </p:cNvPr>
          <p:cNvSpPr/>
          <p:nvPr/>
        </p:nvSpPr>
        <p:spPr>
          <a:xfrm>
            <a:off x="1079183" y="2503527"/>
            <a:ext cx="275022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Выявленные проблемы</a:t>
            </a:r>
            <a:endParaRPr lang="en-US" sz="17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C99010A-493C-1A43-826B-6214590BB863}"/>
              </a:ext>
            </a:extLst>
          </p:cNvPr>
          <p:cNvSpPr/>
          <p:nvPr/>
        </p:nvSpPr>
        <p:spPr>
          <a:xfrm>
            <a:off x="1079183" y="2947868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97E56537-4D1C-994A-137C-5D0BD9B75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2947868"/>
            <a:ext cx="91440" cy="1353145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4DDD3724-8661-A2B6-D930-E5BE86B4C29F}"/>
              </a:ext>
            </a:extLst>
          </p:cNvPr>
          <p:cNvSpPr/>
          <p:nvPr/>
        </p:nvSpPr>
        <p:spPr>
          <a:xfrm>
            <a:off x="1351359" y="315146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 дубликатов</a:t>
            </a:r>
            <a:endParaRPr lang="en-US" sz="17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3569F4C-1D68-638F-CD6E-92CE791D3A51}"/>
              </a:ext>
            </a:extLst>
          </p:cNvPr>
          <p:cNvSpPr/>
          <p:nvPr/>
        </p:nvSpPr>
        <p:spPr>
          <a:xfrm>
            <a:off x="1351359" y="3577828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полных + 1 пересекающийся между двумя блоками</a:t>
            </a:r>
            <a:endParaRPr lang="en-US" sz="14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AD36D80-B216-F2B2-F3BD-C48FE263A3D0}"/>
              </a:ext>
            </a:extLst>
          </p:cNvPr>
          <p:cNvSpPr/>
          <p:nvPr/>
        </p:nvSpPr>
        <p:spPr>
          <a:xfrm>
            <a:off x="1079183" y="444496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D23EDAB2-93EB-34C1-2D79-57F68E9C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4444960"/>
            <a:ext cx="91440" cy="1353145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CE21F5A8-D8C3-44FB-FDD8-FB04B7CB87E5}"/>
              </a:ext>
            </a:extLst>
          </p:cNvPr>
          <p:cNvSpPr/>
          <p:nvPr/>
        </p:nvSpPr>
        <p:spPr>
          <a:xfrm>
            <a:off x="1351359" y="464855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19 аномалий</a:t>
            </a:r>
            <a:endParaRPr lang="en-US" sz="17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0D67959-1FA8-2B60-BBF1-C5CB5695ED62}"/>
              </a:ext>
            </a:extLst>
          </p:cNvPr>
          <p:cNvSpPr/>
          <p:nvPr/>
        </p:nvSpPr>
        <p:spPr>
          <a:xfrm>
            <a:off x="1351359" y="5074920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Тысячи слов, менее 50 уникальных — циклические повторения фраз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7590D2B-7082-9E28-7849-4001F0EC3298}"/>
              </a:ext>
            </a:extLst>
          </p:cNvPr>
          <p:cNvSpPr/>
          <p:nvPr/>
        </p:nvSpPr>
        <p:spPr>
          <a:xfrm>
            <a:off x="7546165" y="1815239"/>
            <a:ext cx="3714311" cy="4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Дисбаланс</a:t>
            </a: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ru-RU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классов</a:t>
            </a:r>
            <a:endParaRPr lang="en-US" sz="28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A683FAE-664F-EE79-0FDF-73A121A1756D}"/>
              </a:ext>
            </a:extLst>
          </p:cNvPr>
          <p:cNvSpPr/>
          <p:nvPr/>
        </p:nvSpPr>
        <p:spPr>
          <a:xfrm>
            <a:off x="10797774" y="2945665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6A4C2D9-D9A9-A6FE-08D7-0C5A282D1268}"/>
              </a:ext>
            </a:extLst>
          </p:cNvPr>
          <p:cNvSpPr/>
          <p:nvPr/>
        </p:nvSpPr>
        <p:spPr>
          <a:xfrm>
            <a:off x="10797774" y="3832633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B1CEC40-51CA-4AE1-8221-14833EB53437}"/>
              </a:ext>
            </a:extLst>
          </p:cNvPr>
          <p:cNvSpPr/>
          <p:nvPr/>
        </p:nvSpPr>
        <p:spPr>
          <a:xfrm>
            <a:off x="12135846" y="4719601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</a:t>
            </a:r>
            <a:endParaRPr lang="en-US" sz="6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D19A796-E6A7-844E-C988-431F9B876953}"/>
              </a:ext>
            </a:extLst>
          </p:cNvPr>
          <p:cNvSpPr/>
          <p:nvPr/>
        </p:nvSpPr>
        <p:spPr>
          <a:xfrm>
            <a:off x="10797774" y="5606569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C49932F-FCFD-D655-2F86-CCBEF6BBB20C}"/>
              </a:ext>
            </a:extLst>
          </p:cNvPr>
          <p:cNvSpPr/>
          <p:nvPr/>
        </p:nvSpPr>
        <p:spPr>
          <a:xfrm>
            <a:off x="1124903" y="595405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CB6A212-B300-E169-18B2-5FA7323E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5954049"/>
            <a:ext cx="91440" cy="1353145"/>
          </a:xfrm>
          <a:prstGeom prst="rect">
            <a:avLst/>
          </a:prstGeom>
        </p:spPr>
      </p:pic>
      <p:sp>
        <p:nvSpPr>
          <p:cNvPr id="7" name="Text 16">
            <a:extLst>
              <a:ext uri="{FF2B5EF4-FFF2-40B4-BE49-F238E27FC236}">
                <a16:creationId xmlns:a16="http://schemas.microsoft.com/office/drawing/2014/main" id="{10FFE2A7-1399-4B0B-C3D6-91642E77E011}"/>
              </a:ext>
            </a:extLst>
          </p:cNvPr>
          <p:cNvSpPr/>
          <p:nvPr/>
        </p:nvSpPr>
        <p:spPr>
          <a:xfrm>
            <a:off x="1293148" y="6087970"/>
            <a:ext cx="4366131" cy="108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 </a:t>
            </a:r>
            <a:r>
              <a:rPr lang="en-US" sz="175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блоков</a:t>
            </a: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sz="175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содержат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менее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примеров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Крупнейший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блок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249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писем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Минимум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2CA7F-ADB7-66D1-10D2-AD4E7BBFE4D6}"/>
              </a:ext>
            </a:extLst>
          </p:cNvPr>
          <p:cNvSpPr txBox="1"/>
          <p:nvPr/>
        </p:nvSpPr>
        <p:spPr>
          <a:xfrm>
            <a:off x="10709693" y="327105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E438A-5342-AB26-7CF4-98AC82DAA7CE}"/>
              </a:ext>
            </a:extLst>
          </p:cNvPr>
          <p:cNvSpPr txBox="1"/>
          <p:nvPr/>
        </p:nvSpPr>
        <p:spPr>
          <a:xfrm>
            <a:off x="10738996" y="385757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17BCF-AAD3-D205-9325-DB24BD2F0C73}"/>
              </a:ext>
            </a:extLst>
          </p:cNvPr>
          <p:cNvSpPr txBox="1"/>
          <p:nvPr/>
        </p:nvSpPr>
        <p:spPr>
          <a:xfrm>
            <a:off x="11851298" y="448311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B729B-C2D9-6155-EE66-D348D0387583}"/>
              </a:ext>
            </a:extLst>
          </p:cNvPr>
          <p:cNvSpPr txBox="1"/>
          <p:nvPr/>
        </p:nvSpPr>
        <p:spPr>
          <a:xfrm>
            <a:off x="10756425" y="511528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314DE-BC45-5982-44B6-E2ACC0C9472A}"/>
              </a:ext>
            </a:extLst>
          </p:cNvPr>
          <p:cNvSpPr txBox="1"/>
          <p:nvPr/>
        </p:nvSpPr>
        <p:spPr>
          <a:xfrm>
            <a:off x="12920623" y="5720410"/>
            <a:ext cx="32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6462D4-6A52-40A7-A0AC-9939E5404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583" y="2558868"/>
            <a:ext cx="7649194" cy="393611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9E7C329-D3AB-4FF6-B6E4-99F03F306C20}"/>
              </a:ext>
            </a:extLst>
          </p:cNvPr>
          <p:cNvSpPr txBox="1"/>
          <p:nvPr/>
        </p:nvSpPr>
        <p:spPr>
          <a:xfrm>
            <a:off x="13082687" y="3191442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48EB31-09DA-4628-8BE3-0B9C748E85C3}"/>
              </a:ext>
            </a:extLst>
          </p:cNvPr>
          <p:cNvSpPr txBox="1"/>
          <p:nvPr/>
        </p:nvSpPr>
        <p:spPr>
          <a:xfrm>
            <a:off x="11734527" y="3601800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A27F0-FAFC-424C-8E58-7EC6D5D77D8C}"/>
              </a:ext>
            </a:extLst>
          </p:cNvPr>
          <p:cNvSpPr txBox="1"/>
          <p:nvPr/>
        </p:nvSpPr>
        <p:spPr>
          <a:xfrm>
            <a:off x="10356893" y="4818848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"/>
              </a:rPr>
              <a:t>8</a:t>
            </a:r>
            <a:r>
              <a:rPr lang="en-US" sz="1200" dirty="0">
                <a:solidFill>
                  <a:schemeClr val="bg1"/>
                </a:solidFill>
                <a:latin typeface="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63A2A8-6C82-4A9E-B2CC-90EEAE19DEFD}"/>
              </a:ext>
            </a:extLst>
          </p:cNvPr>
          <p:cNvSpPr txBox="1"/>
          <p:nvPr/>
        </p:nvSpPr>
        <p:spPr>
          <a:xfrm>
            <a:off x="8958219" y="5368283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"/>
              </a:rPr>
              <a:t>6 </a:t>
            </a:r>
            <a:r>
              <a:rPr lang="ru-RU" sz="1200" dirty="0">
                <a:latin typeface=""/>
              </a:rPr>
              <a:t>блоков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4444D-5725-4263-A8C9-47242CD74626}"/>
              </a:ext>
            </a:extLst>
          </p:cNvPr>
          <p:cNvSpPr txBox="1"/>
          <p:nvPr/>
        </p:nvSpPr>
        <p:spPr>
          <a:xfrm>
            <a:off x="7574177" y="5566068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"/>
              </a:rPr>
              <a:t>10</a:t>
            </a:r>
            <a:r>
              <a:rPr lang="en-US" sz="1200" dirty="0">
                <a:latin typeface=""/>
              </a:rPr>
              <a:t> </a:t>
            </a:r>
            <a:r>
              <a:rPr lang="ru-RU" sz="1200" dirty="0">
                <a:latin typeface=""/>
              </a:rPr>
              <a:t>блоков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B5775EA-5C8F-4BB0-BAB6-C55A526E848F}"/>
              </a:ext>
            </a:extLst>
          </p:cNvPr>
          <p:cNvCxnSpPr>
            <a:cxnSpLocks/>
          </p:cNvCxnSpPr>
          <p:nvPr/>
        </p:nvCxnSpPr>
        <p:spPr>
          <a:xfrm flipV="1">
            <a:off x="7546165" y="5643563"/>
            <a:ext cx="0" cy="310486"/>
          </a:xfrm>
          <a:prstGeom prst="line">
            <a:avLst/>
          </a:prstGeom>
          <a:ln w="38100" cap="rnd" cmpd="sng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512A0C6-8E5F-4028-9CB2-9206B6AFDC9E}"/>
              </a:ext>
            </a:extLst>
          </p:cNvPr>
          <p:cNvCxnSpPr>
            <a:cxnSpLocks/>
          </p:cNvCxnSpPr>
          <p:nvPr/>
        </p:nvCxnSpPr>
        <p:spPr>
          <a:xfrm>
            <a:off x="7546165" y="5618733"/>
            <a:ext cx="762016" cy="0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18907090-29AF-4143-A376-9147718DD5D6}"/>
              </a:ext>
            </a:extLst>
          </p:cNvPr>
          <p:cNvCxnSpPr>
            <a:cxnSpLocks/>
          </p:cNvCxnSpPr>
          <p:nvPr/>
        </p:nvCxnSpPr>
        <p:spPr>
          <a:xfrm flipH="1">
            <a:off x="8307789" y="5639753"/>
            <a:ext cx="392" cy="314296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38371706-B7EE-4E50-B2E9-E662AB5E2DB7}"/>
              </a:ext>
            </a:extLst>
          </p:cNvPr>
          <p:cNvCxnSpPr>
            <a:cxnSpLocks/>
          </p:cNvCxnSpPr>
          <p:nvPr/>
        </p:nvCxnSpPr>
        <p:spPr>
          <a:xfrm flipV="1">
            <a:off x="8921777" y="5329267"/>
            <a:ext cx="0" cy="624782"/>
          </a:xfrm>
          <a:prstGeom prst="line">
            <a:avLst/>
          </a:prstGeom>
          <a:ln w="38100" cap="rnd" cmpd="sng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88B60EB5-3878-44FB-9646-EB98A0C06343}"/>
              </a:ext>
            </a:extLst>
          </p:cNvPr>
          <p:cNvCxnSpPr>
            <a:cxnSpLocks/>
          </p:cNvCxnSpPr>
          <p:nvPr/>
        </p:nvCxnSpPr>
        <p:spPr>
          <a:xfrm>
            <a:off x="8921777" y="5325457"/>
            <a:ext cx="762016" cy="0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0AE0250F-CBEB-4D57-BADB-9C71115302CA}"/>
              </a:ext>
            </a:extLst>
          </p:cNvPr>
          <p:cNvCxnSpPr>
            <a:cxnSpLocks/>
          </p:cNvCxnSpPr>
          <p:nvPr/>
        </p:nvCxnSpPr>
        <p:spPr>
          <a:xfrm flipH="1">
            <a:off x="9681844" y="5325457"/>
            <a:ext cx="1949" cy="628592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3EE4E846-31B0-4B05-9508-38550E893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2575" y="1589429"/>
            <a:ext cx="733590" cy="733590"/>
          </a:xfrm>
          <a:prstGeom prst="rect">
            <a:avLst/>
          </a:prstGeom>
        </p:spPr>
      </p:pic>
      <p:sp>
        <p:nvSpPr>
          <p:cNvPr id="2" name="Text 7">
            <a:extLst>
              <a:ext uri="{FF2B5EF4-FFF2-40B4-BE49-F238E27FC236}">
                <a16:creationId xmlns:a16="http://schemas.microsoft.com/office/drawing/2014/main" id="{BBBBCC2F-DEA4-814B-A726-D37734D7A0D8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3</a:t>
            </a:r>
            <a:endParaRPr lang="en-US" sz="18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17A2EEB-288F-EE17-E0D9-8E429CF482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348"/>
          <a:stretch>
            <a:fillRect/>
          </a:stretch>
        </p:blipFill>
        <p:spPr>
          <a:xfrm>
            <a:off x="6565582" y="2637352"/>
            <a:ext cx="7686873" cy="4292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900286" y="360000"/>
            <a:ext cx="12830000" cy="58533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r>
              <a:rPr lang="ru-RU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Очистка данных</a:t>
            </a:r>
            <a:endParaRPr lang="en-US" sz="3600" dirty="0"/>
          </a:p>
          <a:p>
            <a:pPr marL="0" indent="0" algn="l">
              <a:buNone/>
            </a:pPr>
            <a:endParaRPr lang="ru-RU" sz="355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110" name="Card1"/>
          <p:cNvSpPr/>
          <p:nvPr/>
        </p:nvSpPr>
        <p:spPr>
          <a:xfrm>
            <a:off x="900286" y="5692286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0F0"/>
            </a:solidFill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МЕДИАНА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1A1A1A"/>
                </a:solidFill>
                <a:latin typeface="Roboto Slab"/>
              </a:rPr>
              <a:t>152 </a:t>
            </a:r>
            <a:r>
              <a:rPr lang="ru-RU" sz="3600" b="1" dirty="0">
                <a:solidFill>
                  <a:srgbClr val="3257B8"/>
                </a:solidFill>
                <a:latin typeface="Roboto Slab"/>
              </a:rPr>
              <a:t>→ 150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4A4A4A"/>
                </a:solidFill>
                <a:latin typeface="Roboto"/>
              </a:rPr>
              <a:t>Типичная длина письма сохранена — информативные тексты не пострадали</a:t>
            </a:r>
          </a:p>
        </p:txBody>
      </p:sp>
      <p:sp>
        <p:nvSpPr>
          <p:cNvPr id="111" name="Card2"/>
          <p:cNvSpPr/>
          <p:nvPr/>
        </p:nvSpPr>
        <p:spPr>
          <a:xfrm>
            <a:off x="5265200" y="5692286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3257B8"/>
          </a:solidFill>
          <a:ln>
            <a:noFill/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C9D6F0"/>
                </a:solidFill>
                <a:latin typeface="Roboto"/>
              </a:rPr>
              <a:t>МАКСИМУМ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FFFFFF"/>
                </a:solidFill>
                <a:latin typeface="Roboto Slab"/>
              </a:rPr>
              <a:t>7500 </a:t>
            </a:r>
            <a:r>
              <a:rPr lang="ru-RU" sz="3600" b="1" dirty="0">
                <a:solidFill>
                  <a:srgbClr val="FFE29A"/>
                </a:solidFill>
                <a:latin typeface="Roboto Slab"/>
              </a:rPr>
              <a:t>→ 1500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Максимальная длина сокращена в 5 раз — аномалии убраны</a:t>
            </a:r>
          </a:p>
        </p:txBody>
      </p:sp>
      <p:sp>
        <p:nvSpPr>
          <p:cNvPr id="112" name="Card3"/>
          <p:cNvSpPr/>
          <p:nvPr/>
        </p:nvSpPr>
        <p:spPr>
          <a:xfrm>
            <a:off x="9630114" y="5692286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0F0"/>
            </a:solidFill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СРЕДНЕЕ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1A1A1A"/>
                </a:solidFill>
                <a:latin typeface="Roboto Slab"/>
              </a:rPr>
              <a:t>274 </a:t>
            </a:r>
            <a:r>
              <a:rPr lang="ru-RU" sz="3600" b="1" dirty="0">
                <a:solidFill>
                  <a:srgbClr val="3257B8"/>
                </a:solidFill>
                <a:latin typeface="Roboto Slab"/>
              </a:rPr>
              <a:t>→ 195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4A4A4A"/>
                </a:solidFill>
                <a:latin typeface="Roboto"/>
              </a:rPr>
              <a:t>Среднее приблизилось к медиане — распределение стало более симметричным</a:t>
            </a:r>
          </a:p>
        </p:txBody>
      </p:sp>
      <p:pic>
        <p:nvPicPr>
          <p:cNvPr id="7" name="Рисунок 6" descr="Изображение выглядит как текст, График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4D6E1-9CB2-E84E-9037-D82A1F958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723" y="1395733"/>
            <a:ext cx="6561675" cy="375953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линия, График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0AE4B2-487E-9A15-F0BE-F95E0A5B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14" y="1395733"/>
            <a:ext cx="6561675" cy="375953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2EAF69-344D-4044-8579-A90A81DEB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140" y="824227"/>
            <a:ext cx="455156" cy="455156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43DB6F4-83F6-4B42-BF53-0A1446DCBF90}"/>
              </a:ext>
            </a:extLst>
          </p:cNvPr>
          <p:cNvSpPr/>
          <p:nvPr/>
        </p:nvSpPr>
        <p:spPr>
          <a:xfrm>
            <a:off x="1278116" y="1005810"/>
            <a:ext cx="12799282" cy="259794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96BE9667-56FD-4DE4-9A55-CB1470320456}"/>
              </a:ext>
            </a:extLst>
          </p:cNvPr>
          <p:cNvSpPr/>
          <p:nvPr/>
        </p:nvSpPr>
        <p:spPr>
          <a:xfrm>
            <a:off x="1278116" y="1006879"/>
            <a:ext cx="894807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Конвейер 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clean_text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() 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даляет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повторы слов, фраз, 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предложений, 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цепочки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вида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«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слово-число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»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0DCF3401-4D6D-254D-9ECA-861DB02B13CE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4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0974" y="366371"/>
            <a:ext cx="10826948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Семантический </a:t>
            </a:r>
            <a:r>
              <a:rPr lang="en-US" sz="30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435455" y="949287"/>
            <a:ext cx="14021586" cy="798594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648815" y="1066485"/>
            <a:ext cx="10252711" cy="245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Текстовые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метрики (TTR, RTTR, hapax ratio)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8815" y="1395140"/>
            <a:ext cx="10252711" cy="31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Выделяют лишь крайние группы. ~25 блоков неразличимы — шаблонная деловая лексика выравнивает показатели.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477210" y="1986861"/>
            <a:ext cx="5892288" cy="1098867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7"/>
          <p:cNvSpPr/>
          <p:nvPr/>
        </p:nvSpPr>
        <p:spPr>
          <a:xfrm>
            <a:off x="1802965" y="2106021"/>
            <a:ext cx="5103617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Тематическое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моделирование (LDA, 30 тем)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802965" y="2523247"/>
            <a:ext cx="5341742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Темы пересекаются: «договор», «работа», «объект» — во всех классах. Чёткое разграничение невозможно.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115484" y="6055214"/>
            <a:ext cx="6036431" cy="1098867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88" y="5965952"/>
            <a:ext cx="146390" cy="12548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3135" y="6166508"/>
            <a:ext cx="5106985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Кластеризация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(SBERT → UMAP → HDBSCAN)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63135" y="6587163"/>
            <a:ext cx="4653195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83,6% писем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(1 468 из 1 755) — единый диффузный кластер. Только 6 малых кластеров имеют выраженную специфику.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622196" y="7478332"/>
            <a:ext cx="6806312" cy="482149"/>
          </a:xfrm>
          <a:prstGeom prst="roundRect">
            <a:avLst>
              <a:gd name="adj" fmla="val 2454"/>
            </a:avLst>
          </a:prstGeom>
          <a:solidFill>
            <a:srgbClr val="D4E5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524" y="7627878"/>
            <a:ext cx="210993" cy="1840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64910" y="7609018"/>
            <a:ext cx="6120883" cy="20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ru-RU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данном этапе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классы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тематически и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семантически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неразделимы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pic>
        <p:nvPicPr>
          <p:cNvPr id="25" name="Рисунок 24" descr="Изображение выглядит как снимок экрана, диаграмм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0171F-A2CE-B915-3FD1-DF348BD6D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502" y="1867864"/>
            <a:ext cx="6916006" cy="4014800"/>
          </a:xfrm>
          <a:prstGeom prst="rect">
            <a:avLst/>
          </a:prstGeom>
          <a:ln w="57150">
            <a:solidFill>
              <a:srgbClr val="4168CE"/>
            </a:solidFill>
          </a:ln>
        </p:spPr>
      </p:pic>
      <p:pic>
        <p:nvPicPr>
          <p:cNvPr id="29" name="Рисунок 28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6176D1-A184-BF9B-CCF2-967D0AEAF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35" y="3862839"/>
            <a:ext cx="6911038" cy="4097642"/>
          </a:xfrm>
          <a:prstGeom prst="rect">
            <a:avLst/>
          </a:prstGeom>
          <a:ln w="57150">
            <a:solidFill>
              <a:srgbClr val="4168CE"/>
            </a:solidFill>
          </a:ln>
        </p:spPr>
      </p:pic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D4CEDB15-CDDB-93A9-FE02-F0B92B4B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694" y="1897296"/>
            <a:ext cx="172572" cy="1254862"/>
          </a:xfrm>
          <a:prstGeom prst="rect">
            <a:avLst/>
          </a:prstGeom>
        </p:spPr>
      </p:pic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29EC9E80-AAC3-9DF7-A81E-12095C01A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5" y="901378"/>
            <a:ext cx="140140" cy="894412"/>
          </a:xfrm>
          <a:prstGeom prst="rect">
            <a:avLst/>
          </a:prstGeom>
        </p:spPr>
      </p:pic>
      <p:sp>
        <p:nvSpPr>
          <p:cNvPr id="3" name="Text 7">
            <a:extLst>
              <a:ext uri="{FF2B5EF4-FFF2-40B4-BE49-F238E27FC236}">
                <a16:creationId xmlns:a16="http://schemas.microsoft.com/office/drawing/2014/main" id="{D0093D90-BD30-C8A3-ECC6-4BD21145AE54}"/>
              </a:ext>
            </a:extLst>
          </p:cNvPr>
          <p:cNvSpPr/>
          <p:nvPr/>
        </p:nvSpPr>
        <p:spPr>
          <a:xfrm>
            <a:off x="14337506" y="7960076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5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/>
          <p:cNvSpPr/>
          <p:nvPr/>
        </p:nvSpPr>
        <p:spPr>
          <a:xfrm>
            <a:off x="1267420" y="5041867"/>
            <a:ext cx="351532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1: LLM-</a:t>
            </a:r>
            <a:r>
              <a:rPr lang="en-US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генерация</a:t>
            </a:r>
            <a:endParaRPr lang="ru-RU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67420" y="5540320"/>
            <a:ext cx="3664255" cy="60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 Qwen2.5-32B-AWQ,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инференс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через vLLM.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случайных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примеров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вход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00579" y="5036743"/>
            <a:ext cx="31147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2: </a:t>
            </a:r>
            <a:r>
              <a:rPr lang="en-US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Парафраз</a:t>
            </a: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97566" y="5506644"/>
            <a:ext cx="3336353" cy="82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</a:t>
            </a:r>
            <a:r>
              <a:rPr lang="ru-RU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фразирование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Циклический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выбор источников — равномерное использование оригиналов.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216633" y="5041867"/>
            <a:ext cx="31356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3: Обратный </a:t>
            </a:r>
            <a:r>
              <a:rPr lang="en-US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перевод</a:t>
            </a: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229666" y="5512791"/>
            <a:ext cx="4107418" cy="82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NLLB-200-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.3B: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англ</a:t>
            </a:r>
            <a:r>
              <a:rPr lang="ru-RU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ийский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немецкий, французский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NER-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плейсхолдеры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маскируются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тегами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&lt;0&gt;, &lt;1&gt; и восстанавливаются после перевода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AEA2B35-A665-2EBB-EBCF-C07EEFFF584E}"/>
              </a:ext>
            </a:extLst>
          </p:cNvPr>
          <p:cNvSpPr/>
          <p:nvPr/>
        </p:nvSpPr>
        <p:spPr>
          <a:xfrm>
            <a:off x="513708" y="389637"/>
            <a:ext cx="1365435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ru-RU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</a:t>
            </a:r>
            <a:r>
              <a:rPr lang="en-US" sz="330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угментация</a:t>
            </a: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данных</a:t>
            </a:r>
            <a:endParaRPr lang="en-US" sz="33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06BE90E-418E-76C2-7115-91BA4D143EDD}"/>
              </a:ext>
            </a:extLst>
          </p:cNvPr>
          <p:cNvSpPr/>
          <p:nvPr/>
        </p:nvSpPr>
        <p:spPr>
          <a:xfrm>
            <a:off x="1235634" y="1049332"/>
            <a:ext cx="5391198" cy="33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— довести каждый класс </a:t>
            </a:r>
            <a:r>
              <a:rPr lang="en-US" sz="16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до</a:t>
            </a: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50 примеров. </a:t>
            </a:r>
            <a:endParaRPr lang="en-US" sz="165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2FDFC5-1EC3-4846-934D-43BD1ED60070}"/>
              </a:ext>
            </a:extLst>
          </p:cNvPr>
          <p:cNvGrpSpPr/>
          <p:nvPr/>
        </p:nvGrpSpPr>
        <p:grpSpPr>
          <a:xfrm>
            <a:off x="794800" y="1835844"/>
            <a:ext cx="11855308" cy="5413205"/>
            <a:chOff x="467486" y="-836768"/>
            <a:chExt cx="10266947" cy="4406741"/>
          </a:xfrm>
        </p:grpSpPr>
        <p:pic>
          <p:nvPicPr>
            <p:cNvPr id="18" name="Image 0" descr="preencoded.png">
              <a:extLst>
                <a:ext uri="{FF2B5EF4-FFF2-40B4-BE49-F238E27FC236}">
                  <a16:creationId xmlns:a16="http://schemas.microsoft.com/office/drawing/2014/main" id="{B565EBDB-51CE-BB8F-963D-C1857393D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486" y="-836768"/>
              <a:ext cx="10266947" cy="440674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553535-E124-897E-D3A6-96C537AFC193}"/>
                </a:ext>
              </a:extLst>
            </p:cNvPr>
            <p:cNvSpPr txBox="1"/>
            <p:nvPr/>
          </p:nvSpPr>
          <p:spPr>
            <a:xfrm>
              <a:off x="4247902" y="325426"/>
              <a:ext cx="446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"/>
                </a:rPr>
                <a:t>15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5910A1-388A-809A-0D52-0EA6A3FCBA9F}"/>
                </a:ext>
              </a:extLst>
            </p:cNvPr>
            <p:cNvSpPr txBox="1"/>
            <p:nvPr/>
          </p:nvSpPr>
          <p:spPr>
            <a:xfrm>
              <a:off x="7027718" y="285114"/>
              <a:ext cx="446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"/>
                </a:rPr>
                <a:t>35</a:t>
              </a:r>
              <a:endParaRPr lang="ru-RU" dirty="0">
                <a:solidFill>
                  <a:schemeClr val="bg1"/>
                </a:solidFill>
                <a:latin typeface="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8BAB388-7B0C-7476-767C-50D52A510482}"/>
                </a:ext>
              </a:extLst>
            </p:cNvPr>
            <p:cNvSpPr txBox="1"/>
            <p:nvPr/>
          </p:nvSpPr>
          <p:spPr>
            <a:xfrm>
              <a:off x="9792829" y="325426"/>
              <a:ext cx="446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"/>
                </a:rPr>
                <a:t>50</a:t>
              </a:r>
              <a:endParaRPr lang="ru-RU" dirty="0">
                <a:solidFill>
                  <a:schemeClr val="bg1"/>
                </a:solidFill>
                <a:latin typeface=""/>
              </a:endParaRPr>
            </a:p>
          </p:txBody>
        </p:sp>
      </p:grpSp>
      <p:sp>
        <p:nvSpPr>
          <p:cNvPr id="2" name="Стрелка вправо 1">
            <a:extLst>
              <a:ext uri="{FF2B5EF4-FFF2-40B4-BE49-F238E27FC236}">
                <a16:creationId xmlns:a16="http://schemas.microsoft.com/office/drawing/2014/main" id="{DAA81A96-87BB-F7B5-E451-E9C62D4A56E8}"/>
              </a:ext>
            </a:extLst>
          </p:cNvPr>
          <p:cNvSpPr/>
          <p:nvPr/>
        </p:nvSpPr>
        <p:spPr>
          <a:xfrm>
            <a:off x="4657172" y="5278671"/>
            <a:ext cx="672662" cy="484632"/>
          </a:xfrm>
          <a:prstGeom prst="rightArrow">
            <a:avLst/>
          </a:prstGeom>
          <a:gradFill flip="none" rotWithShape="1">
            <a:gsLst>
              <a:gs pos="0">
                <a:srgbClr val="6A98DD">
                  <a:shade val="30000"/>
                  <a:satMod val="115000"/>
                </a:srgbClr>
              </a:gs>
              <a:gs pos="50000">
                <a:srgbClr val="6A98DD">
                  <a:shade val="67500"/>
                  <a:satMod val="115000"/>
                </a:srgbClr>
              </a:gs>
              <a:gs pos="100000">
                <a:srgbClr val="6A98DD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highlight>
                <a:srgbClr val="FFFF00"/>
              </a:highlight>
            </a:endParaRPr>
          </a:p>
        </p:txBody>
      </p:sp>
      <p:sp>
        <p:nvSpPr>
          <p:cNvPr id="3" name="Стрелка вправо 2">
            <a:extLst>
              <a:ext uri="{FF2B5EF4-FFF2-40B4-BE49-F238E27FC236}">
                <a16:creationId xmlns:a16="http://schemas.microsoft.com/office/drawing/2014/main" id="{96C21695-A0FC-177B-4564-136BD5D4E52B}"/>
              </a:ext>
            </a:extLst>
          </p:cNvPr>
          <p:cNvSpPr/>
          <p:nvPr/>
        </p:nvSpPr>
        <p:spPr>
          <a:xfrm>
            <a:off x="9223354" y="5318210"/>
            <a:ext cx="672662" cy="484632"/>
          </a:xfrm>
          <a:prstGeom prst="rightArrow">
            <a:avLst/>
          </a:prstGeom>
          <a:gradFill flip="none" rotWithShape="1">
            <a:gsLst>
              <a:gs pos="0">
                <a:srgbClr val="20429F">
                  <a:shade val="30000"/>
                  <a:satMod val="115000"/>
                </a:srgbClr>
              </a:gs>
              <a:gs pos="50000">
                <a:srgbClr val="20429F">
                  <a:shade val="67500"/>
                  <a:satMod val="115000"/>
                </a:srgbClr>
              </a:gs>
              <a:gs pos="100000">
                <a:srgbClr val="20429F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highlight>
                <a:srgbClr val="FFFF00"/>
              </a:highlight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2B38B18-615F-81AB-4F27-B8161D0D1911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6</a:t>
            </a:r>
            <a:endParaRPr lang="en-US" sz="1850" dirty="0"/>
          </a:p>
        </p:txBody>
      </p:sp>
      <p:pic>
        <p:nvPicPr>
          <p:cNvPr id="8" name="Рисунок 7" descr="Стрелка: изгиб по часовой стрелке со сплошной заливкой">
            <a:extLst>
              <a:ext uri="{FF2B5EF4-FFF2-40B4-BE49-F238E27FC236}">
                <a16:creationId xmlns:a16="http://schemas.microsoft.com/office/drawing/2014/main" id="{CD4778BB-9AFB-DA93-F706-806E84D11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915177">
            <a:off x="9025399" y="5686562"/>
            <a:ext cx="914400" cy="1835150"/>
          </a:xfrm>
          <a:prstGeom prst="rect">
            <a:avLst/>
          </a:prstGeom>
        </p:spPr>
      </p:pic>
      <p:pic>
        <p:nvPicPr>
          <p:cNvPr id="25" name="Рисунок 24" descr="Стрелка: прямо со сплошной заливкой">
            <a:extLst>
              <a:ext uri="{FF2B5EF4-FFF2-40B4-BE49-F238E27FC236}">
                <a16:creationId xmlns:a16="http://schemas.microsoft.com/office/drawing/2014/main" id="{417E776A-95CE-2799-2F72-DE0CB4E5AF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489390" y="6221746"/>
            <a:ext cx="914400" cy="914400"/>
          </a:xfrm>
          <a:prstGeom prst="rect">
            <a:avLst/>
          </a:prstGeom>
        </p:spPr>
      </p:pic>
      <p:pic>
        <p:nvPicPr>
          <p:cNvPr id="31" name="Рисунок 30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743C23C9-82B5-5D40-7E79-9608FFB15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20955">
            <a:off x="3749344" y="6102336"/>
            <a:ext cx="1607297" cy="978219"/>
          </a:xfrm>
          <a:prstGeom prst="rect">
            <a:avLst/>
          </a:prstGeom>
        </p:spPr>
      </p:pic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C9D94BA5-A042-6BA0-4251-F338778590ED}"/>
              </a:ext>
            </a:extLst>
          </p:cNvPr>
          <p:cNvSpPr/>
          <p:nvPr/>
        </p:nvSpPr>
        <p:spPr>
          <a:xfrm>
            <a:off x="5425101" y="7222140"/>
            <a:ext cx="3148772" cy="481829"/>
          </a:xfrm>
          <a:prstGeom prst="roundRect">
            <a:avLst/>
          </a:prstGeom>
          <a:solidFill>
            <a:srgbClr val="CF4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200"/>
              </a:spcAft>
            </a:pPr>
            <a:r>
              <a:rPr lang="ru-RU" dirty="0">
                <a:solidFill>
                  <a:schemeClr val="bg1"/>
                </a:solidFill>
                <a:latin typeface="Roboto Slab Black" pitchFamily="2" charset="0"/>
                <a:ea typeface="Roboto Slab Black" pitchFamily="2" charset="0"/>
              </a:rPr>
              <a:t>Система валидации</a:t>
            </a:r>
            <a:endParaRPr lang="en" dirty="0">
              <a:solidFill>
                <a:schemeClr val="bg1"/>
              </a:solidFill>
              <a:latin typeface="Roboto Slab Black" pitchFamily="2" charset="0"/>
              <a:ea typeface="Roboto Slab Black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61D9A-4D19-A641-27A5-7068E222A97A}"/>
              </a:ext>
            </a:extLst>
          </p:cNvPr>
          <p:cNvSpPr txBox="1"/>
          <p:nvPr/>
        </p:nvSpPr>
        <p:spPr>
          <a:xfrm>
            <a:off x="1186491" y="2695829"/>
            <a:ext cx="20613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Вход:</a:t>
            </a:r>
          </a:p>
          <a:p>
            <a:r>
              <a:rPr lang="en-US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&lt;15 </a:t>
            </a:r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писем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9C2D61-5E4B-DB87-5A89-C9E3E7C0DFC1}"/>
              </a:ext>
            </a:extLst>
          </p:cNvPr>
          <p:cNvSpPr txBox="1"/>
          <p:nvPr/>
        </p:nvSpPr>
        <p:spPr>
          <a:xfrm>
            <a:off x="5897566" y="2098883"/>
            <a:ext cx="26044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Вход:</a:t>
            </a:r>
          </a:p>
          <a:p>
            <a:r>
              <a:rPr lang="en-US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15</a:t>
            </a:r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-34</a:t>
            </a:r>
            <a:r>
              <a:rPr lang="en-US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 </a:t>
            </a:r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письма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47425C-7F79-575B-A013-DA4D321FC10A}"/>
              </a:ext>
            </a:extLst>
          </p:cNvPr>
          <p:cNvSpPr txBox="1"/>
          <p:nvPr/>
        </p:nvSpPr>
        <p:spPr>
          <a:xfrm>
            <a:off x="12533421" y="3187733"/>
            <a:ext cx="22392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Выход:</a:t>
            </a:r>
          </a:p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каждый класс</a:t>
            </a:r>
          </a:p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не менее 50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B83C2B-8A93-1741-530D-132C64670CC6}"/>
              </a:ext>
            </a:extLst>
          </p:cNvPr>
          <p:cNvSpPr txBox="1"/>
          <p:nvPr/>
        </p:nvSpPr>
        <p:spPr>
          <a:xfrm>
            <a:off x="9233919" y="1599781"/>
            <a:ext cx="22392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Вход:</a:t>
            </a:r>
          </a:p>
          <a:p>
            <a:r>
              <a:rPr lang="ru-RU" sz="1600" b="1" dirty="0">
                <a:solidFill>
                  <a:srgbClr val="3257B8"/>
                </a:solidFill>
                <a:latin typeface="Courier New" panose="02070309020205020404" pitchFamily="49" charset="0"/>
                <a:ea typeface="Roboto Slab" pitchFamily="34" charset="-122"/>
                <a:cs typeface="Courier New" panose="02070309020205020404" pitchFamily="49" charset="0"/>
              </a:rPr>
              <a:t>35-49 писем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>
            <a:extLst>
              <a:ext uri="{FF2B5EF4-FFF2-40B4-BE49-F238E27FC236}">
                <a16:creationId xmlns:a16="http://schemas.microsoft.com/office/drawing/2014/main" id="{391863DC-FA61-7F3A-CAE5-3BFD5ECD1FCA}"/>
              </a:ext>
            </a:extLst>
          </p:cNvPr>
          <p:cNvSpPr/>
          <p:nvPr/>
        </p:nvSpPr>
        <p:spPr>
          <a:xfrm>
            <a:off x="793790" y="360000"/>
            <a:ext cx="13000000" cy="70000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ru-RU" sz="3550" dirty="0">
                <a:solidFill>
                  <a:srgbClr val="3257B8"/>
                </a:solidFill>
                <a:latin typeface="Roboto Slab" pitchFamily="34" charset="0"/>
              </a:rPr>
              <a:t>Система валидации и LLM-судья</a:t>
            </a:r>
          </a:p>
        </p:txBody>
      </p:sp>
      <p:sp>
        <p:nvSpPr>
          <p:cNvPr id="31" name="LeftSub">
            <a:extLst>
              <a:ext uri="{FF2B5EF4-FFF2-40B4-BE49-F238E27FC236}">
                <a16:creationId xmlns:a16="http://schemas.microsoft.com/office/drawing/2014/main" id="{8CA3291C-FF10-6DFC-C2F0-42CC5A934C42}"/>
              </a:ext>
            </a:extLst>
          </p:cNvPr>
          <p:cNvSpPr/>
          <p:nvPr/>
        </p:nvSpPr>
        <p:spPr>
          <a:xfrm>
            <a:off x="793790" y="1100000"/>
            <a:ext cx="6500000" cy="3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1A2D6B"/>
                </a:solidFill>
                <a:latin typeface="Roboto"/>
              </a:rPr>
              <a:t>🛡 Уровень 1 — 7 </a:t>
            </a:r>
            <a:r>
              <a:rPr lang="ru-RU" b="1" dirty="0">
                <a:solidFill>
                  <a:srgbClr val="1A2D6B"/>
                </a:solidFill>
                <a:latin typeface="Roboto"/>
              </a:rPr>
              <a:t>последовательных</a:t>
            </a:r>
            <a:r>
              <a:rPr lang="ru-RU" sz="1800" b="1" dirty="0">
                <a:solidFill>
                  <a:srgbClr val="1A2D6B"/>
                </a:solidFill>
                <a:latin typeface="Roboto"/>
              </a:rPr>
              <a:t> фильтров</a:t>
            </a:r>
          </a:p>
        </p:txBody>
      </p:sp>
      <p:sp>
        <p:nvSpPr>
          <p:cNvPr id="32" name="Num01">
            <a:extLst>
              <a:ext uri="{FF2B5EF4-FFF2-40B4-BE49-F238E27FC236}">
                <a16:creationId xmlns:a16="http://schemas.microsoft.com/office/drawing/2014/main" id="{007A7F82-3844-2BFC-5F50-EBCE329D6CB3}"/>
              </a:ext>
            </a:extLst>
          </p:cNvPr>
          <p:cNvSpPr/>
          <p:nvPr/>
        </p:nvSpPr>
        <p:spPr>
          <a:xfrm>
            <a:off x="900000" y="158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33" name="Label01">
            <a:extLst>
              <a:ext uri="{FF2B5EF4-FFF2-40B4-BE49-F238E27FC236}">
                <a16:creationId xmlns:a16="http://schemas.microsoft.com/office/drawing/2014/main" id="{7F332B19-D568-56CC-0A84-A0448F52306A}"/>
              </a:ext>
            </a:extLst>
          </p:cNvPr>
          <p:cNvSpPr/>
          <p:nvPr/>
        </p:nvSpPr>
        <p:spPr>
          <a:xfrm>
            <a:off x="1600000" y="150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Точные дубликаты</a:t>
            </a:r>
          </a:p>
        </p:txBody>
      </p:sp>
      <p:sp>
        <p:nvSpPr>
          <p:cNvPr id="34" name="Detail01">
            <a:extLst>
              <a:ext uri="{FF2B5EF4-FFF2-40B4-BE49-F238E27FC236}">
                <a16:creationId xmlns:a16="http://schemas.microsoft.com/office/drawing/2014/main" id="{85507655-624D-00E6-379F-4EB65448F1FE}"/>
              </a:ext>
            </a:extLst>
          </p:cNvPr>
          <p:cNvSpPr/>
          <p:nvPr/>
        </p:nvSpPr>
        <p:spPr>
          <a:xfrm>
            <a:off x="4800000" y="150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O(1)</a:t>
            </a:r>
          </a:p>
        </p:txBody>
      </p:sp>
      <p:sp>
        <p:nvSpPr>
          <p:cNvPr id="35" name="Sep0">
            <a:extLst>
              <a:ext uri="{FF2B5EF4-FFF2-40B4-BE49-F238E27FC236}">
                <a16:creationId xmlns:a16="http://schemas.microsoft.com/office/drawing/2014/main" id="{F140B693-8F9C-6012-469D-20C61E0A6F1F}"/>
              </a:ext>
            </a:extLst>
          </p:cNvPr>
          <p:cNvSpPr/>
          <p:nvPr/>
        </p:nvSpPr>
        <p:spPr>
          <a:xfrm>
            <a:off x="900000" y="224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6" name="Num02">
            <a:extLst>
              <a:ext uri="{FF2B5EF4-FFF2-40B4-BE49-F238E27FC236}">
                <a16:creationId xmlns:a16="http://schemas.microsoft.com/office/drawing/2014/main" id="{F272BC93-4B51-5E41-CB28-5D0FD4E4EDEA}"/>
              </a:ext>
            </a:extLst>
          </p:cNvPr>
          <p:cNvSpPr/>
          <p:nvPr/>
        </p:nvSpPr>
        <p:spPr>
          <a:xfrm>
            <a:off x="900000" y="236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37" name="Label02">
            <a:extLst>
              <a:ext uri="{FF2B5EF4-FFF2-40B4-BE49-F238E27FC236}">
                <a16:creationId xmlns:a16="http://schemas.microsoft.com/office/drawing/2014/main" id="{1E739345-F9BA-B397-B2A8-36B36B1BBE63}"/>
              </a:ext>
            </a:extLst>
          </p:cNvPr>
          <p:cNvSpPr/>
          <p:nvPr/>
        </p:nvSpPr>
        <p:spPr>
          <a:xfrm>
            <a:off x="1600000" y="228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Мин. длина</a:t>
            </a:r>
          </a:p>
        </p:txBody>
      </p:sp>
      <p:sp>
        <p:nvSpPr>
          <p:cNvPr id="38" name="Detail02">
            <a:extLst>
              <a:ext uri="{FF2B5EF4-FFF2-40B4-BE49-F238E27FC236}">
                <a16:creationId xmlns:a16="http://schemas.microsoft.com/office/drawing/2014/main" id="{E5C6C5CD-FE46-206A-6D53-9544CBCD7EED}"/>
              </a:ext>
            </a:extLst>
          </p:cNvPr>
          <p:cNvSpPr/>
          <p:nvPr/>
        </p:nvSpPr>
        <p:spPr>
          <a:xfrm>
            <a:off x="4800000" y="228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500 символов</a:t>
            </a:r>
          </a:p>
        </p:txBody>
      </p:sp>
      <p:sp>
        <p:nvSpPr>
          <p:cNvPr id="39" name="Sep1">
            <a:extLst>
              <a:ext uri="{FF2B5EF4-FFF2-40B4-BE49-F238E27FC236}">
                <a16:creationId xmlns:a16="http://schemas.microsoft.com/office/drawing/2014/main" id="{2A832AC9-7122-14E9-E93B-9FBEE9A64204}"/>
              </a:ext>
            </a:extLst>
          </p:cNvPr>
          <p:cNvSpPr/>
          <p:nvPr/>
        </p:nvSpPr>
        <p:spPr>
          <a:xfrm>
            <a:off x="900000" y="302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0" name="Num03">
            <a:extLst>
              <a:ext uri="{FF2B5EF4-FFF2-40B4-BE49-F238E27FC236}">
                <a16:creationId xmlns:a16="http://schemas.microsoft.com/office/drawing/2014/main" id="{4D1D6B0F-5D8A-982F-05A4-725F3835ADA1}"/>
              </a:ext>
            </a:extLst>
          </p:cNvPr>
          <p:cNvSpPr/>
          <p:nvPr/>
        </p:nvSpPr>
        <p:spPr>
          <a:xfrm>
            <a:off x="900000" y="314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1" name="Label03">
            <a:extLst>
              <a:ext uri="{FF2B5EF4-FFF2-40B4-BE49-F238E27FC236}">
                <a16:creationId xmlns:a16="http://schemas.microsoft.com/office/drawing/2014/main" id="{BCA32BC4-560E-C7A5-85F0-05DE34FE1BEE}"/>
              </a:ext>
            </a:extLst>
          </p:cNvPr>
          <p:cNvSpPr/>
          <p:nvPr/>
        </p:nvSpPr>
        <p:spPr>
          <a:xfrm>
            <a:off x="1600000" y="306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Язык текста</a:t>
            </a:r>
          </a:p>
        </p:txBody>
      </p:sp>
      <p:sp>
        <p:nvSpPr>
          <p:cNvPr id="42" name="Detail03">
            <a:extLst>
              <a:ext uri="{FF2B5EF4-FFF2-40B4-BE49-F238E27FC236}">
                <a16:creationId xmlns:a16="http://schemas.microsoft.com/office/drawing/2014/main" id="{26198256-C90F-654C-3F00-5AADB4869297}"/>
              </a:ext>
            </a:extLst>
          </p:cNvPr>
          <p:cNvSpPr/>
          <p:nvPr/>
        </p:nvSpPr>
        <p:spPr>
          <a:xfrm>
            <a:off x="4800000" y="306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langdetect</a:t>
            </a:r>
          </a:p>
        </p:txBody>
      </p:sp>
      <p:sp>
        <p:nvSpPr>
          <p:cNvPr id="43" name="Sep2">
            <a:extLst>
              <a:ext uri="{FF2B5EF4-FFF2-40B4-BE49-F238E27FC236}">
                <a16:creationId xmlns:a16="http://schemas.microsoft.com/office/drawing/2014/main" id="{E53A28F2-2C5A-2F75-291C-A1A394A3E824}"/>
              </a:ext>
            </a:extLst>
          </p:cNvPr>
          <p:cNvSpPr/>
          <p:nvPr/>
        </p:nvSpPr>
        <p:spPr>
          <a:xfrm>
            <a:off x="900000" y="380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4" name="Num04">
            <a:extLst>
              <a:ext uri="{FF2B5EF4-FFF2-40B4-BE49-F238E27FC236}">
                <a16:creationId xmlns:a16="http://schemas.microsoft.com/office/drawing/2014/main" id="{52296CCC-B0C3-C78B-C87F-355A7A769574}"/>
              </a:ext>
            </a:extLst>
          </p:cNvPr>
          <p:cNvSpPr/>
          <p:nvPr/>
        </p:nvSpPr>
        <p:spPr>
          <a:xfrm>
            <a:off x="900000" y="392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5" name="Label04">
            <a:extLst>
              <a:ext uri="{FF2B5EF4-FFF2-40B4-BE49-F238E27FC236}">
                <a16:creationId xmlns:a16="http://schemas.microsoft.com/office/drawing/2014/main" id="{3E1699B3-E89F-B0AE-463E-0C3F60937E4F}"/>
              </a:ext>
            </a:extLst>
          </p:cNvPr>
          <p:cNvSpPr/>
          <p:nvPr/>
        </p:nvSpPr>
        <p:spPr>
          <a:xfrm>
            <a:off x="1600000" y="384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Вырожденные</a:t>
            </a:r>
          </a:p>
        </p:txBody>
      </p:sp>
      <p:sp>
        <p:nvSpPr>
          <p:cNvPr id="46" name="Detail04">
            <a:extLst>
              <a:ext uri="{FF2B5EF4-FFF2-40B4-BE49-F238E27FC236}">
                <a16:creationId xmlns:a16="http://schemas.microsoft.com/office/drawing/2014/main" id="{FC01D934-BB21-D216-6BA3-1B568609D999}"/>
              </a:ext>
            </a:extLst>
          </p:cNvPr>
          <p:cNvSpPr/>
          <p:nvPr/>
        </p:nvSpPr>
        <p:spPr>
          <a:xfrm>
            <a:off x="4800000" y="384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unique ratio &lt;20%</a:t>
            </a:r>
          </a:p>
        </p:txBody>
      </p:sp>
      <p:sp>
        <p:nvSpPr>
          <p:cNvPr id="47" name="Sep3">
            <a:extLst>
              <a:ext uri="{FF2B5EF4-FFF2-40B4-BE49-F238E27FC236}">
                <a16:creationId xmlns:a16="http://schemas.microsoft.com/office/drawing/2014/main" id="{33D7982D-04FD-F70B-5BCF-3060384BD267}"/>
              </a:ext>
            </a:extLst>
          </p:cNvPr>
          <p:cNvSpPr/>
          <p:nvPr/>
        </p:nvSpPr>
        <p:spPr>
          <a:xfrm>
            <a:off x="900000" y="458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8" name="Num05">
            <a:extLst>
              <a:ext uri="{FF2B5EF4-FFF2-40B4-BE49-F238E27FC236}">
                <a16:creationId xmlns:a16="http://schemas.microsoft.com/office/drawing/2014/main" id="{0DBD2197-C0A6-E60D-DD1B-8E980134D0D8}"/>
              </a:ext>
            </a:extLst>
          </p:cNvPr>
          <p:cNvSpPr/>
          <p:nvPr/>
        </p:nvSpPr>
        <p:spPr>
          <a:xfrm>
            <a:off x="900000" y="470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9" name="Label05">
            <a:extLst>
              <a:ext uri="{FF2B5EF4-FFF2-40B4-BE49-F238E27FC236}">
                <a16:creationId xmlns:a16="http://schemas.microsoft.com/office/drawing/2014/main" id="{0E475E9B-3680-7FF2-D6D4-7A59AEE042BC}"/>
              </a:ext>
            </a:extLst>
          </p:cNvPr>
          <p:cNvSpPr/>
          <p:nvPr/>
        </p:nvSpPr>
        <p:spPr>
          <a:xfrm>
            <a:off x="1600000" y="462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Иероглифы</a:t>
            </a:r>
          </a:p>
        </p:txBody>
      </p:sp>
      <p:sp>
        <p:nvSpPr>
          <p:cNvPr id="50" name="Detail05">
            <a:extLst>
              <a:ext uri="{FF2B5EF4-FFF2-40B4-BE49-F238E27FC236}">
                <a16:creationId xmlns:a16="http://schemas.microsoft.com/office/drawing/2014/main" id="{199121E7-5AF8-B75B-BD2C-9423DC07531E}"/>
              </a:ext>
            </a:extLst>
          </p:cNvPr>
          <p:cNvSpPr/>
          <p:nvPr/>
        </p:nvSpPr>
        <p:spPr>
          <a:xfrm>
            <a:off x="4800000" y="462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модель Qwen</a:t>
            </a:r>
          </a:p>
        </p:txBody>
      </p:sp>
      <p:sp>
        <p:nvSpPr>
          <p:cNvPr id="51" name="Sep4">
            <a:extLst>
              <a:ext uri="{FF2B5EF4-FFF2-40B4-BE49-F238E27FC236}">
                <a16:creationId xmlns:a16="http://schemas.microsoft.com/office/drawing/2014/main" id="{74B1C253-9271-0186-DE7C-F972615CA58C}"/>
              </a:ext>
            </a:extLst>
          </p:cNvPr>
          <p:cNvSpPr/>
          <p:nvPr/>
        </p:nvSpPr>
        <p:spPr>
          <a:xfrm>
            <a:off x="900000" y="536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2" name="Num06">
            <a:extLst>
              <a:ext uri="{FF2B5EF4-FFF2-40B4-BE49-F238E27FC236}">
                <a16:creationId xmlns:a16="http://schemas.microsoft.com/office/drawing/2014/main" id="{69D1953E-E606-E9BC-239C-B85F2C23FC0D}"/>
              </a:ext>
            </a:extLst>
          </p:cNvPr>
          <p:cNvSpPr/>
          <p:nvPr/>
        </p:nvSpPr>
        <p:spPr>
          <a:xfrm>
            <a:off x="900000" y="548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06</a:t>
            </a:r>
          </a:p>
        </p:txBody>
      </p:sp>
      <p:sp>
        <p:nvSpPr>
          <p:cNvPr id="53" name="Label06">
            <a:extLst>
              <a:ext uri="{FF2B5EF4-FFF2-40B4-BE49-F238E27FC236}">
                <a16:creationId xmlns:a16="http://schemas.microsoft.com/office/drawing/2014/main" id="{B9A23B9C-55C1-55D9-01ED-24B0155008D8}"/>
              </a:ext>
            </a:extLst>
          </p:cNvPr>
          <p:cNvSpPr/>
          <p:nvPr/>
        </p:nvSpPr>
        <p:spPr>
          <a:xfrm>
            <a:off x="1600000" y="540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Промпт-утечка</a:t>
            </a:r>
          </a:p>
        </p:txBody>
      </p:sp>
      <p:sp>
        <p:nvSpPr>
          <p:cNvPr id="54" name="Detail06">
            <a:extLst>
              <a:ext uri="{FF2B5EF4-FFF2-40B4-BE49-F238E27FC236}">
                <a16:creationId xmlns:a16="http://schemas.microsoft.com/office/drawing/2014/main" id="{9AE61F25-DE3E-4522-B896-5C2064CF698A}"/>
              </a:ext>
            </a:extLst>
          </p:cNvPr>
          <p:cNvSpPr/>
          <p:nvPr/>
        </p:nvSpPr>
        <p:spPr>
          <a:xfrm>
            <a:off x="4800000" y="540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мета-фразы, markdown</a:t>
            </a:r>
          </a:p>
        </p:txBody>
      </p:sp>
      <p:sp>
        <p:nvSpPr>
          <p:cNvPr id="55" name="Sep5">
            <a:extLst>
              <a:ext uri="{FF2B5EF4-FFF2-40B4-BE49-F238E27FC236}">
                <a16:creationId xmlns:a16="http://schemas.microsoft.com/office/drawing/2014/main" id="{2F8E3F6E-0837-5D25-A499-36FFC9B82E19}"/>
              </a:ext>
            </a:extLst>
          </p:cNvPr>
          <p:cNvSpPr/>
          <p:nvPr/>
        </p:nvSpPr>
        <p:spPr>
          <a:xfrm>
            <a:off x="900000" y="614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6" name="Num07">
            <a:extLst>
              <a:ext uri="{FF2B5EF4-FFF2-40B4-BE49-F238E27FC236}">
                <a16:creationId xmlns:a16="http://schemas.microsoft.com/office/drawing/2014/main" id="{83098D4D-8F94-69D0-3E45-D59714314C93}"/>
              </a:ext>
            </a:extLst>
          </p:cNvPr>
          <p:cNvSpPr/>
          <p:nvPr/>
        </p:nvSpPr>
        <p:spPr>
          <a:xfrm>
            <a:off x="900000" y="626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07</a:t>
            </a:r>
          </a:p>
        </p:txBody>
      </p:sp>
      <p:sp>
        <p:nvSpPr>
          <p:cNvPr id="57" name="Label07">
            <a:extLst>
              <a:ext uri="{FF2B5EF4-FFF2-40B4-BE49-F238E27FC236}">
                <a16:creationId xmlns:a16="http://schemas.microsoft.com/office/drawing/2014/main" id="{32E7CDF2-ECDF-81DB-21BF-199BF85B8183}"/>
              </a:ext>
            </a:extLst>
          </p:cNvPr>
          <p:cNvSpPr/>
          <p:nvPr/>
        </p:nvSpPr>
        <p:spPr>
          <a:xfrm>
            <a:off x="1600000" y="618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SBERT сходство</a:t>
            </a:r>
          </a:p>
        </p:txBody>
      </p:sp>
      <p:sp>
        <p:nvSpPr>
          <p:cNvPr id="58" name="Detail07">
            <a:extLst>
              <a:ext uri="{FF2B5EF4-FFF2-40B4-BE49-F238E27FC236}">
                <a16:creationId xmlns:a16="http://schemas.microsoft.com/office/drawing/2014/main" id="{78CA50E2-5B69-9B10-A37C-B18A203B98CE}"/>
              </a:ext>
            </a:extLst>
          </p:cNvPr>
          <p:cNvSpPr/>
          <p:nvPr/>
        </p:nvSpPr>
        <p:spPr>
          <a:xfrm>
            <a:off x="4800000" y="618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порог 0,5–0,98</a:t>
            </a:r>
          </a:p>
        </p:txBody>
      </p:sp>
      <p:sp>
        <p:nvSpPr>
          <p:cNvPr id="59" name="JudgeBG">
            <a:extLst>
              <a:ext uri="{FF2B5EF4-FFF2-40B4-BE49-F238E27FC236}">
                <a16:creationId xmlns:a16="http://schemas.microsoft.com/office/drawing/2014/main" id="{79C58B93-BD7C-1C6A-B493-A3E0FB2804A8}"/>
              </a:ext>
            </a:extLst>
          </p:cNvPr>
          <p:cNvSpPr/>
          <p:nvPr/>
        </p:nvSpPr>
        <p:spPr>
          <a:xfrm>
            <a:off x="7500000" y="1100000"/>
            <a:ext cx="6336610" cy="6500000"/>
          </a:xfrm>
          <a:prstGeom prst="roundRect">
            <a:avLst>
              <a:gd name="adj" fmla="val 3000"/>
            </a:avLst>
          </a:prstGeom>
          <a:solidFill>
            <a:srgbClr val="3257B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0" name="JudgeIcon">
            <a:extLst>
              <a:ext uri="{FF2B5EF4-FFF2-40B4-BE49-F238E27FC236}">
                <a16:creationId xmlns:a16="http://schemas.microsoft.com/office/drawing/2014/main" id="{C90F3749-F019-2259-C99C-D679C56F8565}"/>
              </a:ext>
            </a:extLst>
          </p:cNvPr>
          <p:cNvSpPr/>
          <p:nvPr/>
        </p:nvSpPr>
        <p:spPr>
          <a:xfrm>
            <a:off x="7800000" y="1350000"/>
            <a:ext cx="700000" cy="70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2800" dirty="0">
                <a:solidFill>
                  <a:srgbClr val="FFFFFF"/>
                </a:solidFill>
                <a:latin typeface="Roboto"/>
              </a:rPr>
              <a:t>⚖</a:t>
            </a:r>
          </a:p>
        </p:txBody>
      </p:sp>
      <p:sp>
        <p:nvSpPr>
          <p:cNvPr id="61" name="JudgeTitle">
            <a:extLst>
              <a:ext uri="{FF2B5EF4-FFF2-40B4-BE49-F238E27FC236}">
                <a16:creationId xmlns:a16="http://schemas.microsoft.com/office/drawing/2014/main" id="{CA1BB41D-3724-BE91-B0BC-1793B7CEAC5C}"/>
              </a:ext>
            </a:extLst>
          </p:cNvPr>
          <p:cNvSpPr/>
          <p:nvPr/>
        </p:nvSpPr>
        <p:spPr>
          <a:xfrm>
            <a:off x="8650000" y="1350000"/>
            <a:ext cx="48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FFFFFF"/>
                </a:solidFill>
                <a:latin typeface="Roboto"/>
              </a:rPr>
              <a:t>Уровень 2 — LLM-судья</a:t>
            </a:r>
          </a:p>
          <a:p>
            <a:pPr marL="0" indent="0" algn="l">
              <a:buNone/>
            </a:pPr>
            <a:r>
              <a:rPr lang="ru-RU" sz="1400" dirty="0">
                <a:solidFill>
                  <a:srgbClr val="C9D6F0"/>
                </a:solidFill>
                <a:latin typeface="Roboto"/>
              </a:rPr>
              <a:t>Qwen-32B, temperature=0,1</a:t>
            </a:r>
          </a:p>
        </p:txBody>
      </p:sp>
      <p:sp>
        <p:nvSpPr>
          <p:cNvPr id="62" name="JudgeSep">
            <a:extLst>
              <a:ext uri="{FF2B5EF4-FFF2-40B4-BE49-F238E27FC236}">
                <a16:creationId xmlns:a16="http://schemas.microsoft.com/office/drawing/2014/main" id="{2E12AD5F-D70C-93C1-1BB3-E1F3BA9162E3}"/>
              </a:ext>
            </a:extLst>
          </p:cNvPr>
          <p:cNvSpPr/>
          <p:nvPr/>
        </p:nvSpPr>
        <p:spPr>
          <a:xfrm>
            <a:off x="7800000" y="2250000"/>
            <a:ext cx="573661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3" name="GenLabel">
            <a:extLst>
              <a:ext uri="{FF2B5EF4-FFF2-40B4-BE49-F238E27FC236}">
                <a16:creationId xmlns:a16="http://schemas.microsoft.com/office/drawing/2014/main" id="{A7D62910-18FC-E456-5D00-8F500DAC50E4}"/>
              </a:ext>
            </a:extLst>
          </p:cNvPr>
          <p:cNvSpPr/>
          <p:nvPr/>
        </p:nvSpPr>
        <p:spPr>
          <a:xfrm>
            <a:off x="7800000" y="2400000"/>
            <a:ext cx="573661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FFE29A"/>
                </a:solidFill>
                <a:latin typeface="Roboto"/>
              </a:rPr>
              <a:t>📝 Для генерации:</a:t>
            </a:r>
          </a:p>
        </p:txBody>
      </p:sp>
      <p:sp>
        <p:nvSpPr>
          <p:cNvPr id="64" name="GenCriteria">
            <a:extLst>
              <a:ext uri="{FF2B5EF4-FFF2-40B4-BE49-F238E27FC236}">
                <a16:creationId xmlns:a16="http://schemas.microsoft.com/office/drawing/2014/main" id="{6DB544F6-7CBD-64FE-761D-87018ECFEE19}"/>
              </a:ext>
            </a:extLst>
          </p:cNvPr>
          <p:cNvSpPr/>
          <p:nvPr/>
        </p:nvSpPr>
        <p:spPr>
          <a:xfrm>
            <a:off x="7800000" y="2800000"/>
            <a:ext cx="5736610" cy="1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E7EDFA"/>
                </a:solidFill>
                <a:latin typeface="Roboto"/>
              </a:rPr>
              <a:t>естественность • связность • соответствие классу • полнота</a:t>
            </a:r>
          </a:p>
        </p:txBody>
      </p:sp>
      <p:sp>
        <p:nvSpPr>
          <p:cNvPr id="65" name="ParLabel">
            <a:extLst>
              <a:ext uri="{FF2B5EF4-FFF2-40B4-BE49-F238E27FC236}">
                <a16:creationId xmlns:a16="http://schemas.microsoft.com/office/drawing/2014/main" id="{6FCAEA13-5E80-99DF-2396-478FB2314D5E}"/>
              </a:ext>
            </a:extLst>
          </p:cNvPr>
          <p:cNvSpPr/>
          <p:nvPr/>
        </p:nvSpPr>
        <p:spPr>
          <a:xfrm>
            <a:off x="7800000" y="3700000"/>
            <a:ext cx="573661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FFE29A"/>
                </a:solidFill>
                <a:latin typeface="Roboto"/>
              </a:rPr>
              <a:t>🔄 Для парафраза и обратного перевода:</a:t>
            </a:r>
          </a:p>
        </p:txBody>
      </p:sp>
      <p:sp>
        <p:nvSpPr>
          <p:cNvPr id="66" name="ParCriteria">
            <a:extLst>
              <a:ext uri="{FF2B5EF4-FFF2-40B4-BE49-F238E27FC236}">
                <a16:creationId xmlns:a16="http://schemas.microsoft.com/office/drawing/2014/main" id="{83330D04-0777-8A4B-1673-FA310B5ADDF5}"/>
              </a:ext>
            </a:extLst>
          </p:cNvPr>
          <p:cNvSpPr/>
          <p:nvPr/>
        </p:nvSpPr>
        <p:spPr>
          <a:xfrm>
            <a:off x="7800000" y="4100000"/>
            <a:ext cx="5736610" cy="1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E7EDFA"/>
                </a:solidFill>
                <a:latin typeface="Roboto"/>
              </a:rPr>
              <a:t>сохранение смысла • степень переформулировки • полнота деталей</a:t>
            </a:r>
          </a:p>
        </p:txBody>
      </p:sp>
      <p:sp>
        <p:nvSpPr>
          <p:cNvPr id="67" name="JudgeSep2">
            <a:extLst>
              <a:ext uri="{FF2B5EF4-FFF2-40B4-BE49-F238E27FC236}">
                <a16:creationId xmlns:a16="http://schemas.microsoft.com/office/drawing/2014/main" id="{2C3DD996-D53F-6E20-70DA-B10FAEE51AC5}"/>
              </a:ext>
            </a:extLst>
          </p:cNvPr>
          <p:cNvSpPr/>
          <p:nvPr/>
        </p:nvSpPr>
        <p:spPr>
          <a:xfrm>
            <a:off x="7800000" y="5200000"/>
            <a:ext cx="573661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8" name="Threshold">
            <a:extLst>
              <a:ext uri="{FF2B5EF4-FFF2-40B4-BE49-F238E27FC236}">
                <a16:creationId xmlns:a16="http://schemas.microsoft.com/office/drawing/2014/main" id="{FCD962AC-DFE2-6FC2-AED7-475C17E68ADC}"/>
              </a:ext>
            </a:extLst>
          </p:cNvPr>
          <p:cNvSpPr/>
          <p:nvPr/>
        </p:nvSpPr>
        <p:spPr>
          <a:xfrm>
            <a:off x="7800000" y="5350000"/>
            <a:ext cx="5736610" cy="2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2400" b="1" dirty="0">
                <a:solidFill>
                  <a:srgbClr val="FFFFFF"/>
                </a:solidFill>
                <a:latin typeface="Roboto Slab"/>
              </a:rPr>
              <a:t>Оценка 1–10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Порог отсечения </a:t>
            </a:r>
            <a:r>
              <a:rPr lang="ru-RU" sz="1500" b="1" dirty="0">
                <a:solidFill>
                  <a:srgbClr val="FFE29A"/>
                </a:solidFill>
                <a:latin typeface="Roboto"/>
              </a:rPr>
              <a:t>5,0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 (для обратного перевода — </a:t>
            </a:r>
            <a:r>
              <a:rPr lang="ru-RU" sz="1500" b="1" dirty="0">
                <a:solidFill>
                  <a:srgbClr val="FFE29A"/>
                </a:solidFill>
                <a:latin typeface="Roboto"/>
              </a:rPr>
              <a:t>2,5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)</a:t>
            </a:r>
          </a:p>
          <a:p>
            <a:pPr marL="0" indent="0" algn="l">
              <a:lnSpc>
                <a:spcPts val="2400"/>
              </a:lnSpc>
              <a:spcBef>
                <a:spcPts val="400"/>
              </a:spcBef>
              <a:buNone/>
            </a:pPr>
            <a:r>
              <a:rPr lang="ru-RU" sz="1500">
                <a:solidFill>
                  <a:srgbClr val="E7EDFA"/>
                </a:solidFill>
                <a:latin typeface="Roboto"/>
              </a:rPr>
              <a:t>Из оставшихся 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кандидатов отбирается N лучших</a:t>
            </a: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3C8045CB-BB13-741F-21E0-6DD6A33B8F6D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7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0;p4">
            <a:extLst>
              <a:ext uri="{FF2B5EF4-FFF2-40B4-BE49-F238E27FC236}">
                <a16:creationId xmlns:a16="http://schemas.microsoft.com/office/drawing/2014/main" id="{48DAB670-F42E-AC3A-35DF-7B6FCABA183D}"/>
              </a:ext>
            </a:extLst>
          </p:cNvPr>
          <p:cNvSpPr/>
          <p:nvPr/>
        </p:nvSpPr>
        <p:spPr>
          <a:xfrm>
            <a:off x="1190750" y="201030"/>
            <a:ext cx="6414914" cy="67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lang="ru-RU" sz="3200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Результаты</a:t>
            </a:r>
            <a:r>
              <a:rPr lang="ru-RU" sz="2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ru-RU" sz="3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Аугментации</a:t>
            </a:r>
            <a:endParaRPr sz="3200" b="0" i="0" u="none" strike="noStrike" cap="none" dirty="0"/>
          </a:p>
        </p:txBody>
      </p:sp>
      <p:sp>
        <p:nvSpPr>
          <p:cNvPr id="32" name="Google Shape;23;p4">
            <a:extLst>
              <a:ext uri="{FF2B5EF4-FFF2-40B4-BE49-F238E27FC236}">
                <a16:creationId xmlns:a16="http://schemas.microsoft.com/office/drawing/2014/main" id="{4F8797BD-86EA-9595-397D-0E4B87BE4B32}"/>
              </a:ext>
            </a:extLst>
          </p:cNvPr>
          <p:cNvSpPr/>
          <p:nvPr/>
        </p:nvSpPr>
        <p:spPr>
          <a:xfrm>
            <a:off x="732215" y="1346567"/>
            <a:ext cx="3774300" cy="3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endParaRPr b="0" i="0" u="none" strike="noStrike" cap="none" dirty="0"/>
          </a:p>
        </p:txBody>
      </p:sp>
      <p:sp>
        <p:nvSpPr>
          <p:cNvPr id="33" name="Google Shape;24;p4">
            <a:extLst>
              <a:ext uri="{FF2B5EF4-FFF2-40B4-BE49-F238E27FC236}">
                <a16:creationId xmlns:a16="http://schemas.microsoft.com/office/drawing/2014/main" id="{9625D90F-4DE9-1C24-FBA4-E8CA088FA2CF}"/>
              </a:ext>
            </a:extLst>
          </p:cNvPr>
          <p:cNvSpPr/>
          <p:nvPr/>
        </p:nvSpPr>
        <p:spPr>
          <a:xfrm>
            <a:off x="682425" y="1871078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6;p4">
            <a:extLst>
              <a:ext uri="{FF2B5EF4-FFF2-40B4-BE49-F238E27FC236}">
                <a16:creationId xmlns:a16="http://schemas.microsoft.com/office/drawing/2014/main" id="{C26D0F31-9907-BC92-9F9C-7AE267A77AAD}"/>
              </a:ext>
            </a:extLst>
          </p:cNvPr>
          <p:cNvSpPr/>
          <p:nvPr/>
        </p:nvSpPr>
        <p:spPr>
          <a:xfrm>
            <a:off x="1042838" y="1834098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sp>
        <p:nvSpPr>
          <p:cNvPr id="38" name="Google Shape;29;p4">
            <a:extLst>
              <a:ext uri="{FF2B5EF4-FFF2-40B4-BE49-F238E27FC236}">
                <a16:creationId xmlns:a16="http://schemas.microsoft.com/office/drawing/2014/main" id="{C8F3E7B3-6BAF-4341-C51A-C4D1D4D2DE4D}"/>
              </a:ext>
            </a:extLst>
          </p:cNvPr>
          <p:cNvSpPr/>
          <p:nvPr/>
        </p:nvSpPr>
        <p:spPr>
          <a:xfrm>
            <a:off x="2338179" y="1828276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sp>
        <p:nvSpPr>
          <p:cNvPr id="40" name="Google Shape;31;p4">
            <a:extLst>
              <a:ext uri="{FF2B5EF4-FFF2-40B4-BE49-F238E27FC236}">
                <a16:creationId xmlns:a16="http://schemas.microsoft.com/office/drawing/2014/main" id="{75D66A11-A6B4-A967-6055-412F330E22BA}"/>
              </a:ext>
            </a:extLst>
          </p:cNvPr>
          <p:cNvSpPr/>
          <p:nvPr/>
        </p:nvSpPr>
        <p:spPr>
          <a:xfrm>
            <a:off x="1769266" y="3642550"/>
            <a:ext cx="349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0.48</a:t>
            </a:r>
            <a:endParaRPr sz="550" b="0" i="0" u="none" strike="noStrike" cap="none"/>
          </a:p>
        </p:txBody>
      </p:sp>
      <p:sp>
        <p:nvSpPr>
          <p:cNvPr id="41" name="Google Shape;32;p4">
            <a:extLst>
              <a:ext uri="{FF2B5EF4-FFF2-40B4-BE49-F238E27FC236}">
                <a16:creationId xmlns:a16="http://schemas.microsoft.com/office/drawing/2014/main" id="{18A44C00-AA3B-8EFF-D72C-916B1EBC82F0}"/>
              </a:ext>
            </a:extLst>
          </p:cNvPr>
          <p:cNvSpPr/>
          <p:nvPr/>
        </p:nvSpPr>
        <p:spPr>
          <a:xfrm>
            <a:off x="2992246" y="4046575"/>
            <a:ext cx="265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0.38</a:t>
            </a:r>
            <a:endParaRPr sz="550" b="0" i="0" u="none" strike="noStrike" cap="none"/>
          </a:p>
        </p:txBody>
      </p:sp>
      <p:sp>
        <p:nvSpPr>
          <p:cNvPr id="42" name="Google Shape;33;p4">
            <a:extLst>
              <a:ext uri="{FF2B5EF4-FFF2-40B4-BE49-F238E27FC236}">
                <a16:creationId xmlns:a16="http://schemas.microsoft.com/office/drawing/2014/main" id="{D559A399-7397-FFD6-D645-FF774BC23E2C}"/>
              </a:ext>
            </a:extLst>
          </p:cNvPr>
          <p:cNvSpPr/>
          <p:nvPr/>
        </p:nvSpPr>
        <p:spPr>
          <a:xfrm>
            <a:off x="4108772" y="404655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550" b="0" i="0" u="none" strike="noStrike" cap="none"/>
          </a:p>
        </p:txBody>
      </p:sp>
      <p:sp>
        <p:nvSpPr>
          <p:cNvPr id="43" name="Google Shape;34;p4">
            <a:extLst>
              <a:ext uri="{FF2B5EF4-FFF2-40B4-BE49-F238E27FC236}">
                <a16:creationId xmlns:a16="http://schemas.microsoft.com/office/drawing/2014/main" id="{8E64BF57-C769-8734-C767-F9F2AB533BBD}"/>
              </a:ext>
            </a:extLst>
          </p:cNvPr>
          <p:cNvSpPr/>
          <p:nvPr/>
        </p:nvSpPr>
        <p:spPr>
          <a:xfrm>
            <a:off x="6635675" y="408101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sz="550" b="0" i="0" u="none" strike="noStrike" cap="none"/>
          </a:p>
        </p:txBody>
      </p:sp>
      <p:sp>
        <p:nvSpPr>
          <p:cNvPr id="53" name="Google Shape;24;p4">
            <a:extLst>
              <a:ext uri="{FF2B5EF4-FFF2-40B4-BE49-F238E27FC236}">
                <a16:creationId xmlns:a16="http://schemas.microsoft.com/office/drawing/2014/main" id="{E8794A0C-4FB4-13FC-002A-EB995019F155}"/>
              </a:ext>
            </a:extLst>
          </p:cNvPr>
          <p:cNvSpPr/>
          <p:nvPr/>
        </p:nvSpPr>
        <p:spPr>
          <a:xfrm>
            <a:off x="2014211" y="1860084"/>
            <a:ext cx="1362464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28277-ED78-29FD-6FCE-42FE72D1A68A}"/>
              </a:ext>
            </a:extLst>
          </p:cNvPr>
          <p:cNvSpPr txBox="1"/>
          <p:nvPr/>
        </p:nvSpPr>
        <p:spPr>
          <a:xfrm>
            <a:off x="812647" y="425393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ABEE83-0487-C5DC-AD7A-D49BD8CF5253}"/>
              </a:ext>
            </a:extLst>
          </p:cNvPr>
          <p:cNvSpPr txBox="1"/>
          <p:nvPr/>
        </p:nvSpPr>
        <p:spPr>
          <a:xfrm>
            <a:off x="125534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0E0742-1543-26BE-0B2A-9B69C7A6530E}"/>
              </a:ext>
            </a:extLst>
          </p:cNvPr>
          <p:cNvSpPr txBox="1"/>
          <p:nvPr/>
        </p:nvSpPr>
        <p:spPr>
          <a:xfrm>
            <a:off x="1970216" y="4270422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DBA761-0DC0-F58F-AD59-44BB3EAE07C8}"/>
              </a:ext>
            </a:extLst>
          </p:cNvPr>
          <p:cNvSpPr txBox="1"/>
          <p:nvPr/>
        </p:nvSpPr>
        <p:spPr>
          <a:xfrm>
            <a:off x="2408038" y="4270422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24D6CF-87DC-07B7-C42D-A3763AA45134}"/>
              </a:ext>
            </a:extLst>
          </p:cNvPr>
          <p:cNvSpPr txBox="1"/>
          <p:nvPr/>
        </p:nvSpPr>
        <p:spPr>
          <a:xfrm>
            <a:off x="3117861" y="4270422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B451E3-9FBB-9A77-E090-725493B66091}"/>
              </a:ext>
            </a:extLst>
          </p:cNvPr>
          <p:cNvSpPr txBox="1"/>
          <p:nvPr/>
        </p:nvSpPr>
        <p:spPr>
          <a:xfrm>
            <a:off x="356857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CC1DF0-6F86-5E3A-AD2E-93E40ABCABB0}"/>
              </a:ext>
            </a:extLst>
          </p:cNvPr>
          <p:cNvSpPr txBox="1"/>
          <p:nvPr/>
        </p:nvSpPr>
        <p:spPr>
          <a:xfrm>
            <a:off x="4272316" y="4242158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C89D6B-8272-8814-3274-61CC064703C7}"/>
              </a:ext>
            </a:extLst>
          </p:cNvPr>
          <p:cNvSpPr txBox="1"/>
          <p:nvPr/>
        </p:nvSpPr>
        <p:spPr>
          <a:xfrm>
            <a:off x="4748238" y="4242158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39302B-455B-59FA-4E99-916CDA74DC8F}"/>
              </a:ext>
            </a:extLst>
          </p:cNvPr>
          <p:cNvSpPr txBox="1"/>
          <p:nvPr/>
        </p:nvSpPr>
        <p:spPr>
          <a:xfrm>
            <a:off x="5419961" y="4242158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46F5EE-3FA8-DDC9-06F7-A700DEA9345D}"/>
              </a:ext>
            </a:extLst>
          </p:cNvPr>
          <p:cNvSpPr txBox="1"/>
          <p:nvPr/>
        </p:nvSpPr>
        <p:spPr>
          <a:xfrm>
            <a:off x="5870675" y="4242158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F1EEB9-1D35-3C9D-7CB8-84C35449C1D9}"/>
              </a:ext>
            </a:extLst>
          </p:cNvPr>
          <p:cNvSpPr txBox="1"/>
          <p:nvPr/>
        </p:nvSpPr>
        <p:spPr>
          <a:xfrm>
            <a:off x="7720066" y="4275834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6C8DDC-75E7-8607-631C-70463A2E2976}"/>
              </a:ext>
            </a:extLst>
          </p:cNvPr>
          <p:cNvSpPr txBox="1"/>
          <p:nvPr/>
        </p:nvSpPr>
        <p:spPr>
          <a:xfrm>
            <a:off x="8200864" y="4292321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FD8E4D-2358-CD9D-9070-72D1CEBECC11}"/>
              </a:ext>
            </a:extLst>
          </p:cNvPr>
          <p:cNvSpPr txBox="1"/>
          <p:nvPr/>
        </p:nvSpPr>
        <p:spPr>
          <a:xfrm>
            <a:off x="8964632" y="428994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F8DD96-BE2C-2B01-0A01-E21D62495B23}"/>
              </a:ext>
            </a:extLst>
          </p:cNvPr>
          <p:cNvSpPr txBox="1"/>
          <p:nvPr/>
        </p:nvSpPr>
        <p:spPr>
          <a:xfrm>
            <a:off x="9438988" y="428994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E1A00C-253D-FA53-F747-3FDBCFD716B6}"/>
              </a:ext>
            </a:extLst>
          </p:cNvPr>
          <p:cNvSpPr txBox="1"/>
          <p:nvPr/>
        </p:nvSpPr>
        <p:spPr>
          <a:xfrm>
            <a:off x="10207705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0,40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F733AC-4BFD-6A0B-899F-B4AC9469D812}"/>
              </a:ext>
            </a:extLst>
          </p:cNvPr>
          <p:cNvSpPr txBox="1"/>
          <p:nvPr/>
        </p:nvSpPr>
        <p:spPr>
          <a:xfrm>
            <a:off x="10683709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B55EF-800E-199C-F70C-7071BD365AEB}"/>
              </a:ext>
            </a:extLst>
          </p:cNvPr>
          <p:cNvSpPr txBox="1"/>
          <p:nvPr/>
        </p:nvSpPr>
        <p:spPr>
          <a:xfrm>
            <a:off x="11429075" y="427042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8103A5-9C34-4CAD-30D3-65C79DD74067}"/>
              </a:ext>
            </a:extLst>
          </p:cNvPr>
          <p:cNvSpPr txBox="1"/>
          <p:nvPr/>
        </p:nvSpPr>
        <p:spPr>
          <a:xfrm>
            <a:off x="11934537" y="4285202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DA1218-0017-B483-04CF-357B7A605718}"/>
              </a:ext>
            </a:extLst>
          </p:cNvPr>
          <p:cNvSpPr txBox="1"/>
          <p:nvPr/>
        </p:nvSpPr>
        <p:spPr>
          <a:xfrm>
            <a:off x="12683036" y="4278346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0,39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5C6244-FA84-F8AC-678B-29D066B358CA}"/>
              </a:ext>
            </a:extLst>
          </p:cNvPr>
          <p:cNvSpPr txBox="1"/>
          <p:nvPr/>
        </p:nvSpPr>
        <p:spPr>
          <a:xfrm>
            <a:off x="13166450" y="428435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2" name="Прямоугольник: скругленные углы 3">
            <a:extLst>
              <a:ext uri="{FF2B5EF4-FFF2-40B4-BE49-F238E27FC236}">
                <a16:creationId xmlns:a16="http://schemas.microsoft.com/office/drawing/2014/main" id="{44256080-226D-338F-A340-B885BF4963E8}"/>
              </a:ext>
            </a:extLst>
          </p:cNvPr>
          <p:cNvSpPr/>
          <p:nvPr/>
        </p:nvSpPr>
        <p:spPr>
          <a:xfrm>
            <a:off x="1179989" y="889283"/>
            <a:ext cx="12799282" cy="259794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21;p4">
            <a:extLst>
              <a:ext uri="{FF2B5EF4-FFF2-40B4-BE49-F238E27FC236}">
                <a16:creationId xmlns:a16="http://schemas.microsoft.com/office/drawing/2014/main" id="{47D196CC-3319-0AF1-5152-1CF40316F28E}"/>
              </a:ext>
            </a:extLst>
          </p:cNvPr>
          <p:cNvSpPr/>
          <p:nvPr/>
        </p:nvSpPr>
        <p:spPr>
          <a:xfrm>
            <a:off x="1241146" y="876700"/>
            <a:ext cx="9006249" cy="4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Метрики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исходных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аугментированных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macro F1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 b="0" i="0" u="none" strike="noStrike" cap="none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13AD37-C8E5-9DC4-F579-EE4303CB6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77416" y="506266"/>
            <a:ext cx="686301" cy="686301"/>
          </a:xfrm>
          <a:prstGeom prst="rect">
            <a:avLst/>
          </a:prstGeom>
        </p:spPr>
      </p:pic>
      <p:sp>
        <p:nvSpPr>
          <p:cNvPr id="4" name="Text 7">
            <a:extLst>
              <a:ext uri="{FF2B5EF4-FFF2-40B4-BE49-F238E27FC236}">
                <a16:creationId xmlns:a16="http://schemas.microsoft.com/office/drawing/2014/main" id="{4FCDB517-57B6-B307-6084-74658E4A9CA4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8</a:t>
            </a:r>
            <a:endParaRPr lang="en-US" sz="1850" dirty="0"/>
          </a:p>
        </p:txBody>
      </p:sp>
      <p:sp>
        <p:nvSpPr>
          <p:cNvPr id="8" name="Google Shape;35;p4">
            <a:extLst>
              <a:ext uri="{FF2B5EF4-FFF2-40B4-BE49-F238E27FC236}">
                <a16:creationId xmlns:a16="http://schemas.microsoft.com/office/drawing/2014/main" id="{3E91D881-C29C-3023-2E96-D925DEFC4B5F}"/>
              </a:ext>
            </a:extLst>
          </p:cNvPr>
          <p:cNvSpPr/>
          <p:nvPr/>
        </p:nvSpPr>
        <p:spPr>
          <a:xfrm>
            <a:off x="7605664" y="1450241"/>
            <a:ext cx="3774300" cy="24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</a:t>
            </a:r>
            <a:r>
              <a:rPr lang="en-US" sz="14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F1</a:t>
            </a:r>
            <a:endParaRPr sz="1400" b="0" i="0" u="none" strike="noStrike" cap="none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4DBC248-8F99-A0A2-1654-5CD524F0C92F}"/>
              </a:ext>
            </a:extLst>
          </p:cNvPr>
          <p:cNvSpPr/>
          <p:nvPr/>
        </p:nvSpPr>
        <p:spPr>
          <a:xfrm>
            <a:off x="3241456" y="2419837"/>
            <a:ext cx="1381343" cy="266445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2B8E96-90F4-F7C4-B2A8-93254E68CA4F}"/>
              </a:ext>
            </a:extLst>
          </p:cNvPr>
          <p:cNvSpPr/>
          <p:nvPr/>
        </p:nvSpPr>
        <p:spPr>
          <a:xfrm>
            <a:off x="10506512" y="2411826"/>
            <a:ext cx="1381343" cy="266445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F92B309-906B-66E6-7EC9-7420834ADCF5}"/>
              </a:ext>
            </a:extLst>
          </p:cNvPr>
          <p:cNvSpPr/>
          <p:nvPr/>
        </p:nvSpPr>
        <p:spPr>
          <a:xfrm>
            <a:off x="5880343" y="2757692"/>
            <a:ext cx="1381343" cy="384777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8C8FC5B1-0B44-09EB-D164-217A93E976A9}"/>
              </a:ext>
            </a:extLst>
          </p:cNvPr>
          <p:cNvSpPr/>
          <p:nvPr/>
        </p:nvSpPr>
        <p:spPr>
          <a:xfrm>
            <a:off x="820566" y="1914240"/>
            <a:ext cx="151891" cy="151987"/>
          </a:xfrm>
          <a:prstGeom prst="roundRect">
            <a:avLst/>
          </a:prstGeom>
          <a:solidFill>
            <a:srgbClr val="1E3E8D"/>
          </a:solidFill>
          <a:ln>
            <a:solidFill>
              <a:srgbClr val="1E3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F29E6DB-0678-9C96-84DA-3C279BDD397D}"/>
              </a:ext>
            </a:extLst>
          </p:cNvPr>
          <p:cNvSpPr/>
          <p:nvPr/>
        </p:nvSpPr>
        <p:spPr>
          <a:xfrm>
            <a:off x="2106257" y="1899726"/>
            <a:ext cx="151891" cy="151987"/>
          </a:xfrm>
          <a:prstGeom prst="roundRect">
            <a:avLst/>
          </a:prstGeom>
          <a:solidFill>
            <a:srgbClr val="3E65D8"/>
          </a:solidFill>
          <a:ln>
            <a:solidFill>
              <a:srgbClr val="3E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Google Shape;24;p4">
            <a:extLst>
              <a:ext uri="{FF2B5EF4-FFF2-40B4-BE49-F238E27FC236}">
                <a16:creationId xmlns:a16="http://schemas.microsoft.com/office/drawing/2014/main" id="{3F510CE7-422C-24F2-9D03-C655CFD65E98}"/>
              </a:ext>
            </a:extLst>
          </p:cNvPr>
          <p:cNvSpPr/>
          <p:nvPr/>
        </p:nvSpPr>
        <p:spPr>
          <a:xfrm>
            <a:off x="7605664" y="1842944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6;p4">
            <a:extLst>
              <a:ext uri="{FF2B5EF4-FFF2-40B4-BE49-F238E27FC236}">
                <a16:creationId xmlns:a16="http://schemas.microsoft.com/office/drawing/2014/main" id="{2C84FDA3-6D0C-9684-B852-C19B3C9FA464}"/>
              </a:ext>
            </a:extLst>
          </p:cNvPr>
          <p:cNvSpPr/>
          <p:nvPr/>
        </p:nvSpPr>
        <p:spPr>
          <a:xfrm>
            <a:off x="7966077" y="1805964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sp>
        <p:nvSpPr>
          <p:cNvPr id="17" name="Google Shape;29;p4">
            <a:extLst>
              <a:ext uri="{FF2B5EF4-FFF2-40B4-BE49-F238E27FC236}">
                <a16:creationId xmlns:a16="http://schemas.microsoft.com/office/drawing/2014/main" id="{25915650-E1F6-0182-CC80-F145C24130BB}"/>
              </a:ext>
            </a:extLst>
          </p:cNvPr>
          <p:cNvSpPr/>
          <p:nvPr/>
        </p:nvSpPr>
        <p:spPr>
          <a:xfrm>
            <a:off x="9261418" y="1800142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sp>
        <p:nvSpPr>
          <p:cNvPr id="18" name="Google Shape;24;p4">
            <a:extLst>
              <a:ext uri="{FF2B5EF4-FFF2-40B4-BE49-F238E27FC236}">
                <a16:creationId xmlns:a16="http://schemas.microsoft.com/office/drawing/2014/main" id="{C00EFFE1-563C-1185-A73D-BFEFD4F842CB}"/>
              </a:ext>
            </a:extLst>
          </p:cNvPr>
          <p:cNvSpPr/>
          <p:nvPr/>
        </p:nvSpPr>
        <p:spPr>
          <a:xfrm>
            <a:off x="8937450" y="1831950"/>
            <a:ext cx="1362464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84968C3F-9AB2-5CD5-2E5C-776BEE68A1D5}"/>
              </a:ext>
            </a:extLst>
          </p:cNvPr>
          <p:cNvSpPr/>
          <p:nvPr/>
        </p:nvSpPr>
        <p:spPr>
          <a:xfrm>
            <a:off x="7743805" y="1886106"/>
            <a:ext cx="151891" cy="151987"/>
          </a:xfrm>
          <a:prstGeom prst="roundRect">
            <a:avLst/>
          </a:prstGeom>
          <a:solidFill>
            <a:srgbClr val="1E3E8D"/>
          </a:solidFill>
          <a:ln>
            <a:solidFill>
              <a:srgbClr val="1E3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0F2B1A87-7A5C-C44E-C76B-51376353CD97}"/>
              </a:ext>
            </a:extLst>
          </p:cNvPr>
          <p:cNvSpPr/>
          <p:nvPr/>
        </p:nvSpPr>
        <p:spPr>
          <a:xfrm>
            <a:off x="9029496" y="1871592"/>
            <a:ext cx="151891" cy="151987"/>
          </a:xfrm>
          <a:prstGeom prst="roundRect">
            <a:avLst/>
          </a:prstGeom>
          <a:solidFill>
            <a:srgbClr val="3E65D8"/>
          </a:solidFill>
          <a:ln>
            <a:solidFill>
              <a:srgbClr val="3E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0524A5B-33D8-1DD1-F71C-37BC13625F84}"/>
              </a:ext>
            </a:extLst>
          </p:cNvPr>
          <p:cNvSpPr/>
          <p:nvPr/>
        </p:nvSpPr>
        <p:spPr>
          <a:xfrm>
            <a:off x="12861424" y="2757692"/>
            <a:ext cx="1381343" cy="384777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37509EB-C6B8-D095-E2DE-040362F3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4" y="2263512"/>
            <a:ext cx="13461593" cy="4857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>
            <a:extLst>
              <a:ext uri="{FF2B5EF4-FFF2-40B4-BE49-F238E27FC236}">
                <a16:creationId xmlns:a16="http://schemas.microsoft.com/office/drawing/2014/main" id="{43F4C63D-856F-7B77-C12B-EB42EFCD75A3}"/>
              </a:ext>
            </a:extLst>
          </p:cNvPr>
          <p:cNvSpPr/>
          <p:nvPr/>
        </p:nvSpPr>
        <p:spPr>
          <a:xfrm>
            <a:off x="800988" y="273516"/>
            <a:ext cx="13430019" cy="57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ru-RU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 </a:t>
            </a: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Few-shot  </a:t>
            </a:r>
            <a:r>
              <a:rPr lang="en-US" sz="36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классификация</a:t>
            </a:r>
            <a:endParaRPr lang="en-US" sz="3650" dirty="0"/>
          </a:p>
        </p:txBody>
      </p:sp>
      <p:sp>
        <p:nvSpPr>
          <p:cNvPr id="102" name="Shape 2">
            <a:extLst>
              <a:ext uri="{FF2B5EF4-FFF2-40B4-BE49-F238E27FC236}">
                <a16:creationId xmlns:a16="http://schemas.microsoft.com/office/drawing/2014/main" id="{CE72836C-C675-898A-7EAB-DD0EB4C54F0A}"/>
              </a:ext>
            </a:extLst>
          </p:cNvPr>
          <p:cNvSpPr/>
          <p:nvPr/>
        </p:nvSpPr>
        <p:spPr>
          <a:xfrm>
            <a:off x="5902049" y="3737967"/>
            <a:ext cx="8170718" cy="3884771"/>
          </a:xfrm>
          <a:prstGeom prst="roundRect">
            <a:avLst>
              <a:gd name="adj" fmla="val 7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3" name="Shape 3">
            <a:extLst>
              <a:ext uri="{FF2B5EF4-FFF2-40B4-BE49-F238E27FC236}">
                <a16:creationId xmlns:a16="http://schemas.microsoft.com/office/drawing/2014/main" id="{3ADABFC1-FBED-C415-18F3-9900EA821907}"/>
              </a:ext>
            </a:extLst>
          </p:cNvPr>
          <p:cNvSpPr/>
          <p:nvPr/>
        </p:nvSpPr>
        <p:spPr>
          <a:xfrm>
            <a:off x="5917289" y="3735620"/>
            <a:ext cx="8170718" cy="13936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9EFED1BA-F04E-E830-8C79-BEF5BF72BA9C}"/>
              </a:ext>
            </a:extLst>
          </p:cNvPr>
          <p:cNvSpPr/>
          <p:nvPr/>
        </p:nvSpPr>
        <p:spPr>
          <a:xfrm>
            <a:off x="6097906" y="3846433"/>
            <a:ext cx="178129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endParaRPr lang="en-US" sz="1450" dirty="0"/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E23EF834-FC4A-70E6-AB62-EF0582749D86}"/>
              </a:ext>
            </a:extLst>
          </p:cNvPr>
          <p:cNvSpPr/>
          <p:nvPr/>
        </p:nvSpPr>
        <p:spPr>
          <a:xfrm>
            <a:off x="7489778" y="384501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0-shot</a:t>
            </a:r>
            <a:endParaRPr lang="en-US" sz="145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C961BE77-5FA4-6F7F-CBEF-7BD7FEF34CDA}"/>
              </a:ext>
            </a:extLst>
          </p:cNvPr>
          <p:cNvSpPr/>
          <p:nvPr/>
        </p:nvSpPr>
        <p:spPr>
          <a:xfrm>
            <a:off x="8513985" y="385284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1-shot</a:t>
            </a:r>
            <a:endParaRPr lang="en-US" sz="145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CAC4D436-B2A2-086D-AC62-41EFE578B2E7}"/>
              </a:ext>
            </a:extLst>
          </p:cNvPr>
          <p:cNvSpPr/>
          <p:nvPr/>
        </p:nvSpPr>
        <p:spPr>
          <a:xfrm>
            <a:off x="9416182" y="384643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3-shot</a:t>
            </a:r>
            <a:endParaRPr lang="en-US" sz="1450" dirty="0"/>
          </a:p>
        </p:txBody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28D7691B-C57C-2C63-0201-49A676FFD5A8}"/>
              </a:ext>
            </a:extLst>
          </p:cNvPr>
          <p:cNvSpPr/>
          <p:nvPr/>
        </p:nvSpPr>
        <p:spPr>
          <a:xfrm>
            <a:off x="10313137" y="3832089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3s-nd</a:t>
            </a:r>
            <a:endParaRPr lang="en-US" sz="1450" dirty="0"/>
          </a:p>
        </p:txBody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481C24D0-A303-2AAE-6766-3F55C0249085}"/>
              </a:ext>
            </a:extLst>
          </p:cNvPr>
          <p:cNvSpPr/>
          <p:nvPr/>
        </p:nvSpPr>
        <p:spPr>
          <a:xfrm>
            <a:off x="10313137" y="4199992"/>
            <a:ext cx="134897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описаний классов</a:t>
            </a:r>
            <a:endParaRPr lang="en-US" sz="145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3518C42A-DCB4-87AB-C4F2-0CDD0C6A03E0}"/>
              </a:ext>
            </a:extLst>
          </p:cNvPr>
          <p:cNvSpPr/>
          <p:nvPr/>
        </p:nvSpPr>
        <p:spPr>
          <a:xfrm>
            <a:off x="11662115" y="3794750"/>
            <a:ext cx="1201787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</a:t>
            </a:r>
            <a:r>
              <a:rPr lang="ru-RU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ru-RU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</a:t>
            </a:r>
            <a:r>
              <a:rPr lang="en-US" sz="14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ороткие</a:t>
            </a:r>
            <a:endParaRPr lang="ru-RU" sz="145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примеры + описания</a:t>
            </a:r>
            <a:endParaRPr lang="en-US" sz="145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23CC8A32-FD46-7957-571E-B7FED68B10F8}"/>
              </a:ext>
            </a:extLst>
          </p:cNvPr>
          <p:cNvSpPr/>
          <p:nvPr/>
        </p:nvSpPr>
        <p:spPr>
          <a:xfrm>
            <a:off x="12954000" y="3803689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5s-nd</a:t>
            </a:r>
            <a:endParaRPr lang="en-US" sz="1450" dirty="0"/>
          </a:p>
        </p:txBody>
      </p:sp>
      <p:sp>
        <p:nvSpPr>
          <p:cNvPr id="112" name="Text 12">
            <a:extLst>
              <a:ext uri="{FF2B5EF4-FFF2-40B4-BE49-F238E27FC236}">
                <a16:creationId xmlns:a16="http://schemas.microsoft.com/office/drawing/2014/main" id="{3B374049-3904-2C29-699C-4339E1A46BF6}"/>
              </a:ext>
            </a:extLst>
          </p:cNvPr>
          <p:cNvSpPr/>
          <p:nvPr/>
        </p:nvSpPr>
        <p:spPr>
          <a:xfrm>
            <a:off x="12922003" y="4026575"/>
            <a:ext cx="167640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 примеры, без описаний</a:t>
            </a:r>
            <a:endParaRPr lang="en-US" sz="1450" dirty="0"/>
          </a:p>
        </p:txBody>
      </p:sp>
      <p:sp>
        <p:nvSpPr>
          <p:cNvPr id="113" name="Shape 13">
            <a:extLst>
              <a:ext uri="{FF2B5EF4-FFF2-40B4-BE49-F238E27FC236}">
                <a16:creationId xmlns:a16="http://schemas.microsoft.com/office/drawing/2014/main" id="{1E23B5F9-7DFE-D45C-F8E7-E8B2F41086DC}"/>
              </a:ext>
            </a:extLst>
          </p:cNvPr>
          <p:cNvSpPr/>
          <p:nvPr/>
        </p:nvSpPr>
        <p:spPr>
          <a:xfrm>
            <a:off x="5909668" y="5139214"/>
            <a:ext cx="8178339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4949D41A-752D-C5A1-1192-A6582F728C0E}"/>
              </a:ext>
            </a:extLst>
          </p:cNvPr>
          <p:cNvSpPr/>
          <p:nvPr/>
        </p:nvSpPr>
        <p:spPr>
          <a:xfrm>
            <a:off x="6097906" y="5240060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saiga_8b</a:t>
            </a:r>
            <a:endParaRPr lang="en-US" sz="18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EE3205C7-23C6-3712-75A5-5ECE17FD8CD4}"/>
              </a:ext>
            </a:extLst>
          </p:cNvPr>
          <p:cNvSpPr/>
          <p:nvPr/>
        </p:nvSpPr>
        <p:spPr>
          <a:xfrm>
            <a:off x="7078436" y="524768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6B0C2AD1-30AD-BA0D-BED3-C4E70FE04BE8}"/>
              </a:ext>
            </a:extLst>
          </p:cNvPr>
          <p:cNvSpPr/>
          <p:nvPr/>
        </p:nvSpPr>
        <p:spPr>
          <a:xfrm>
            <a:off x="8058966" y="520607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262F526C-DC7A-6972-6AD6-8307E6805E93}"/>
              </a:ext>
            </a:extLst>
          </p:cNvPr>
          <p:cNvSpPr/>
          <p:nvPr/>
        </p:nvSpPr>
        <p:spPr>
          <a:xfrm>
            <a:off x="9181964" y="5206071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FC9135E7-B453-32FC-B2D5-D1D7506E261C}"/>
              </a:ext>
            </a:extLst>
          </p:cNvPr>
          <p:cNvSpPr/>
          <p:nvPr/>
        </p:nvSpPr>
        <p:spPr>
          <a:xfrm>
            <a:off x="10039248" y="5201811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71C5E29-5A45-B72C-AF99-57D6A60F25D4}"/>
              </a:ext>
            </a:extLst>
          </p:cNvPr>
          <p:cNvSpPr/>
          <p:nvPr/>
        </p:nvSpPr>
        <p:spPr>
          <a:xfrm>
            <a:off x="11258686" y="5201811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0" name="Text 20">
            <a:extLst>
              <a:ext uri="{FF2B5EF4-FFF2-40B4-BE49-F238E27FC236}">
                <a16:creationId xmlns:a16="http://schemas.microsoft.com/office/drawing/2014/main" id="{CDDE8F07-CC3C-6B16-0DD2-3B025E7279A6}"/>
              </a:ext>
            </a:extLst>
          </p:cNvPr>
          <p:cNvSpPr/>
          <p:nvPr/>
        </p:nvSpPr>
        <p:spPr>
          <a:xfrm>
            <a:off x="12500542" y="522827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FC095A41-07D1-5913-C7E4-70730CA26458}"/>
              </a:ext>
            </a:extLst>
          </p:cNvPr>
          <p:cNvSpPr/>
          <p:nvPr/>
        </p:nvSpPr>
        <p:spPr>
          <a:xfrm>
            <a:off x="5909668" y="5634395"/>
            <a:ext cx="8178339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CBA40A-371F-1F51-146F-324CA7A8047F}"/>
              </a:ext>
            </a:extLst>
          </p:cNvPr>
          <p:cNvSpPr/>
          <p:nvPr/>
        </p:nvSpPr>
        <p:spPr>
          <a:xfrm>
            <a:off x="6097906" y="5735241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t_lite_8b</a:t>
            </a:r>
            <a:endParaRPr lang="en-US" sz="1800" dirty="0"/>
          </a:p>
        </p:txBody>
      </p:sp>
      <p:sp>
        <p:nvSpPr>
          <p:cNvPr id="123" name="Text 23">
            <a:extLst>
              <a:ext uri="{FF2B5EF4-FFF2-40B4-BE49-F238E27FC236}">
                <a16:creationId xmlns:a16="http://schemas.microsoft.com/office/drawing/2014/main" id="{3058ECA0-ED7E-6300-261F-0B3FA76F4835}"/>
              </a:ext>
            </a:extLst>
          </p:cNvPr>
          <p:cNvSpPr/>
          <p:nvPr/>
        </p:nvSpPr>
        <p:spPr>
          <a:xfrm>
            <a:off x="7078436" y="574286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69C41B86-A039-17EA-BA7D-BEC7E70FF1D4}"/>
              </a:ext>
            </a:extLst>
          </p:cNvPr>
          <p:cNvSpPr/>
          <p:nvPr/>
        </p:nvSpPr>
        <p:spPr>
          <a:xfrm>
            <a:off x="8058966" y="570125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59A22A6D-7994-492C-99C4-DE3F93708ABA}"/>
              </a:ext>
            </a:extLst>
          </p:cNvPr>
          <p:cNvSpPr/>
          <p:nvPr/>
        </p:nvSpPr>
        <p:spPr>
          <a:xfrm>
            <a:off x="9181964" y="570125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230DB53A-4476-22D7-3E46-47A4DD2D2D72}"/>
              </a:ext>
            </a:extLst>
          </p:cNvPr>
          <p:cNvSpPr/>
          <p:nvPr/>
        </p:nvSpPr>
        <p:spPr>
          <a:xfrm>
            <a:off x="10039248" y="569699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7" name="Text 27">
            <a:extLst>
              <a:ext uri="{FF2B5EF4-FFF2-40B4-BE49-F238E27FC236}">
                <a16:creationId xmlns:a16="http://schemas.microsoft.com/office/drawing/2014/main" id="{5D79ACCE-1FC0-F890-47B4-6E5DD7A1D3FC}"/>
              </a:ext>
            </a:extLst>
          </p:cNvPr>
          <p:cNvSpPr/>
          <p:nvPr/>
        </p:nvSpPr>
        <p:spPr>
          <a:xfrm>
            <a:off x="11258686" y="5696992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02777E0A-C9B1-6499-00DC-60D10F88A521}"/>
              </a:ext>
            </a:extLst>
          </p:cNvPr>
          <p:cNvSpPr/>
          <p:nvPr/>
        </p:nvSpPr>
        <p:spPr>
          <a:xfrm>
            <a:off x="12500542" y="5723453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9" name="Shape 29">
            <a:extLst>
              <a:ext uri="{FF2B5EF4-FFF2-40B4-BE49-F238E27FC236}">
                <a16:creationId xmlns:a16="http://schemas.microsoft.com/office/drawing/2014/main" id="{FE4B6044-4032-A7DB-3D16-A2C38DA10A3F}"/>
              </a:ext>
            </a:extLst>
          </p:cNvPr>
          <p:cNvSpPr/>
          <p:nvPr/>
        </p:nvSpPr>
        <p:spPr>
          <a:xfrm>
            <a:off x="5909669" y="6129576"/>
            <a:ext cx="8185958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03340C1B-6B2C-0DDB-A844-5D9722E1165E}"/>
              </a:ext>
            </a:extLst>
          </p:cNvPr>
          <p:cNvSpPr/>
          <p:nvPr/>
        </p:nvSpPr>
        <p:spPr>
          <a:xfrm>
            <a:off x="6097906" y="6230422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vikhr_12b</a:t>
            </a:r>
            <a:endParaRPr lang="en-US" sz="1800" dirty="0"/>
          </a:p>
        </p:txBody>
      </p:sp>
      <p:sp>
        <p:nvSpPr>
          <p:cNvPr id="131" name="Text 31">
            <a:extLst>
              <a:ext uri="{FF2B5EF4-FFF2-40B4-BE49-F238E27FC236}">
                <a16:creationId xmlns:a16="http://schemas.microsoft.com/office/drawing/2014/main" id="{69E2F90F-2C04-8C70-DA29-BB840C52B7F7}"/>
              </a:ext>
            </a:extLst>
          </p:cNvPr>
          <p:cNvSpPr/>
          <p:nvPr/>
        </p:nvSpPr>
        <p:spPr>
          <a:xfrm>
            <a:off x="7078436" y="623804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8B14E819-F7AA-3037-55C6-930E60EF7D91}"/>
              </a:ext>
            </a:extLst>
          </p:cNvPr>
          <p:cNvSpPr/>
          <p:nvPr/>
        </p:nvSpPr>
        <p:spPr>
          <a:xfrm>
            <a:off x="8058966" y="619643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5F29BABC-1337-4A8D-6841-3669F55C4667}"/>
              </a:ext>
            </a:extLst>
          </p:cNvPr>
          <p:cNvSpPr/>
          <p:nvPr/>
        </p:nvSpPr>
        <p:spPr>
          <a:xfrm>
            <a:off x="9181964" y="6196433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720C86DA-48B8-D506-0A09-E14864104187}"/>
              </a:ext>
            </a:extLst>
          </p:cNvPr>
          <p:cNvSpPr/>
          <p:nvPr/>
        </p:nvSpPr>
        <p:spPr>
          <a:xfrm>
            <a:off x="10039248" y="6192173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5" name="Text 35">
            <a:extLst>
              <a:ext uri="{FF2B5EF4-FFF2-40B4-BE49-F238E27FC236}">
                <a16:creationId xmlns:a16="http://schemas.microsoft.com/office/drawing/2014/main" id="{D39E4D75-3A34-5F68-B85F-BEEDAEA836B8}"/>
              </a:ext>
            </a:extLst>
          </p:cNvPr>
          <p:cNvSpPr/>
          <p:nvPr/>
        </p:nvSpPr>
        <p:spPr>
          <a:xfrm>
            <a:off x="11258686" y="6192173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B37B0125-FCC7-B6AC-44CC-20652F0A5F50}"/>
              </a:ext>
            </a:extLst>
          </p:cNvPr>
          <p:cNvSpPr/>
          <p:nvPr/>
        </p:nvSpPr>
        <p:spPr>
          <a:xfrm>
            <a:off x="12500542" y="6218634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7" name="Shape 37">
            <a:extLst>
              <a:ext uri="{FF2B5EF4-FFF2-40B4-BE49-F238E27FC236}">
                <a16:creationId xmlns:a16="http://schemas.microsoft.com/office/drawing/2014/main" id="{A00B1153-DAEC-DEF8-022C-F1A82A572CA6}"/>
              </a:ext>
            </a:extLst>
          </p:cNvPr>
          <p:cNvSpPr/>
          <p:nvPr/>
        </p:nvSpPr>
        <p:spPr>
          <a:xfrm>
            <a:off x="5909668" y="6624757"/>
            <a:ext cx="8178339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B15A35BE-F225-FCD5-7B1A-7127772B53B8}"/>
              </a:ext>
            </a:extLst>
          </p:cNvPr>
          <p:cNvSpPr/>
          <p:nvPr/>
        </p:nvSpPr>
        <p:spPr>
          <a:xfrm>
            <a:off x="6097906" y="6725603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qwen_14b</a:t>
            </a:r>
            <a:endParaRPr lang="en-US" sz="1800" dirty="0"/>
          </a:p>
        </p:txBody>
      </p:sp>
      <p:sp>
        <p:nvSpPr>
          <p:cNvPr id="139" name="Text 39">
            <a:extLst>
              <a:ext uri="{FF2B5EF4-FFF2-40B4-BE49-F238E27FC236}">
                <a16:creationId xmlns:a16="http://schemas.microsoft.com/office/drawing/2014/main" id="{4B25A4CE-778B-ED1D-455F-93848F649149}"/>
              </a:ext>
            </a:extLst>
          </p:cNvPr>
          <p:cNvSpPr/>
          <p:nvPr/>
        </p:nvSpPr>
        <p:spPr>
          <a:xfrm>
            <a:off x="7078436" y="673322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6D1B4892-B77C-61AB-4E77-BBAF5607A136}"/>
              </a:ext>
            </a:extLst>
          </p:cNvPr>
          <p:cNvSpPr/>
          <p:nvPr/>
        </p:nvSpPr>
        <p:spPr>
          <a:xfrm>
            <a:off x="8058966" y="6691614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2ED2A6FA-2119-A729-392A-314983BD3FC7}"/>
              </a:ext>
            </a:extLst>
          </p:cNvPr>
          <p:cNvSpPr/>
          <p:nvPr/>
        </p:nvSpPr>
        <p:spPr>
          <a:xfrm>
            <a:off x="9181964" y="6691614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2" name="Text 42">
            <a:extLst>
              <a:ext uri="{FF2B5EF4-FFF2-40B4-BE49-F238E27FC236}">
                <a16:creationId xmlns:a16="http://schemas.microsoft.com/office/drawing/2014/main" id="{E4218944-E569-2B7C-3018-9C4F4BE32215}"/>
              </a:ext>
            </a:extLst>
          </p:cNvPr>
          <p:cNvSpPr/>
          <p:nvPr/>
        </p:nvSpPr>
        <p:spPr>
          <a:xfrm>
            <a:off x="10039248" y="6687354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37970F95-31D1-E12F-A3DB-40699E1534AE}"/>
              </a:ext>
            </a:extLst>
          </p:cNvPr>
          <p:cNvSpPr/>
          <p:nvPr/>
        </p:nvSpPr>
        <p:spPr>
          <a:xfrm>
            <a:off x="11258686" y="6687354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9284EF08-6E82-793A-F67A-C6DD97182003}"/>
              </a:ext>
            </a:extLst>
          </p:cNvPr>
          <p:cNvSpPr/>
          <p:nvPr/>
        </p:nvSpPr>
        <p:spPr>
          <a:xfrm>
            <a:off x="12500542" y="6713815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5" name="Shape 45">
            <a:extLst>
              <a:ext uri="{FF2B5EF4-FFF2-40B4-BE49-F238E27FC236}">
                <a16:creationId xmlns:a16="http://schemas.microsoft.com/office/drawing/2014/main" id="{FF357C45-3D0B-41C3-1769-DB0900184818}"/>
              </a:ext>
            </a:extLst>
          </p:cNvPr>
          <p:cNvSpPr/>
          <p:nvPr/>
        </p:nvSpPr>
        <p:spPr>
          <a:xfrm>
            <a:off x="5909668" y="7119938"/>
            <a:ext cx="8178339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6" name="Text 46">
            <a:extLst>
              <a:ext uri="{FF2B5EF4-FFF2-40B4-BE49-F238E27FC236}">
                <a16:creationId xmlns:a16="http://schemas.microsoft.com/office/drawing/2014/main" id="{0000D414-CDAA-EA9F-A0B9-7B7B961D3E46}"/>
              </a:ext>
            </a:extLst>
          </p:cNvPr>
          <p:cNvSpPr/>
          <p:nvPr/>
        </p:nvSpPr>
        <p:spPr>
          <a:xfrm>
            <a:off x="6097906" y="7220784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qwen_32b</a:t>
            </a:r>
            <a:endParaRPr lang="en-US" sz="1800" dirty="0"/>
          </a:p>
        </p:txBody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1689AD52-25F0-B9FA-701B-0AA3A0070AB2}"/>
              </a:ext>
            </a:extLst>
          </p:cNvPr>
          <p:cNvSpPr/>
          <p:nvPr/>
        </p:nvSpPr>
        <p:spPr>
          <a:xfrm>
            <a:off x="7078436" y="7228404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BA8A87F6-57F0-EEBB-24E1-94BA060CC2A4}"/>
              </a:ext>
            </a:extLst>
          </p:cNvPr>
          <p:cNvSpPr/>
          <p:nvPr/>
        </p:nvSpPr>
        <p:spPr>
          <a:xfrm>
            <a:off x="8058966" y="7186795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A5C55D16-BC46-4B27-2E89-19ED284D0BF7}"/>
              </a:ext>
            </a:extLst>
          </p:cNvPr>
          <p:cNvSpPr/>
          <p:nvPr/>
        </p:nvSpPr>
        <p:spPr>
          <a:xfrm>
            <a:off x="9181964" y="7186795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0" name="Text 50">
            <a:extLst>
              <a:ext uri="{FF2B5EF4-FFF2-40B4-BE49-F238E27FC236}">
                <a16:creationId xmlns:a16="http://schemas.microsoft.com/office/drawing/2014/main" id="{576EB646-6974-DE26-2F3E-4982FE888F45}"/>
              </a:ext>
            </a:extLst>
          </p:cNvPr>
          <p:cNvSpPr/>
          <p:nvPr/>
        </p:nvSpPr>
        <p:spPr>
          <a:xfrm>
            <a:off x="10039248" y="7182535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0F1F3764-50C6-633C-8BA3-272FF9584816}"/>
              </a:ext>
            </a:extLst>
          </p:cNvPr>
          <p:cNvSpPr/>
          <p:nvPr/>
        </p:nvSpPr>
        <p:spPr>
          <a:xfrm>
            <a:off x="11258686" y="7182535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A4FF74A-E626-6F81-3347-DFE7B2FB4B1A}"/>
              </a:ext>
            </a:extLst>
          </p:cNvPr>
          <p:cNvSpPr/>
          <p:nvPr/>
        </p:nvSpPr>
        <p:spPr>
          <a:xfrm>
            <a:off x="12500542" y="7208996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9F1881-FFC3-9C59-B78E-AFD05D544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305" y="4049931"/>
            <a:ext cx="665024" cy="665024"/>
          </a:xfrm>
          <a:prstGeom prst="rect">
            <a:avLst/>
          </a:prstGeom>
        </p:spPr>
      </p:pic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B30FF2CB-89D1-0647-40D5-58C257853FDC}"/>
              </a:ext>
            </a:extLst>
          </p:cNvPr>
          <p:cNvSpPr/>
          <p:nvPr/>
        </p:nvSpPr>
        <p:spPr>
          <a:xfrm>
            <a:off x="1189378" y="3898660"/>
            <a:ext cx="4509656" cy="1577828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98EB8B5-10E0-86D8-B82C-5EA27B0102B2}"/>
              </a:ext>
            </a:extLst>
          </p:cNvPr>
          <p:cNvSpPr/>
          <p:nvPr/>
        </p:nvSpPr>
        <p:spPr>
          <a:xfrm>
            <a:off x="1565679" y="4073454"/>
            <a:ext cx="3889034" cy="1292978"/>
          </a:xfrm>
          <a:prstGeom prst="rect">
            <a:avLst/>
          </a:prstGeom>
          <a:solidFill>
            <a:srgbClr val="CF4B5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</a:t>
            </a:r>
            <a:r>
              <a:rPr lang="ru-RU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выбранных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моделей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</a:t>
            </a:r>
            <a:r>
              <a:rPr lang="ru-RU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ов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few-shot.</a:t>
            </a: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150"/>
              </a:lnSpc>
            </a:pP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Saiga-8B —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только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режима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из-за</a:t>
            </a: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150"/>
              </a:lnSpc>
            </a:pP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ограниченного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контекстного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окна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150"/>
              </a:lnSpc>
            </a:pP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150"/>
              </a:lnSpc>
            </a:pPr>
            <a:endParaRPr lang="en-US" sz="1450" dirty="0">
              <a:solidFill>
                <a:schemeClr val="bg1"/>
              </a:solidFill>
            </a:endParaRPr>
          </a:p>
          <a:p>
            <a:pPr marL="0" indent="0" algn="l">
              <a:lnSpc>
                <a:spcPts val="2150"/>
              </a:lnSpc>
              <a:buNone/>
            </a:pP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C5665599-6C0B-ED3B-5F43-7AAF0513ABB4}"/>
              </a:ext>
            </a:extLst>
          </p:cNvPr>
          <p:cNvSpPr/>
          <p:nvPr/>
        </p:nvSpPr>
        <p:spPr>
          <a:xfrm>
            <a:off x="14272998" y="8731247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9</a:t>
            </a:r>
            <a:endParaRPr lang="en-US" sz="185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1EF4F5DF-A01B-3EE4-A8E8-919EAA79378F}"/>
              </a:ext>
            </a:extLst>
          </p:cNvPr>
          <p:cNvSpPr/>
          <p:nvPr/>
        </p:nvSpPr>
        <p:spPr>
          <a:xfrm>
            <a:off x="860378" y="1153233"/>
            <a:ext cx="2377440" cy="1825915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1. 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Подготовка д</a:t>
            </a:r>
            <a:r>
              <a:rPr sz="1250" b="1" dirty="0" err="1">
                <a:solidFill>
                  <a:srgbClr val="3257B8"/>
                </a:solidFill>
                <a:latin typeface="Roboto Slab"/>
              </a:rPr>
              <a:t>анны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х</a:t>
            </a:r>
            <a:endParaRPr sz="1250" b="1" dirty="0">
              <a:solidFill>
                <a:srgbClr val="3257B8"/>
              </a:solidFill>
              <a:latin typeface="Roboto Slab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a) 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Загрузка </a:t>
            </a: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load_dataset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z="1050" b="1" i="1" dirty="0">
              <a:solidFill>
                <a:srgbClr val="15213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b)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Деление  на </a:t>
            </a:r>
            <a:r>
              <a:rPr sz="1050" b="0" dirty="0" err="1">
                <a:solidFill>
                  <a:srgbClr val="15213F"/>
                </a:solidFill>
                <a:latin typeface="Roboto"/>
              </a:rPr>
              <a:t>группы</a:t>
            </a:r>
            <a:r>
              <a:rPr sz="1050" b="0" dirty="0">
                <a:solidFill>
                  <a:srgbClr val="15213F"/>
                </a:solidFill>
                <a:latin typeface="Roboto"/>
              </a:rPr>
              <a:t> A/B/C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classify_groups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050" b="1" i="1" dirty="0">
              <a:solidFill>
                <a:srgbClr val="15213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c)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Создание/загрузка описаний классов </a:t>
            </a:r>
            <a:r>
              <a:rPr lang="ru-RU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load_class_descriptions</a:t>
            </a:r>
            <a:r>
              <a:rPr lang="ru-RU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Right Arrow 4">
            <a:extLst>
              <a:ext uri="{FF2B5EF4-FFF2-40B4-BE49-F238E27FC236}">
                <a16:creationId xmlns:a16="http://schemas.microsoft.com/office/drawing/2014/main" id="{BC755F90-0EE9-0B22-503D-3876C416EDA5}"/>
              </a:ext>
            </a:extLst>
          </p:cNvPr>
          <p:cNvSpPr/>
          <p:nvPr/>
        </p:nvSpPr>
        <p:spPr>
          <a:xfrm>
            <a:off x="3286596" y="1933900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80D7F0C6-A4CD-55D7-E406-3E9D42E22369}"/>
              </a:ext>
            </a:extLst>
          </p:cNvPr>
          <p:cNvSpPr/>
          <p:nvPr/>
        </p:nvSpPr>
        <p:spPr>
          <a:xfrm>
            <a:off x="3617294" y="1168277"/>
            <a:ext cx="2377440" cy="1810871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2. 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Отбор примеров</a:t>
            </a:r>
            <a:endParaRPr sz="1250" b="1" dirty="0">
              <a:solidFill>
                <a:srgbClr val="3257B8"/>
              </a:solidFill>
              <a:latin typeface="Roboto Slab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u-RU" sz="1050" b="0" dirty="0">
                <a:solidFill>
                  <a:srgbClr val="15213F"/>
                </a:solidFill>
                <a:latin typeface="Roboto"/>
              </a:rPr>
              <a:t>Приоритет оригинальным письмам, на редких классах добор за счет </a:t>
            </a:r>
            <a:r>
              <a:rPr lang="ru-RU" sz="1050" b="0" dirty="0" err="1">
                <a:solidFill>
                  <a:srgbClr val="15213F"/>
                </a:solidFill>
                <a:latin typeface="Roboto"/>
              </a:rPr>
              <a:t>аугментированных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 данных.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select_examples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sz="1050" b="1" i="1" dirty="0">
              <a:solidFill>
                <a:srgbClr val="15213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ight Arrow 6">
            <a:extLst>
              <a:ext uri="{FF2B5EF4-FFF2-40B4-BE49-F238E27FC236}">
                <a16:creationId xmlns:a16="http://schemas.microsoft.com/office/drawing/2014/main" id="{68208926-DDA4-0572-FF98-883D6C25330B}"/>
              </a:ext>
            </a:extLst>
          </p:cNvPr>
          <p:cNvSpPr/>
          <p:nvPr/>
        </p:nvSpPr>
        <p:spPr>
          <a:xfrm>
            <a:off x="6006936" y="1933900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3AFFC112-9781-406E-AADA-B14D16727ECA}"/>
              </a:ext>
            </a:extLst>
          </p:cNvPr>
          <p:cNvSpPr/>
          <p:nvPr/>
        </p:nvSpPr>
        <p:spPr>
          <a:xfrm>
            <a:off x="6301058" y="1153233"/>
            <a:ext cx="2377440" cy="1829299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3. 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Сборка промптов</a:t>
            </a:r>
            <a:endParaRPr sz="1250" b="1" dirty="0">
              <a:solidFill>
                <a:srgbClr val="3257B8"/>
              </a:solidFill>
              <a:latin typeface="Roboto Slab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a)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Задача</a:t>
            </a:r>
            <a:endParaRPr lang="en-US" sz="1050" i="1" dirty="0">
              <a:solidFill>
                <a:srgbClr val="15213F"/>
              </a:solidFill>
              <a:latin typeface="Roboto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b)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Нумерованный список классов</a:t>
            </a:r>
            <a:endParaRPr lang="en-US" sz="1050" i="1" dirty="0">
              <a:solidFill>
                <a:srgbClr val="15213F"/>
              </a:solidFill>
              <a:latin typeface="Roboto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c)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Описания классов</a:t>
            </a:r>
            <a:endParaRPr lang="en-US" sz="1050" i="1" dirty="0">
              <a:solidFill>
                <a:srgbClr val="15213F"/>
              </a:solidFill>
              <a:latin typeface="Roboto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d)  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Блок </a:t>
            </a:r>
            <a:r>
              <a:rPr lang="en-US" sz="1050" dirty="0">
                <a:solidFill>
                  <a:srgbClr val="15213F"/>
                </a:solidFill>
                <a:latin typeface="Roboto"/>
              </a:rPr>
              <a:t>few-shot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 примеров</a:t>
            </a:r>
          </a:p>
          <a:p>
            <a:pPr marL="228600" indent="-228600">
              <a:spcAft>
                <a:spcPts val="200"/>
              </a:spcAft>
              <a:buAutoNum type="alphaLcParenR" startAt="5"/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Экземпляр для классификации </a:t>
            </a: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build_prompt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Right Arrow 8">
            <a:extLst>
              <a:ext uri="{FF2B5EF4-FFF2-40B4-BE49-F238E27FC236}">
                <a16:creationId xmlns:a16="http://schemas.microsoft.com/office/drawing/2014/main" id="{F75DDB9C-1246-91DE-BE5D-15C7BD89376A}"/>
              </a:ext>
            </a:extLst>
          </p:cNvPr>
          <p:cNvSpPr/>
          <p:nvPr/>
        </p:nvSpPr>
        <p:spPr>
          <a:xfrm>
            <a:off x="8727276" y="1933900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23E26A35-5704-BB94-5D5C-89B9088AED7D}"/>
              </a:ext>
            </a:extLst>
          </p:cNvPr>
          <p:cNvSpPr/>
          <p:nvPr/>
        </p:nvSpPr>
        <p:spPr>
          <a:xfrm>
            <a:off x="9021398" y="1153233"/>
            <a:ext cx="2377440" cy="1829299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4. 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Предсказание </a:t>
            </a:r>
            <a:r>
              <a:rPr lang="en-US" sz="1250" b="1" dirty="0">
                <a:solidFill>
                  <a:srgbClr val="3257B8"/>
                </a:solidFill>
                <a:latin typeface="Roboto Slab"/>
              </a:rPr>
              <a:t>LLM</a:t>
            </a:r>
            <a:endParaRPr sz="1250" b="1" dirty="0">
              <a:solidFill>
                <a:srgbClr val="3257B8"/>
              </a:solidFill>
              <a:latin typeface="Roboto Slab"/>
            </a:endParaRP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a)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Загрузка модели </a:t>
            </a: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load_model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50" b="0" dirty="0">
                <a:solidFill>
                  <a:srgbClr val="15213F"/>
                </a:solidFill>
                <a:latin typeface="Roboto"/>
              </a:rPr>
              <a:t>b)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Проверка контекстного окна</a:t>
            </a:r>
            <a:r>
              <a:rPr lang="en-US" sz="1050" dirty="0">
                <a:solidFill>
                  <a:srgbClr val="15213F"/>
                </a:solidFill>
                <a:latin typeface="Roboto"/>
              </a:rPr>
              <a:t>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для каждого эксперимента</a:t>
            </a:r>
            <a:endParaRPr lang="en-US" sz="1050" b="0" dirty="0">
              <a:solidFill>
                <a:srgbClr val="15213F"/>
              </a:solidFill>
              <a:latin typeface="Roboto"/>
            </a:endParaRPr>
          </a:p>
          <a:p>
            <a:pPr>
              <a:spcAft>
                <a:spcPts val="200"/>
              </a:spcAft>
            </a:pPr>
            <a:r>
              <a:rPr lang="en-US" sz="1050" b="0" dirty="0">
                <a:solidFill>
                  <a:srgbClr val="15213F"/>
                </a:solidFill>
                <a:latin typeface="Roboto"/>
              </a:rPr>
              <a:t>c)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 Генерация ответа </a:t>
            </a: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generate_response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0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16" name="Right Arrow 10">
            <a:extLst>
              <a:ext uri="{FF2B5EF4-FFF2-40B4-BE49-F238E27FC236}">
                <a16:creationId xmlns:a16="http://schemas.microsoft.com/office/drawing/2014/main" id="{5EC8FB90-E80B-D4D1-4083-B2CFA716EBD4}"/>
              </a:ext>
            </a:extLst>
          </p:cNvPr>
          <p:cNvSpPr/>
          <p:nvPr/>
        </p:nvSpPr>
        <p:spPr>
          <a:xfrm>
            <a:off x="11447616" y="1933900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8FBE62DA-0782-50CD-960E-0B35C8AEE494}"/>
              </a:ext>
            </a:extLst>
          </p:cNvPr>
          <p:cNvSpPr/>
          <p:nvPr/>
        </p:nvSpPr>
        <p:spPr>
          <a:xfrm>
            <a:off x="11741738" y="1149848"/>
            <a:ext cx="2377440" cy="1829300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5. 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Извлечение ответа + оценка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50" dirty="0">
                <a:solidFill>
                  <a:srgbClr val="15213F"/>
                </a:solidFill>
                <a:latin typeface="Roboto"/>
              </a:rPr>
              <a:t>a)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Извлечение, о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чистка, нормализация ответа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50" b="0" dirty="0">
                <a:solidFill>
                  <a:srgbClr val="15213F"/>
                </a:solidFill>
                <a:latin typeface="Roboto"/>
              </a:rPr>
              <a:t>b) 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Сопоставление ответа по убыванию точности</a:t>
            </a:r>
          </a:p>
          <a:p>
            <a:pPr>
              <a:spcAft>
                <a:spcPts val="200"/>
              </a:spcAft>
            </a:pPr>
            <a:r>
              <a:rPr lang="en-US" sz="1050" b="1" i="1" dirty="0" err="1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extract_prediction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ru-RU" sz="1050" b="0" dirty="0">
              <a:solidFill>
                <a:srgbClr val="15213F"/>
              </a:solidFill>
              <a:latin typeface="Roboto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с) Оценка на 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macro f1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и </a:t>
            </a:r>
            <a:r>
              <a:rPr lang="en-US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balanced accuracy</a:t>
            </a:r>
            <a:r>
              <a:rPr lang="ru-RU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" sz="1050" b="1" i="1" dirty="0">
              <a:solidFill>
                <a:srgbClr val="15213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Google Shape;35;p4">
            <a:extLst>
              <a:ext uri="{FF2B5EF4-FFF2-40B4-BE49-F238E27FC236}">
                <a16:creationId xmlns:a16="http://schemas.microsoft.com/office/drawing/2014/main" id="{0A06FB1F-35D8-C5C1-A736-9C2363F29D8B}"/>
              </a:ext>
            </a:extLst>
          </p:cNvPr>
          <p:cNvSpPr/>
          <p:nvPr/>
        </p:nvSpPr>
        <p:spPr>
          <a:xfrm>
            <a:off x="941668" y="780558"/>
            <a:ext cx="3774300" cy="24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3529"/>
              </a:lnSpc>
              <a:buClr>
                <a:srgbClr val="15213F"/>
              </a:buClr>
              <a:buSzPts val="850"/>
            </a:pPr>
            <a:r>
              <a:rPr lang="ru-RU" dirty="0">
                <a:solidFill>
                  <a:srgbClr val="3257B8"/>
                </a:solidFill>
                <a:latin typeface="Roboto Slab"/>
                <a:sym typeface="Roboto"/>
              </a:rPr>
              <a:t>Конвейер </a:t>
            </a:r>
            <a:r>
              <a:rPr lang="en-US" dirty="0">
                <a:solidFill>
                  <a:srgbClr val="3257B8"/>
                </a:solidFill>
                <a:latin typeface="Roboto Slab"/>
                <a:sym typeface="Roboto"/>
              </a:rPr>
              <a:t>Few-shot</a:t>
            </a:r>
            <a:endParaRPr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19" name="Google Shape;35;p4">
            <a:extLst>
              <a:ext uri="{FF2B5EF4-FFF2-40B4-BE49-F238E27FC236}">
                <a16:creationId xmlns:a16="http://schemas.microsoft.com/office/drawing/2014/main" id="{521685BC-3E99-977D-E46F-250A3C7710F5}"/>
              </a:ext>
            </a:extLst>
          </p:cNvPr>
          <p:cNvSpPr/>
          <p:nvPr/>
        </p:nvSpPr>
        <p:spPr>
          <a:xfrm>
            <a:off x="5947546" y="3339454"/>
            <a:ext cx="3049478" cy="261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ru-RU" dirty="0">
                <a:solidFill>
                  <a:srgbClr val="3257B8"/>
                </a:solidFill>
                <a:latin typeface="Roboto Slab"/>
                <a:sym typeface="Roboto"/>
              </a:rPr>
              <a:t>Матрица экспериментов</a:t>
            </a:r>
            <a:endParaRPr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0C6C444-CE9B-34A3-436B-31195E7753F1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9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: скругленные углы 3">
            <a:extLst>
              <a:ext uri="{FF2B5EF4-FFF2-40B4-BE49-F238E27FC236}">
                <a16:creationId xmlns:a16="http://schemas.microsoft.com/office/drawing/2014/main" id="{C5F51658-C67A-04B8-BF66-84100B8AC2B3}"/>
              </a:ext>
            </a:extLst>
          </p:cNvPr>
          <p:cNvSpPr/>
          <p:nvPr/>
        </p:nvSpPr>
        <p:spPr>
          <a:xfrm>
            <a:off x="848477" y="1103230"/>
            <a:ext cx="13489967" cy="259794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97FF695-D0EF-80DC-B9DC-708D25D3B9B8}"/>
              </a:ext>
            </a:extLst>
          </p:cNvPr>
          <p:cNvSpPr/>
          <p:nvPr/>
        </p:nvSpPr>
        <p:spPr>
          <a:xfrm>
            <a:off x="722315" y="401811"/>
            <a:ext cx="1305960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39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</a:t>
            </a: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Few-shot</a:t>
            </a:r>
            <a:r>
              <a:rPr lang="ru-RU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классификации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4065D-F453-4D39-0EDB-4699800C2673}"/>
              </a:ext>
            </a:extLst>
          </p:cNvPr>
          <p:cNvSpPr/>
          <p:nvPr/>
        </p:nvSpPr>
        <p:spPr>
          <a:xfrm>
            <a:off x="879306" y="1061490"/>
            <a:ext cx="13890658" cy="38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Лучший результат </a:t>
            </a:r>
            <a:r>
              <a:rPr lang="en-US" sz="15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среди</a:t>
            </a:r>
            <a:r>
              <a:rPr lang="en-US" sz="15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few-shot — </a:t>
            </a:r>
            <a:r>
              <a:rPr lang="en-US" sz="15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32B, K=3: Balanced Accuracy 0.38, Macro F1 0.26</a:t>
            </a:r>
            <a:r>
              <a:rPr lang="en-US" sz="15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r>
              <a:rPr lang="ru-RU" sz="15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Методы из </a:t>
            </a:r>
            <a:r>
              <a:rPr lang="en-US" sz="15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</a:t>
            </a:r>
            <a:r>
              <a:rPr lang="ru-RU" sz="15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дают лучшие результаты.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9B0F9D6-2DF0-84D7-8248-27271AF5DE1D}"/>
              </a:ext>
            </a:extLst>
          </p:cNvPr>
          <p:cNvSpPr/>
          <p:nvPr/>
        </p:nvSpPr>
        <p:spPr>
          <a:xfrm>
            <a:off x="369871" y="6515596"/>
            <a:ext cx="304835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Ключевые наблюдения</a:t>
            </a:r>
            <a:endParaRPr lang="en-US" sz="19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CFEF676-3893-9EA0-3BCA-C70C59A45772}"/>
              </a:ext>
            </a:extLst>
          </p:cNvPr>
          <p:cNvSpPr/>
          <p:nvPr/>
        </p:nvSpPr>
        <p:spPr>
          <a:xfrm>
            <a:off x="369871" y="6880885"/>
            <a:ext cx="11238971" cy="315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Vikhr и T-lite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резко деградируют при K≥3 — модели игнорируют метку и генерируют объяснения</a:t>
            </a:r>
            <a:endParaRPr lang="en-US" sz="15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CCB1714-A98B-ABD2-059E-BAA8A436FEB3}"/>
              </a:ext>
            </a:extLst>
          </p:cNvPr>
          <p:cNvSpPr/>
          <p:nvPr/>
        </p:nvSpPr>
        <p:spPr>
          <a:xfrm>
            <a:off x="369871" y="7259922"/>
            <a:ext cx="7341027" cy="343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Описания классов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помогают Qwen, но </a:t>
            </a:r>
            <a:r>
              <a:rPr lang="en-US" sz="15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вредят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Vikhr</a:t>
            </a:r>
            <a:endParaRPr lang="en-US" sz="15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4CA0ED5-2198-75FC-3D22-4681739A9834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10</a:t>
            </a:r>
            <a:endParaRPr lang="en-US" sz="18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471F40D-5211-6445-F5C3-1E3A049D1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9" y="2030558"/>
            <a:ext cx="7142327" cy="4253295"/>
          </a:xfrm>
          <a:prstGeom prst="rect">
            <a:avLst/>
          </a:prstGeom>
        </p:spPr>
      </p:pic>
      <p:sp>
        <p:nvSpPr>
          <p:cNvPr id="24" name="Google Shape;35;p4">
            <a:extLst>
              <a:ext uri="{FF2B5EF4-FFF2-40B4-BE49-F238E27FC236}">
                <a16:creationId xmlns:a16="http://schemas.microsoft.com/office/drawing/2014/main" id="{87A254C6-2337-0A75-61BE-15CAD392B3A1}"/>
              </a:ext>
            </a:extLst>
          </p:cNvPr>
          <p:cNvSpPr/>
          <p:nvPr/>
        </p:nvSpPr>
        <p:spPr>
          <a:xfrm>
            <a:off x="754046" y="1672422"/>
            <a:ext cx="3774300" cy="33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</a:t>
            </a:r>
            <a:r>
              <a:rPr lang="en-US" sz="14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1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F1</a:t>
            </a:r>
            <a:endParaRPr sz="1600" b="1" dirty="0">
              <a:solidFill>
                <a:srgbClr val="15213F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A840FB5-4384-6AFC-6C9D-4620197F2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19" y="2006809"/>
            <a:ext cx="7182207" cy="4277044"/>
          </a:xfrm>
          <a:prstGeom prst="rect">
            <a:avLst/>
          </a:prstGeom>
        </p:spPr>
      </p:pic>
      <p:sp>
        <p:nvSpPr>
          <p:cNvPr id="32" name="Google Shape;23;p4">
            <a:extLst>
              <a:ext uri="{FF2B5EF4-FFF2-40B4-BE49-F238E27FC236}">
                <a16:creationId xmlns:a16="http://schemas.microsoft.com/office/drawing/2014/main" id="{2E197A7A-73EE-835B-2D2F-2B0C3E75F715}"/>
              </a:ext>
            </a:extLst>
          </p:cNvPr>
          <p:cNvSpPr/>
          <p:nvPr/>
        </p:nvSpPr>
        <p:spPr>
          <a:xfrm>
            <a:off x="7824635" y="1675636"/>
            <a:ext cx="3774300" cy="37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endParaRPr b="0" i="0" u="none" strike="noStrike" cap="none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EE9BA02-63A3-63F5-89F0-109D78D8F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77590" y="741774"/>
            <a:ext cx="686301" cy="68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8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28600"/>
            <a:ext cx="13258800" cy="569387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dirty="0" err="1">
                <a:solidFill>
                  <a:srgbClr val="3257B8"/>
                </a:solidFill>
                <a:latin typeface="Roboto Slab"/>
              </a:rPr>
              <a:t>Дообучение</a:t>
            </a:r>
            <a:r>
              <a:rPr sz="3200" b="0" dirty="0">
                <a:solidFill>
                  <a:srgbClr val="3257B8"/>
                </a:solidFill>
                <a:latin typeface="Roboto Slab"/>
              </a:rPr>
              <a:t> LLM (PEFT): </a:t>
            </a:r>
            <a:r>
              <a:rPr sz="3200" b="0" dirty="0" err="1">
                <a:solidFill>
                  <a:srgbClr val="3257B8"/>
                </a:solidFill>
                <a:latin typeface="Roboto Slab"/>
              </a:rPr>
              <a:t>реализация</a:t>
            </a:r>
            <a:endParaRPr sz="3200" b="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268337"/>
            <a:ext cx="2377440" cy="1653057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>
              <a:spcAft>
                <a:spcPts val="200"/>
              </a:spcAft>
            </a:pPr>
            <a:r>
              <a:rPr lang="ru-RU" sz="1250" b="1" dirty="0">
                <a:solidFill>
                  <a:srgbClr val="3257B8"/>
                </a:solidFill>
                <a:latin typeface="Roboto Slab"/>
              </a:rPr>
              <a:t>1. Подготовка данных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Загрузка данных</a:t>
            </a:r>
            <a:endParaRPr lang="en" sz="1050" b="1" i="1" dirty="0">
              <a:solidFill>
                <a:srgbClr val="15213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Деление  на группы </a:t>
            </a:r>
            <a:r>
              <a:rPr lang="en" sz="1050" dirty="0">
                <a:solidFill>
                  <a:srgbClr val="15213F"/>
                </a:solidFill>
                <a:latin typeface="Roboto"/>
              </a:rPr>
              <a:t>A/B/C </a:t>
            </a:r>
            <a:endParaRPr lang="ru-RU" sz="1050" dirty="0">
              <a:solidFill>
                <a:srgbClr val="15213F"/>
              </a:solidFill>
              <a:latin typeface="Roboto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dirty="0" err="1">
                <a:solidFill>
                  <a:srgbClr val="15213F"/>
                </a:solidFill>
                <a:latin typeface="Roboto"/>
              </a:rPr>
              <a:t>Рассчет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 весов для каждого класса </a:t>
            </a:r>
            <a:r>
              <a:rPr lang="ru-RU" sz="1050" b="1" i="1" dirty="0">
                <a:solidFill>
                  <a:srgbClr val="15213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Выделение </a:t>
            </a:r>
            <a:r>
              <a:rPr lang="ru-RU" sz="1050" dirty="0" err="1">
                <a:solidFill>
                  <a:srgbClr val="15213F"/>
                </a:solidFill>
                <a:latin typeface="Roboto"/>
              </a:rPr>
              <a:t>валидационной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 выборки 10 </a:t>
            </a:r>
            <a:r>
              <a:rPr lang="en-US" sz="1050" dirty="0">
                <a:solidFill>
                  <a:srgbClr val="15213F"/>
                </a:solidFill>
                <a:latin typeface="Roboto"/>
              </a:rPr>
              <a:t>%</a:t>
            </a:r>
            <a:endParaRPr lang="en" sz="105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191256" y="1892808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97580" y="1268337"/>
            <a:ext cx="2377440" cy="1653057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2. </a:t>
            </a:r>
            <a:r>
              <a:rPr lang="ru-RU" sz="1250" b="1" dirty="0">
                <a:solidFill>
                  <a:srgbClr val="3257B8"/>
                </a:solidFill>
                <a:latin typeface="Roboto Slab"/>
              </a:rPr>
              <a:t>Загрузка модели</a:t>
            </a:r>
            <a:endParaRPr sz="1250" b="1" dirty="0">
              <a:solidFill>
                <a:srgbClr val="3257B8"/>
              </a:solidFill>
              <a:latin typeface="Roboto Slab"/>
            </a:endParaRPr>
          </a:p>
          <a:p>
            <a:pPr marL="171450" indent="-1714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Загрузка модели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Токенизация и </a:t>
            </a:r>
            <a:r>
              <a:rPr lang="ru-RU" sz="1050" dirty="0" err="1">
                <a:solidFill>
                  <a:srgbClr val="15213F"/>
                </a:solidFill>
                <a:latin typeface="Roboto"/>
              </a:rPr>
              <a:t>пэддинг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 слева по самому длинному экземпляру в </a:t>
            </a:r>
            <a:r>
              <a:rPr lang="ru-RU" sz="1050" dirty="0" err="1">
                <a:solidFill>
                  <a:srgbClr val="15213F"/>
                </a:solidFill>
                <a:latin typeface="Roboto"/>
              </a:rPr>
              <a:t>батче</a:t>
            </a:r>
            <a:endParaRPr lang="ru-RU" sz="1050" dirty="0">
              <a:solidFill>
                <a:srgbClr val="15213F"/>
              </a:solidFill>
              <a:latin typeface="Roboto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50" b="0" dirty="0">
                <a:solidFill>
                  <a:srgbClr val="15213F"/>
                </a:solidFill>
                <a:latin typeface="Roboto"/>
              </a:rPr>
              <a:t>Квантизация </a:t>
            </a:r>
            <a:r>
              <a:rPr sz="1050" b="0" dirty="0">
                <a:solidFill>
                  <a:srgbClr val="15213F"/>
                </a:solidFill>
                <a:latin typeface="Roboto"/>
              </a:rPr>
              <a:t>4-bit NF4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en-US" sz="1050" b="0" dirty="0" err="1">
                <a:solidFill>
                  <a:srgbClr val="15213F"/>
                </a:solidFill>
                <a:latin typeface="Roboto"/>
              </a:rPr>
              <a:t>Q</a:t>
            </a:r>
            <a:r>
              <a:rPr lang="en-US" sz="1050" dirty="0" err="1">
                <a:solidFill>
                  <a:srgbClr val="15213F"/>
                </a:solidFill>
                <a:latin typeface="Roboto"/>
              </a:rPr>
              <a:t>L</a:t>
            </a:r>
            <a:r>
              <a:rPr lang="en-US" sz="1050" b="0" dirty="0" err="1">
                <a:solidFill>
                  <a:srgbClr val="15213F"/>
                </a:solidFill>
                <a:latin typeface="Roboto"/>
              </a:rPr>
              <a:t>o</a:t>
            </a:r>
            <a:r>
              <a:rPr lang="en-US" sz="1050" dirty="0" err="1">
                <a:solidFill>
                  <a:srgbClr val="15213F"/>
                </a:solidFill>
                <a:latin typeface="Roboto"/>
              </a:rPr>
              <a:t>R</a:t>
            </a:r>
            <a:r>
              <a:rPr lang="en-US" sz="1050" b="0" dirty="0" err="1">
                <a:solidFill>
                  <a:srgbClr val="15213F"/>
                </a:solidFill>
                <a:latin typeface="Roboto"/>
              </a:rPr>
              <a:t>a</a:t>
            </a:r>
            <a:r>
              <a:rPr lang="en-US" sz="1050" b="0" dirty="0">
                <a:solidFill>
                  <a:srgbClr val="15213F"/>
                </a:solidFill>
                <a:latin typeface="Roboto"/>
              </a:rPr>
              <a:t>, </a:t>
            </a:r>
            <a:r>
              <a:rPr lang="en-US" sz="1050" b="0" dirty="0" err="1">
                <a:solidFill>
                  <a:srgbClr val="15213F"/>
                </a:solidFill>
                <a:latin typeface="Roboto"/>
              </a:rPr>
              <a:t>AdaLoRa</a:t>
            </a:r>
            <a:r>
              <a:rPr lang="ru-RU" sz="1050" b="0" dirty="0">
                <a:solidFill>
                  <a:srgbClr val="15213F"/>
                </a:solidFill>
                <a:latin typeface="Roboto"/>
              </a:rPr>
              <a:t> для больших моделей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1596" y="1892808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289085"/>
            <a:ext cx="2377440" cy="1632309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3. PEFT-</a:t>
            </a:r>
            <a:r>
              <a:rPr sz="1250" b="1" dirty="0" err="1">
                <a:solidFill>
                  <a:srgbClr val="3257B8"/>
                </a:solidFill>
                <a:latin typeface="Roboto Slab"/>
              </a:rPr>
              <a:t>адаптер</a:t>
            </a:r>
            <a:br>
              <a:rPr lang="en-US" sz="1250" b="1" dirty="0">
                <a:solidFill>
                  <a:srgbClr val="3257B8"/>
                </a:solidFill>
                <a:latin typeface="Roboto Slab"/>
              </a:rPr>
            </a:br>
            <a:r>
              <a:rPr lang="en-US" sz="1250" b="1" dirty="0">
                <a:solidFill>
                  <a:srgbClr val="3257B8"/>
                </a:solidFill>
                <a:latin typeface="Roboto Slab"/>
              </a:rPr>
              <a:t> 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К зафиксированной модели подключается </a:t>
            </a:r>
            <a:r>
              <a:rPr lang="ru-RU" sz="1050" dirty="0" err="1">
                <a:solidFill>
                  <a:srgbClr val="15213F"/>
                </a:solidFill>
                <a:latin typeface="Roboto"/>
              </a:rPr>
              <a:t>низкоранговый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 адаптер + классификационная голова </a:t>
            </a:r>
            <a:r>
              <a:rPr lang="en-US" sz="1050" b="1" i="1" dirty="0">
                <a:solidFill>
                  <a:srgbClr val="15213F"/>
                </a:solidFill>
                <a:latin typeface="Roboto"/>
              </a:rPr>
              <a:t>score()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, все параметры  модели берутся из </a:t>
            </a:r>
            <a:r>
              <a:rPr lang="en-US" sz="1050" dirty="0">
                <a:solidFill>
                  <a:srgbClr val="15213F"/>
                </a:solidFill>
                <a:latin typeface="Roboto"/>
              </a:rPr>
              <a:t>JSON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 конфигурации</a:t>
            </a:r>
            <a:endParaRPr lang="en-US" sz="1050" dirty="0">
              <a:solidFill>
                <a:srgbClr val="15213F"/>
              </a:solidFill>
              <a:latin typeface="Roboto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dirty="0" err="1">
                <a:solidFill>
                  <a:srgbClr val="15213F"/>
                </a:solidFill>
                <a:latin typeface="Roboto"/>
              </a:rPr>
              <a:t>обучается</a:t>
            </a:r>
            <a:r>
              <a:rPr sz="1050" b="0" dirty="0">
                <a:solidFill>
                  <a:srgbClr val="15213F"/>
                </a:solidFill>
                <a:latin typeface="Roboto"/>
              </a:rPr>
              <a:t> 0.01–0.8 % </a:t>
            </a:r>
            <a:r>
              <a:rPr sz="1050" b="0" dirty="0" err="1">
                <a:solidFill>
                  <a:srgbClr val="15213F"/>
                </a:solidFill>
                <a:latin typeface="Roboto"/>
              </a:rPr>
              <a:t>весов</a:t>
            </a:r>
            <a:endParaRPr sz="10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8631936" y="1892808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38260" y="1289085"/>
            <a:ext cx="2377440" cy="1632310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4. </a:t>
            </a:r>
            <a:r>
              <a:rPr sz="1250" b="1" dirty="0" err="1">
                <a:solidFill>
                  <a:srgbClr val="3257B8"/>
                </a:solidFill>
                <a:latin typeface="Roboto Slab"/>
              </a:rPr>
              <a:t>Обучение</a:t>
            </a:r>
            <a:endParaRPr sz="1250" b="1" dirty="0">
              <a:solidFill>
                <a:srgbClr val="3257B8"/>
              </a:solidFill>
              <a:latin typeface="Roboto Slab"/>
            </a:endParaRPr>
          </a:p>
          <a:p>
            <a:pPr>
              <a:spcAft>
                <a:spcPts val="200"/>
              </a:spcAft>
            </a:pPr>
            <a:r>
              <a:rPr lang="ru-RU" sz="1050" b="0" dirty="0">
                <a:solidFill>
                  <a:srgbClr val="15213F"/>
                </a:solidFill>
                <a:latin typeface="Roboto"/>
              </a:rPr>
              <a:t>Обучение адаптера и классификационной головы</a:t>
            </a:r>
            <a:r>
              <a:rPr lang="ru-RU" sz="1050" dirty="0">
                <a:solidFill>
                  <a:srgbClr val="15213F"/>
                </a:solidFill>
                <a:latin typeface="Roboto"/>
              </a:rPr>
              <a:t>.</a:t>
            </a:r>
          </a:p>
          <a:p>
            <a:pPr>
              <a:spcAft>
                <a:spcPts val="200"/>
              </a:spcAft>
            </a:pPr>
            <a:br>
              <a:rPr lang="ru-RU" sz="1050" dirty="0">
                <a:solidFill>
                  <a:srgbClr val="15213F"/>
                </a:solidFill>
                <a:latin typeface="Roboto"/>
              </a:rPr>
            </a:br>
            <a:r>
              <a:rPr lang="ru-RU" sz="1050" dirty="0">
                <a:solidFill>
                  <a:srgbClr val="15213F"/>
                </a:solidFill>
                <a:latin typeface="Roboto"/>
              </a:rPr>
              <a:t>Функция потерь  – перекрестная энтропия.</a:t>
            </a:r>
          </a:p>
          <a:p>
            <a:pPr>
              <a:spcAft>
                <a:spcPts val="200"/>
              </a:spcAft>
            </a:pPr>
            <a:endParaRPr lang="ru-RU" sz="1050" b="0" dirty="0">
              <a:solidFill>
                <a:srgbClr val="15213F"/>
              </a:solidFill>
              <a:latin typeface="Roboto"/>
            </a:endParaRPr>
          </a:p>
          <a:p>
            <a:pPr>
              <a:spcAft>
                <a:spcPts val="200"/>
              </a:spcAft>
            </a:pPr>
            <a:r>
              <a:rPr lang="ru-RU" sz="1050" dirty="0">
                <a:solidFill>
                  <a:srgbClr val="15213F"/>
                </a:solidFill>
                <a:latin typeface="Roboto"/>
              </a:rPr>
              <a:t>Оценка на валидации.</a:t>
            </a:r>
            <a:endParaRPr sz="10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11352276" y="1892808"/>
            <a:ext cx="269748" cy="237744"/>
          </a:xfrm>
          <a:prstGeom prst="rightArrow">
            <a:avLst/>
          </a:prstGeom>
          <a:solidFill>
            <a:srgbClr val="C9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658600" y="1289083"/>
            <a:ext cx="2377440" cy="1632309"/>
          </a:xfrm>
          <a:prstGeom prst="roundRect">
            <a:avLst/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3257B8"/>
                </a:solidFill>
                <a:latin typeface="Roboto Slab"/>
              </a:rPr>
              <a:t>5. </a:t>
            </a:r>
            <a:r>
              <a:rPr sz="1250" b="1" dirty="0" err="1">
                <a:solidFill>
                  <a:srgbClr val="3257B8"/>
                </a:solidFill>
                <a:latin typeface="Roboto Slab"/>
              </a:rPr>
              <a:t>Оценка</a:t>
            </a:r>
            <a:r>
              <a:rPr sz="1250" b="1" dirty="0">
                <a:solidFill>
                  <a:srgbClr val="3257B8"/>
                </a:solidFill>
                <a:latin typeface="Roboto Slab"/>
              </a:rPr>
              <a:t> (test)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 dirty="0">
                <a:solidFill>
                  <a:srgbClr val="15213F"/>
                </a:solidFill>
                <a:latin typeface="Roboto"/>
              </a:rPr>
              <a:t>balanced accuracy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 dirty="0">
                <a:solidFill>
                  <a:srgbClr val="15213F"/>
                </a:solidFill>
                <a:latin typeface="Roboto"/>
              </a:rPr>
              <a:t>macro-F1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dirty="0">
                <a:solidFill>
                  <a:srgbClr val="15213F"/>
                </a:solidFill>
                <a:latin typeface="Roboto"/>
              </a:rPr>
              <a:t>F1 </a:t>
            </a:r>
            <a:r>
              <a:rPr sz="1050" b="0" dirty="0" err="1">
                <a:solidFill>
                  <a:srgbClr val="15213F"/>
                </a:solidFill>
                <a:latin typeface="Roboto"/>
              </a:rPr>
              <a:t>по</a:t>
            </a:r>
            <a:r>
              <a:rPr sz="10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050" b="0" dirty="0" err="1">
                <a:solidFill>
                  <a:srgbClr val="15213F"/>
                </a:solidFill>
                <a:latin typeface="Roboto"/>
              </a:rPr>
              <a:t>группам</a:t>
            </a:r>
            <a:r>
              <a:rPr sz="1050" b="0" dirty="0">
                <a:solidFill>
                  <a:srgbClr val="15213F"/>
                </a:solidFill>
                <a:latin typeface="Roboto"/>
              </a:rPr>
              <a:t> A/B/C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872590"/>
            <a:ext cx="4754880" cy="32004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dirty="0" err="1">
                <a:solidFill>
                  <a:srgbClr val="3257B8"/>
                </a:solidFill>
                <a:latin typeface="Roboto Slab"/>
              </a:rPr>
              <a:t>Выбор</a:t>
            </a:r>
            <a:r>
              <a:rPr sz="1800" b="0" dirty="0">
                <a:solidFill>
                  <a:srgbClr val="3257B8"/>
                </a:solidFill>
                <a:latin typeface="Roboto Slab"/>
              </a:rPr>
              <a:t> </a:t>
            </a:r>
            <a:r>
              <a:rPr sz="1800" b="0" dirty="0" err="1">
                <a:solidFill>
                  <a:srgbClr val="3257B8"/>
                </a:solidFill>
                <a:latin typeface="Roboto Slab"/>
              </a:rPr>
              <a:t>моделей</a:t>
            </a:r>
            <a:r>
              <a:rPr sz="1800" b="0" dirty="0">
                <a:solidFill>
                  <a:srgbClr val="3257B8"/>
                </a:solidFill>
                <a:latin typeface="Roboto Slab"/>
              </a:rPr>
              <a:t> — </a:t>
            </a:r>
            <a:r>
              <a:rPr sz="1800" b="0" dirty="0" err="1">
                <a:solidFill>
                  <a:srgbClr val="3257B8"/>
                </a:solidFill>
                <a:latin typeface="Roboto Slab"/>
              </a:rPr>
              <a:t>критерии</a:t>
            </a:r>
            <a:endParaRPr sz="1800" b="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6" y="4375510"/>
            <a:ext cx="4754880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3E65D8"/>
                </a:solidFill>
                <a:latin typeface="Roboto Slab"/>
              </a:rPr>
              <a:t>▸ </a:t>
            </a:r>
            <a:r>
              <a:rPr sz="1450" b="1" dirty="0" err="1">
                <a:solidFill>
                  <a:srgbClr val="3E65D8"/>
                </a:solidFill>
                <a:latin typeface="Roboto Slab"/>
              </a:rPr>
              <a:t>Размер</a:t>
            </a:r>
            <a:endParaRPr sz="1450" b="1" dirty="0">
              <a:solidFill>
                <a:srgbClr val="3E65D8"/>
              </a:solidFill>
              <a:latin typeface="Roboto Sla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" y="4686406"/>
            <a:ext cx="4526280" cy="484748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ru-RU" sz="1250" b="0" dirty="0">
                <a:solidFill>
                  <a:srgbClr val="15213F"/>
                </a:solidFill>
                <a:latin typeface="Roboto"/>
              </a:rPr>
              <a:t>Сравнение влияния количества параметров (</a:t>
            </a:r>
            <a:r>
              <a:rPr lang="en" sz="1250" dirty="0">
                <a:solidFill>
                  <a:srgbClr val="15213F"/>
                </a:solidFill>
                <a:latin typeface="Roboto"/>
              </a:rPr>
              <a:t>8B</a:t>
            </a:r>
            <a:r>
              <a:rPr lang="en" sz="1400" dirty="0">
                <a:solidFill>
                  <a:srgbClr val="15213F"/>
                </a:solidFill>
                <a:latin typeface="Roboto"/>
              </a:rPr>
              <a:t>–</a:t>
            </a:r>
            <a:r>
              <a:rPr lang="en" sz="1250" dirty="0">
                <a:solidFill>
                  <a:srgbClr val="15213F"/>
                </a:solidFill>
                <a:latin typeface="Roboto"/>
              </a:rPr>
              <a:t>32B</a:t>
            </a:r>
            <a:r>
              <a:rPr lang="ru-RU" sz="1250" dirty="0">
                <a:solidFill>
                  <a:srgbClr val="15213F"/>
                </a:solidFill>
                <a:latin typeface="Roboto"/>
              </a:rPr>
              <a:t>)</a:t>
            </a:r>
            <a:r>
              <a:rPr lang="en" sz="1250" dirty="0">
                <a:solidFill>
                  <a:srgbClr val="15213F"/>
                </a:solidFill>
                <a:latin typeface="Roboto"/>
              </a:rPr>
              <a:t> </a:t>
            </a:r>
            <a:r>
              <a:rPr lang="ru-RU" sz="1250" b="0" dirty="0">
                <a:solidFill>
                  <a:srgbClr val="15213F"/>
                </a:solidFill>
                <a:latin typeface="Roboto"/>
              </a:rPr>
              <a:t>на качество дообучения.</a:t>
            </a:r>
            <a:endParaRPr sz="12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5184648"/>
            <a:ext cx="4754880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3E65D8"/>
                </a:solidFill>
                <a:latin typeface="Roboto Slab"/>
              </a:rPr>
              <a:t>▸ </a:t>
            </a:r>
            <a:r>
              <a:rPr lang="ru-RU" sz="1450" b="1" dirty="0">
                <a:solidFill>
                  <a:srgbClr val="3E65D8"/>
                </a:solidFill>
                <a:latin typeface="Roboto Slab"/>
              </a:rPr>
              <a:t>Сравнение разных семейств</a:t>
            </a:r>
            <a:endParaRPr sz="1450" b="1" dirty="0">
              <a:solidFill>
                <a:srgbClr val="3E65D8"/>
              </a:solidFill>
              <a:latin typeface="Roboto Sla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6" y="5495544"/>
            <a:ext cx="4526280" cy="269304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15213F"/>
                </a:solidFill>
                <a:latin typeface="Roboto"/>
              </a:rPr>
              <a:t>Qwen· Mistral-Nemo ·</a:t>
            </a:r>
            <a:r>
              <a:rPr lang="en" sz="12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en" sz="1250" b="0" dirty="0" err="1">
                <a:solidFill>
                  <a:srgbClr val="15213F"/>
                </a:solidFill>
                <a:latin typeface="Roboto"/>
              </a:rPr>
              <a:t>YandexGPT</a:t>
            </a:r>
            <a:endParaRPr sz="12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" y="5784627"/>
            <a:ext cx="4754880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3E65D8"/>
                </a:solidFill>
                <a:latin typeface="Roboto Slab"/>
              </a:rPr>
              <a:t>▸ </a:t>
            </a:r>
            <a:r>
              <a:rPr lang="ru-RU" sz="1450" b="1" dirty="0">
                <a:solidFill>
                  <a:srgbClr val="3E65D8"/>
                </a:solidFill>
                <a:latin typeface="Roboto Slab"/>
              </a:rPr>
              <a:t>Русский язык</a:t>
            </a:r>
            <a:endParaRPr sz="1450" b="1" dirty="0">
              <a:solidFill>
                <a:srgbClr val="3E65D8"/>
              </a:solidFill>
              <a:latin typeface="Roboto Sla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6" y="6095523"/>
            <a:ext cx="4526280" cy="46166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u-RU" sz="1250" b="0" dirty="0">
                <a:solidFill>
                  <a:srgbClr val="15213F"/>
                </a:solidFill>
                <a:latin typeface="Roboto"/>
              </a:rPr>
              <a:t>Русскоязычные </a:t>
            </a:r>
            <a:r>
              <a:rPr lang="en-US" sz="1250" b="0" dirty="0" err="1">
                <a:solidFill>
                  <a:srgbClr val="15213F"/>
                </a:solidFill>
                <a:latin typeface="Roboto"/>
              </a:rPr>
              <a:t>Inctruction</a:t>
            </a:r>
            <a:r>
              <a:rPr lang="ru-RU" sz="1250" b="0" dirty="0">
                <a:solidFill>
                  <a:srgbClr val="15213F"/>
                </a:solidFill>
                <a:latin typeface="Roboto"/>
              </a:rPr>
              <a:t>-</a:t>
            </a:r>
            <a:r>
              <a:rPr lang="ru-RU" sz="1250" dirty="0">
                <a:solidFill>
                  <a:srgbClr val="15213F"/>
                </a:solidFill>
                <a:latin typeface="Roboto"/>
              </a:rPr>
              <a:t>модели и адаптированные модели под русский язык</a:t>
            </a:r>
            <a:endParaRPr sz="12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3816" y="6588359"/>
            <a:ext cx="4754880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3E65D8"/>
                </a:solidFill>
                <a:latin typeface="Roboto Slab"/>
              </a:rPr>
              <a:t>▸ </a:t>
            </a:r>
            <a:r>
              <a:rPr lang="en-US" sz="1450" b="1" dirty="0">
                <a:solidFill>
                  <a:srgbClr val="3E65D8"/>
                </a:solidFill>
                <a:latin typeface="Roboto Slab"/>
              </a:rPr>
              <a:t> GPU</a:t>
            </a:r>
            <a:endParaRPr sz="1450" b="1" dirty="0">
              <a:solidFill>
                <a:srgbClr val="3E65D8"/>
              </a:solidFill>
              <a:latin typeface="Roboto Sla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6880967"/>
            <a:ext cx="4526280" cy="269304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u-RU" sz="1250" b="0" dirty="0">
                <a:solidFill>
                  <a:srgbClr val="15213F"/>
                </a:solidFill>
                <a:latin typeface="Roboto"/>
              </a:rPr>
              <a:t>Ограничение реализации в 40 </a:t>
            </a:r>
            <a:r>
              <a:rPr lang="ru-RU" sz="1250" dirty="0">
                <a:solidFill>
                  <a:srgbClr val="15213F"/>
                </a:solidFill>
                <a:latin typeface="Roboto"/>
              </a:rPr>
              <a:t>ГБ</a:t>
            </a:r>
            <a:r>
              <a:rPr lang="en-US" sz="1250" dirty="0">
                <a:solidFill>
                  <a:srgbClr val="15213F"/>
                </a:solidFill>
                <a:latin typeface="Roboto"/>
              </a:rPr>
              <a:t> </a:t>
            </a:r>
            <a:r>
              <a:rPr lang="ru-RU" sz="1250" dirty="0">
                <a:solidFill>
                  <a:srgbClr val="15213F"/>
                </a:solidFill>
                <a:latin typeface="Roboto"/>
              </a:rPr>
              <a:t>видеопамяти</a:t>
            </a:r>
            <a:endParaRPr sz="12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72200" y="3363243"/>
            <a:ext cx="7863840" cy="32004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dirty="0" err="1">
                <a:solidFill>
                  <a:srgbClr val="3257B8"/>
                </a:solidFill>
                <a:latin typeface="Roboto Slab"/>
              </a:rPr>
              <a:t>Матрица</a:t>
            </a:r>
            <a:r>
              <a:rPr sz="1800" b="0" dirty="0">
                <a:solidFill>
                  <a:srgbClr val="3257B8"/>
                </a:solidFill>
                <a:latin typeface="Roboto Slab"/>
              </a:rPr>
              <a:t> </a:t>
            </a:r>
            <a:r>
              <a:rPr sz="1800" b="0" dirty="0" err="1">
                <a:solidFill>
                  <a:srgbClr val="3257B8"/>
                </a:solidFill>
                <a:latin typeface="Roboto Slab"/>
              </a:rPr>
              <a:t>экспериментов</a:t>
            </a:r>
            <a:endParaRPr sz="1800" b="0" dirty="0">
              <a:solidFill>
                <a:srgbClr val="3257B8"/>
              </a:solidFill>
              <a:latin typeface="Roboto Slab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4154"/>
              </p:ext>
            </p:extLst>
          </p:nvPr>
        </p:nvGraphicFramePr>
        <p:xfrm>
          <a:off x="6172200" y="3793011"/>
          <a:ext cx="7818120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Модель</a:t>
                      </a:r>
                    </a:p>
                  </a:txBody>
                  <a:tcPr marL="63500" marR="38100" marT="12700" marB="12700" anchor="ctr">
                    <a:solidFill>
                      <a:srgbClr val="32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LoRA</a:t>
                      </a:r>
                    </a:p>
                  </a:txBody>
                  <a:tcPr marL="63500" marR="38100" marT="12700" marB="12700" anchor="ctr">
                    <a:solidFill>
                      <a:srgbClr val="32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QLoRA</a:t>
                      </a:r>
                    </a:p>
                  </a:txBody>
                  <a:tcPr marL="63500" marR="38100" marT="12700" marB="12700" anchor="ctr">
                    <a:solidFill>
                      <a:srgbClr val="32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AdaLoRA</a:t>
                      </a:r>
                    </a:p>
                  </a:txBody>
                  <a:tcPr marL="63500" marR="38100" marT="12700" marB="12700" anchor="ctr">
                    <a:solidFill>
                      <a:srgbClr val="3257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TinyLoRA</a:t>
                      </a:r>
                    </a:p>
                  </a:txBody>
                  <a:tcPr marL="63500" marR="38100" marT="12700" marB="12700" anchor="ctr">
                    <a:solidFill>
                      <a:srgbClr val="3257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3257B8"/>
                          </a:solidFill>
                          <a:latin typeface="Roboto"/>
                        </a:rPr>
                        <a:t>YandexGPT-5-Lite-8B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3257B8"/>
                          </a:solidFill>
                          <a:latin typeface="Roboto"/>
                        </a:rPr>
                        <a:t>Vikhr-Nemo-12B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257B8"/>
                          </a:solidFill>
                          <a:latin typeface="Roboto"/>
                        </a:rPr>
                        <a:t>Qwen3-14B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3257B8"/>
                          </a:solidFill>
                          <a:latin typeface="Roboto"/>
                        </a:rPr>
                        <a:t>Vistral-24B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257B8"/>
                          </a:solidFill>
                          <a:latin typeface="Roboto"/>
                        </a:rPr>
                        <a:t>Qwen2.5-32B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257B8"/>
                          </a:solidFill>
                          <a:latin typeface="Roboto"/>
                        </a:rPr>
                        <a:t>Qwen3-32B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257B8"/>
                          </a:solidFill>
                          <a:latin typeface="Roboto"/>
                        </a:rPr>
                        <a:t>T-pro-it-2.1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257B8"/>
                          </a:solidFill>
                          <a:latin typeface="Roboto"/>
                        </a:rPr>
                        <a:t>Ruadapt-Qwen3-32B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A2D6B"/>
                          </a:solidFill>
                          <a:latin typeface="Roboto"/>
                        </a:rPr>
                        <a:t>✓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6B728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63500" marR="38100" marT="12700" marB="12700" anchor="ctr">
                    <a:solidFill>
                      <a:srgbClr val="E7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4218920" y="7882127"/>
            <a:ext cx="411480" cy="32004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850" b="0">
                <a:solidFill>
                  <a:srgbClr val="15213F"/>
                </a:solidFill>
                <a:latin typeface="Roboto Slab"/>
              </a:rPr>
              <a:t>11</a:t>
            </a:r>
          </a:p>
        </p:txBody>
      </p:sp>
      <p:sp>
        <p:nvSpPr>
          <p:cNvPr id="26" name="Google Shape;35;p4">
            <a:extLst>
              <a:ext uri="{FF2B5EF4-FFF2-40B4-BE49-F238E27FC236}">
                <a16:creationId xmlns:a16="http://schemas.microsoft.com/office/drawing/2014/main" id="{C6C3177F-F343-FF77-9CA0-10E01476BA0B}"/>
              </a:ext>
            </a:extLst>
          </p:cNvPr>
          <p:cNvSpPr/>
          <p:nvPr/>
        </p:nvSpPr>
        <p:spPr>
          <a:xfrm>
            <a:off x="777239" y="893180"/>
            <a:ext cx="59420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indent="0">
              <a:lnSpc>
                <a:spcPct val="123529"/>
              </a:lnSpc>
              <a:spcAft>
                <a:spcPts val="20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ru-RU" dirty="0">
                <a:solidFill>
                  <a:srgbClr val="3257B8"/>
                </a:solidFill>
                <a:latin typeface="Roboto Slab"/>
                <a:sym typeface="Roboto"/>
              </a:rPr>
              <a:t>Конвейер дообучения </a:t>
            </a:r>
            <a:r>
              <a:rPr lang="en-US" dirty="0">
                <a:solidFill>
                  <a:srgbClr val="3257B8"/>
                </a:solidFill>
                <a:latin typeface="Roboto Slab"/>
                <a:sym typeface="Roboto"/>
              </a:rPr>
              <a:t>LLM</a:t>
            </a:r>
            <a:r>
              <a:rPr lang="ru-RU" dirty="0">
                <a:solidFill>
                  <a:srgbClr val="3257B8"/>
                </a:solidFill>
                <a:latin typeface="Roboto Slab"/>
                <a:sym typeface="Roboto"/>
              </a:rPr>
              <a:t> и классификации</a:t>
            </a:r>
            <a:endParaRPr dirty="0">
              <a:solidFill>
                <a:srgbClr val="3257B8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92294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3">
            <a:extLst>
              <a:ext uri="{FF2B5EF4-FFF2-40B4-BE49-F238E27FC236}">
                <a16:creationId xmlns:a16="http://schemas.microsoft.com/office/drawing/2014/main" id="{6F1FC6B2-577F-D113-7467-46B12AB63847}"/>
              </a:ext>
            </a:extLst>
          </p:cNvPr>
          <p:cNvSpPr/>
          <p:nvPr/>
        </p:nvSpPr>
        <p:spPr>
          <a:xfrm>
            <a:off x="838373" y="901954"/>
            <a:ext cx="13489967" cy="259794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69540" y="177902"/>
            <a:ext cx="13258800" cy="569387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dirty="0" err="1">
                <a:solidFill>
                  <a:srgbClr val="3257B8"/>
                </a:solidFill>
                <a:latin typeface="Roboto Slab"/>
              </a:rPr>
              <a:t>Результаты</a:t>
            </a:r>
            <a:r>
              <a:rPr sz="3200" b="0" dirty="0">
                <a:solidFill>
                  <a:srgbClr val="3257B8"/>
                </a:solidFill>
                <a:latin typeface="Roboto Slab"/>
              </a:rPr>
              <a:t> </a:t>
            </a:r>
            <a:r>
              <a:rPr lang="ru-RU" sz="3200" b="0" dirty="0">
                <a:solidFill>
                  <a:srgbClr val="3257B8"/>
                </a:solidFill>
                <a:latin typeface="Roboto Slab"/>
              </a:rPr>
              <a:t>классификации на дообученных моделях</a:t>
            </a:r>
            <a:endParaRPr sz="3200" b="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973" y="882003"/>
            <a:ext cx="13167360" cy="315471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>
              <a:spcAft>
                <a:spcPts val="200"/>
              </a:spcAft>
            </a:pPr>
            <a:r>
              <a:rPr sz="1550" b="0" dirty="0" err="1">
                <a:solidFill>
                  <a:schemeClr val="bg1"/>
                </a:solidFill>
                <a:latin typeface="Roboto"/>
              </a:rPr>
              <a:t>Все</a:t>
            </a:r>
            <a:r>
              <a:rPr sz="1550" b="0" dirty="0">
                <a:solidFill>
                  <a:schemeClr val="bg1"/>
                </a:solidFill>
                <a:latin typeface="Roboto"/>
              </a:rPr>
              <a:t> 8 </a:t>
            </a:r>
            <a:r>
              <a:rPr sz="1550" b="0" dirty="0" err="1">
                <a:solidFill>
                  <a:schemeClr val="bg1"/>
                </a:solidFill>
                <a:latin typeface="Roboto"/>
              </a:rPr>
              <a:t>моделей</a:t>
            </a:r>
            <a:r>
              <a:rPr sz="1550" b="0" dirty="0">
                <a:solidFill>
                  <a:schemeClr val="bg1"/>
                </a:solidFill>
                <a:latin typeface="Roboto"/>
              </a:rPr>
              <a:t> </a:t>
            </a:r>
            <a:r>
              <a:rPr sz="1550" b="0" dirty="0" err="1">
                <a:solidFill>
                  <a:schemeClr val="bg1"/>
                </a:solidFill>
                <a:latin typeface="Roboto"/>
              </a:rPr>
              <a:t>прев</a:t>
            </a:r>
            <a:r>
              <a:rPr lang="ru-RU" sz="1550" b="0" dirty="0" err="1">
                <a:solidFill>
                  <a:schemeClr val="bg1"/>
                </a:solidFill>
                <a:latin typeface="Roboto"/>
              </a:rPr>
              <a:t>зошли</a:t>
            </a:r>
            <a:r>
              <a:rPr sz="1550" b="0" dirty="0">
                <a:solidFill>
                  <a:schemeClr val="bg1"/>
                </a:solidFill>
                <a:latin typeface="Roboto"/>
              </a:rPr>
              <a:t> </a:t>
            </a:r>
            <a:r>
              <a:rPr sz="1550" b="0" dirty="0" err="1">
                <a:solidFill>
                  <a:schemeClr val="bg1"/>
                </a:solidFill>
                <a:latin typeface="Roboto"/>
              </a:rPr>
              <a:t>лучший</a:t>
            </a:r>
            <a:r>
              <a:rPr sz="1550" b="0" dirty="0">
                <a:solidFill>
                  <a:schemeClr val="bg1"/>
                </a:solidFill>
                <a:latin typeface="Roboto"/>
              </a:rPr>
              <a:t> baseline. </a:t>
            </a:r>
            <a:r>
              <a:rPr lang="ru-RU" sz="1550" dirty="0">
                <a:solidFill>
                  <a:schemeClr val="bg1"/>
                </a:solidFill>
                <a:latin typeface="Roboto"/>
              </a:rPr>
              <a:t>Лучшая конфигурация </a:t>
            </a:r>
            <a:r>
              <a:rPr sz="1550" b="1" dirty="0">
                <a:solidFill>
                  <a:schemeClr val="bg1"/>
                </a:solidFill>
                <a:latin typeface="Roboto"/>
              </a:rPr>
              <a:t>Ruadapt-Qwen3-32B </a:t>
            </a:r>
            <a:r>
              <a:rPr lang="ru-RU" sz="1550" b="1" dirty="0">
                <a:solidFill>
                  <a:schemeClr val="bg1"/>
                </a:solidFill>
                <a:latin typeface="Roboto"/>
              </a:rPr>
              <a:t>+</a:t>
            </a:r>
            <a:r>
              <a:rPr sz="1550" b="1" dirty="0" err="1">
                <a:solidFill>
                  <a:schemeClr val="bg1"/>
                </a:solidFill>
                <a:latin typeface="Roboto"/>
              </a:rPr>
              <a:t>QLoRA</a:t>
            </a:r>
            <a:r>
              <a:rPr lang="en-US" sz="1550" b="1" dirty="0">
                <a:solidFill>
                  <a:schemeClr val="bg1"/>
                </a:solidFill>
                <a:latin typeface="Roboto"/>
              </a:rPr>
              <a:t>   </a:t>
            </a:r>
            <a:r>
              <a:rPr sz="1550" b="1" dirty="0">
                <a:solidFill>
                  <a:schemeClr val="bg1"/>
                </a:solidFill>
                <a:latin typeface="Roboto"/>
              </a:rPr>
              <a:t> </a:t>
            </a:r>
            <a:r>
              <a:rPr sz="1550" b="0" i="1" dirty="0">
                <a:solidFill>
                  <a:schemeClr val="bg1"/>
                </a:solidFill>
                <a:latin typeface="Roboto"/>
              </a:rPr>
              <a:t>macro-F1 0.554 +</a:t>
            </a:r>
            <a:r>
              <a:rPr lang="en-US" sz="1550" b="0" i="1" dirty="0">
                <a:solidFill>
                  <a:schemeClr val="bg1"/>
                </a:solidFill>
                <a:latin typeface="Roboto"/>
              </a:rPr>
              <a:t>7</a:t>
            </a:r>
            <a:r>
              <a:rPr lang="en-US" sz="1550" i="1" dirty="0">
                <a:solidFill>
                  <a:schemeClr val="bg1"/>
                </a:solidFill>
                <a:latin typeface="Roboto"/>
              </a:rPr>
              <a:t>%         </a:t>
            </a:r>
            <a:r>
              <a:rPr lang="en" sz="1550" i="1" dirty="0">
                <a:solidFill>
                  <a:schemeClr val="bg1"/>
                </a:solidFill>
                <a:latin typeface="Roboto"/>
              </a:rPr>
              <a:t>BA 0.554 +6%</a:t>
            </a:r>
            <a:endParaRPr sz="1550" b="0" i="1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2097" y="6229016"/>
            <a:ext cx="4846320" cy="36576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 dirty="0" err="1">
                <a:solidFill>
                  <a:srgbClr val="3257B8"/>
                </a:solidFill>
                <a:latin typeface="Roboto Slab"/>
              </a:rPr>
              <a:t>Ключевые</a:t>
            </a:r>
            <a:r>
              <a:rPr sz="1900" b="0" dirty="0">
                <a:solidFill>
                  <a:srgbClr val="3257B8"/>
                </a:solidFill>
                <a:latin typeface="Roboto Slab"/>
              </a:rPr>
              <a:t> </a:t>
            </a:r>
            <a:r>
              <a:rPr sz="1900" b="0" dirty="0" err="1">
                <a:solidFill>
                  <a:srgbClr val="3257B8"/>
                </a:solidFill>
                <a:latin typeface="Roboto Slab"/>
              </a:rPr>
              <a:t>наблюдения</a:t>
            </a:r>
            <a:endParaRPr sz="1900" b="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6444" y="6924999"/>
            <a:ext cx="8497242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 dirty="0" err="1">
                <a:solidFill>
                  <a:srgbClr val="15213F"/>
                </a:solidFill>
                <a:latin typeface="Roboto"/>
              </a:rPr>
              <a:t>QLoRA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en-US"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лучший</a:t>
            </a:r>
            <a:r>
              <a:rPr lang="ru-RU" sz="1450" b="0" dirty="0">
                <a:solidFill>
                  <a:srgbClr val="15213F"/>
                </a:solidFill>
                <a:latin typeface="Roboto"/>
              </a:rPr>
              <a:t> и стабильный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метод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почти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у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всех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;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AdaLoRA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и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TinyLoRA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отстают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на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5–12</a:t>
            </a:r>
            <a:r>
              <a:rPr lang="en-US" sz="1450" b="0" dirty="0">
                <a:solidFill>
                  <a:srgbClr val="15213F"/>
                </a:solidFill>
                <a:latin typeface="Roboto"/>
              </a:rPr>
              <a:t> %</a:t>
            </a:r>
            <a:endParaRPr sz="14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444" y="7560700"/>
            <a:ext cx="12222140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u-RU" sz="1450" dirty="0">
                <a:solidFill>
                  <a:srgbClr val="15213F"/>
                </a:solidFill>
                <a:latin typeface="Roboto"/>
              </a:rPr>
              <a:t>Модели дообученные на русскоязычных </a:t>
            </a:r>
            <a:r>
              <a:rPr lang="ru-RU" sz="1450" dirty="0" err="1">
                <a:solidFill>
                  <a:srgbClr val="15213F"/>
                </a:solidFill>
                <a:latin typeface="Roboto"/>
              </a:rPr>
              <a:t>даных</a:t>
            </a:r>
            <a:r>
              <a:rPr lang="ru-RU" sz="145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выигрыва</a:t>
            </a:r>
            <a:r>
              <a:rPr lang="ru-RU" sz="1450" b="0" dirty="0">
                <a:solidFill>
                  <a:srgbClr val="15213F"/>
                </a:solidFill>
                <a:latin typeface="Roboto"/>
              </a:rPr>
              <a:t>ю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т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на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редких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классах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(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группа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C</a:t>
            </a:r>
            <a:r>
              <a:rPr lang="ru-RU"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en-US" sz="1450" b="0" dirty="0">
                <a:solidFill>
                  <a:srgbClr val="15213F"/>
                </a:solidFill>
                <a:latin typeface="Roboto"/>
              </a:rPr>
              <a:t>&lt;= 15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):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Ruadapt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и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Vikhr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—</a:t>
            </a:r>
            <a:r>
              <a:rPr lang="en-US" sz="1450" b="0" dirty="0">
                <a:solidFill>
                  <a:srgbClr val="15213F"/>
                </a:solidFill>
                <a:latin typeface="Roboto"/>
              </a:rPr>
              <a:t> Macro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F1 0.625.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619991"/>
            <a:ext cx="12592010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ru-RU" sz="1450" b="0" dirty="0">
                <a:solidFill>
                  <a:srgbClr val="15213F"/>
                </a:solidFill>
                <a:latin typeface="Roboto"/>
              </a:rPr>
              <a:t>Не все зависит от количества параметров - м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одели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</a:t>
            </a:r>
            <a:r>
              <a:rPr lang="en-US" sz="1450" b="0" dirty="0">
                <a:solidFill>
                  <a:srgbClr val="15213F"/>
                </a:solidFill>
                <a:latin typeface="Roboto"/>
              </a:rPr>
              <a:t>8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–24B </a:t>
            </a:r>
            <a:r>
              <a:rPr sz="1450" b="0" dirty="0" err="1">
                <a:solidFill>
                  <a:srgbClr val="15213F"/>
                </a:solidFill>
                <a:latin typeface="Roboto"/>
              </a:rPr>
              <a:t>обходят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32B</a:t>
            </a:r>
            <a:r>
              <a:rPr lang="ru-RU" sz="1450" dirty="0">
                <a:solidFill>
                  <a:srgbClr val="15213F"/>
                </a:solidFill>
                <a:latin typeface="Roboto"/>
              </a:rPr>
              <a:t>.</a:t>
            </a:r>
            <a:endParaRPr sz="14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7235403"/>
            <a:ext cx="8245526" cy="300082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ru-RU" sz="1450" b="0" dirty="0">
                <a:solidFill>
                  <a:srgbClr val="15213F"/>
                </a:solidFill>
                <a:latin typeface="Roboto"/>
              </a:rPr>
              <a:t>Большинство моделей с</a:t>
            </a:r>
            <a:r>
              <a:rPr sz="1450" b="0" dirty="0">
                <a:solidFill>
                  <a:srgbClr val="15213F"/>
                </a:solidFill>
                <a:latin typeface="Roboto"/>
              </a:rPr>
              <a:t> class weights</a:t>
            </a:r>
            <a:r>
              <a:rPr lang="ru-RU" sz="1450" b="0" dirty="0">
                <a:solidFill>
                  <a:srgbClr val="15213F"/>
                </a:solidFill>
                <a:latin typeface="Roboto"/>
              </a:rPr>
              <a:t> показали результаты хуже чем без него.</a:t>
            </a:r>
            <a:endParaRPr sz="1450" b="0" dirty="0">
              <a:solidFill>
                <a:srgbClr val="15213F"/>
              </a:solidFill>
              <a:latin typeface="Robo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218920" y="7882127"/>
            <a:ext cx="411480" cy="320040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850" b="0">
                <a:solidFill>
                  <a:srgbClr val="15213F"/>
                </a:solidFill>
                <a:latin typeface="Roboto Slab"/>
              </a:rPr>
              <a:t>12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53F06F5-D03D-A84B-B235-4B9A7F263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9454"/>
            <a:ext cx="6806394" cy="446430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9AC25F7-BE73-31FF-D082-D3FAEA1BA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088" y="1589454"/>
            <a:ext cx="6806394" cy="4464306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DA39F75-8318-0CD5-EC7E-40A3EDD81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75471" y="510686"/>
            <a:ext cx="686301" cy="68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8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8866" y="174898"/>
            <a:ext cx="12818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spcAft>
                <a:spcPts val="200"/>
              </a:spcAft>
            </a:pPr>
            <a:r>
              <a:rPr lang="ru-RU" sz="4800" dirty="0">
                <a:solidFill>
                  <a:srgbClr val="3257B8"/>
                </a:solidFill>
                <a:latin typeface="Roboto Slab"/>
              </a:rPr>
              <a:t>Выводы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23C4F32-D707-4CCF-4784-DE3824579D1D}"/>
              </a:ext>
            </a:extLst>
          </p:cNvPr>
          <p:cNvSpPr/>
          <p:nvPr/>
        </p:nvSpPr>
        <p:spPr>
          <a:xfrm>
            <a:off x="411480" y="1354446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17215A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55F6BB5-E1EC-8F30-4A7E-A1606EF4BE0A}"/>
              </a:ext>
            </a:extLst>
          </p:cNvPr>
          <p:cNvSpPr/>
          <p:nvPr/>
        </p:nvSpPr>
        <p:spPr>
          <a:xfrm>
            <a:off x="457200" y="1445886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ВХОД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1 774 письма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 блоков</a:t>
            </a:r>
            <a:endParaRPr lang="en-US" sz="12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9A80F25C-C4F2-5A35-3A47-A1F01D2CF273}"/>
              </a:ext>
            </a:extLst>
          </p:cNvPr>
          <p:cNvSpPr/>
          <p:nvPr/>
        </p:nvSpPr>
        <p:spPr>
          <a:xfrm>
            <a:off x="1554481" y="1354446"/>
            <a:ext cx="1928812" cy="1188720"/>
          </a:xfrm>
          <a:prstGeom prst="roundRect">
            <a:avLst>
              <a:gd name="adj" fmla="val 6923"/>
            </a:avLst>
          </a:prstGeom>
          <a:solidFill>
            <a:srgbClr val="E7EDFB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71DA9C7-D5DD-124F-A790-C455A6B5DEAA}"/>
              </a:ext>
            </a:extLst>
          </p:cNvPr>
          <p:cNvSpPr/>
          <p:nvPr/>
        </p:nvSpPr>
        <p:spPr>
          <a:xfrm>
            <a:off x="1700784" y="146417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· Разведочный анализ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01E4135-93E7-8E5A-08A4-0AC47C978F40}"/>
              </a:ext>
            </a:extLst>
          </p:cNvPr>
          <p:cNvSpPr/>
          <p:nvPr/>
        </p:nvSpPr>
        <p:spPr>
          <a:xfrm>
            <a:off x="1719072" y="181164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дубликаты · аномалии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сильный дисбаланс классов</a:t>
            </a:r>
            <a:endParaRPr lang="en-US" sz="95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F6117D7E-173E-ADA9-8FCA-08F495748E95}"/>
              </a:ext>
            </a:extLst>
          </p:cNvPr>
          <p:cNvSpPr/>
          <p:nvPr/>
        </p:nvSpPr>
        <p:spPr>
          <a:xfrm>
            <a:off x="3780473" y="1354446"/>
            <a:ext cx="1928813" cy="1188720"/>
          </a:xfrm>
          <a:prstGeom prst="roundRect">
            <a:avLst>
              <a:gd name="adj" fmla="val 6923"/>
            </a:avLst>
          </a:prstGeom>
          <a:solidFill>
            <a:srgbClr val="E7EDFB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B369B58-7A05-0CCB-08A2-B7B6C6234020}"/>
              </a:ext>
            </a:extLst>
          </p:cNvPr>
          <p:cNvSpPr/>
          <p:nvPr/>
        </p:nvSpPr>
        <p:spPr>
          <a:xfrm>
            <a:off x="3926777" y="146417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· Очистка  clean_text()</a:t>
            </a:r>
            <a:endParaRPr lang="en-US" sz="12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C5A0BF0E-4380-E397-F041-8ECC82266F19}"/>
              </a:ext>
            </a:extLst>
          </p:cNvPr>
          <p:cNvSpPr/>
          <p:nvPr/>
        </p:nvSpPr>
        <p:spPr>
          <a:xfrm>
            <a:off x="3945065" y="181164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повторы слов / фраз /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предложений,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цепочки «слово-число»</a:t>
            </a:r>
            <a:endParaRPr lang="en-US" sz="9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35CC83EE-F25A-3719-6434-D674A0DEFBAB}"/>
              </a:ext>
            </a:extLst>
          </p:cNvPr>
          <p:cNvSpPr/>
          <p:nvPr/>
        </p:nvSpPr>
        <p:spPr>
          <a:xfrm>
            <a:off x="6029327" y="1299582"/>
            <a:ext cx="2057398" cy="1280159"/>
          </a:xfrm>
          <a:prstGeom prst="roundRect">
            <a:avLst>
              <a:gd name="adj" fmla="val 6923"/>
            </a:avLst>
          </a:prstGeom>
          <a:solidFill>
            <a:srgbClr val="E7EDFB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B855968-43E3-56E9-1D94-0B155D23BAAF}"/>
              </a:ext>
            </a:extLst>
          </p:cNvPr>
          <p:cNvSpPr/>
          <p:nvPr/>
        </p:nvSpPr>
        <p:spPr>
          <a:xfrm>
            <a:off x="6175630" y="140931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· Разделение train / test</a:t>
            </a:r>
            <a:endParaRPr lang="en-US" sz="12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EB9AB7D-94A7-0E29-72C3-925DA37DC57F}"/>
              </a:ext>
            </a:extLst>
          </p:cNvPr>
          <p:cNvSpPr/>
          <p:nvPr/>
        </p:nvSpPr>
        <p:spPr>
          <a:xfrm>
            <a:off x="6193918" y="1756782"/>
            <a:ext cx="1728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 err="1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стратифицированно</a:t>
            </a: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 аугментации</a:t>
            </a:r>
            <a:endParaRPr lang="en-US" sz="95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FA044AA6-319D-7C4D-3D6B-51AC1CF29341}"/>
              </a:ext>
            </a:extLst>
          </p:cNvPr>
          <p:cNvSpPr/>
          <p:nvPr/>
        </p:nvSpPr>
        <p:spPr>
          <a:xfrm>
            <a:off x="1325880" y="1793358"/>
            <a:ext cx="274320" cy="310896"/>
          </a:xfrm>
          <a:prstGeom prst="rightArrow">
            <a:avLst/>
          </a:prstGeom>
          <a:solidFill>
            <a:srgbClr val="4B73C9"/>
          </a:solidFill>
          <a:ln/>
        </p:spPr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EAC1F6DB-56E0-C7E9-5290-A4998D5D4BDE}"/>
              </a:ext>
            </a:extLst>
          </p:cNvPr>
          <p:cNvSpPr/>
          <p:nvPr/>
        </p:nvSpPr>
        <p:spPr>
          <a:xfrm>
            <a:off x="3483293" y="1793358"/>
            <a:ext cx="274320" cy="310896"/>
          </a:xfrm>
          <a:prstGeom prst="rightArrow">
            <a:avLst/>
          </a:prstGeom>
          <a:solidFill>
            <a:srgbClr val="4B73C9"/>
          </a:solidFill>
          <a:ln/>
        </p:spPr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E15A299E-218F-0CC1-D3F6-C3A0F8A6F3CA}"/>
              </a:ext>
            </a:extLst>
          </p:cNvPr>
          <p:cNvSpPr/>
          <p:nvPr/>
        </p:nvSpPr>
        <p:spPr>
          <a:xfrm>
            <a:off x="5732146" y="1738494"/>
            <a:ext cx="274320" cy="310896"/>
          </a:xfrm>
          <a:prstGeom prst="rightArrow">
            <a:avLst/>
          </a:prstGeom>
          <a:solidFill>
            <a:srgbClr val="4B73C9"/>
          </a:solidFill>
          <a:ln/>
        </p:spPr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DAC0CBBD-1A81-2B3E-1A4B-B5BC2E6FEFD9}"/>
              </a:ext>
            </a:extLst>
          </p:cNvPr>
          <p:cNvSpPr/>
          <p:nvPr/>
        </p:nvSpPr>
        <p:spPr>
          <a:xfrm>
            <a:off x="9106283" y="1317869"/>
            <a:ext cx="2438019" cy="1303020"/>
          </a:xfrm>
          <a:prstGeom prst="roundRect">
            <a:avLst>
              <a:gd name="adj" fmla="val 5455"/>
            </a:avLst>
          </a:prstGeom>
          <a:solidFill>
            <a:srgbClr val="E7EDFB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5907196-2EC5-B1E3-2C1D-7C19E2BAE0FA}"/>
              </a:ext>
            </a:extLst>
          </p:cNvPr>
          <p:cNvSpPr/>
          <p:nvPr/>
        </p:nvSpPr>
        <p:spPr>
          <a:xfrm>
            <a:off x="9252587" y="1427597"/>
            <a:ext cx="2136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· Аугментация (train)</a:t>
            </a:r>
            <a:endParaRPr lang="en-US" sz="12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BD077DA5-C5E3-113C-FC5A-E0FF9A4656FD}"/>
              </a:ext>
            </a:extLst>
          </p:cNvPr>
          <p:cNvSpPr/>
          <p:nvPr/>
        </p:nvSpPr>
        <p:spPr>
          <a:xfrm>
            <a:off x="9270875" y="1775069"/>
            <a:ext cx="22551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цель: ≥ 50 примеров на класс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15  → LLM-генерация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15–34 → парафраз (LLM)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35–49 → обратный перевод (NLLB)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валидация: 7 фильтров → LLM-судья</a:t>
            </a:r>
            <a:endParaRPr lang="en-US" sz="95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8B2D6C5E-5F66-1060-1F0D-83A8FD75B062}"/>
              </a:ext>
            </a:extLst>
          </p:cNvPr>
          <p:cNvSpPr/>
          <p:nvPr/>
        </p:nvSpPr>
        <p:spPr>
          <a:xfrm>
            <a:off x="11851198" y="1276721"/>
            <a:ext cx="2283143" cy="1303020"/>
          </a:xfrm>
          <a:prstGeom prst="roundRect">
            <a:avLst>
              <a:gd name="adj" fmla="val 5455"/>
            </a:avLst>
          </a:prstGeom>
          <a:solidFill>
            <a:srgbClr val="E7EDFB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92EDCA9E-7DD5-4FCC-C970-C0C4C749D0D8}"/>
              </a:ext>
            </a:extLst>
          </p:cNvPr>
          <p:cNvSpPr/>
          <p:nvPr/>
        </p:nvSpPr>
        <p:spPr>
          <a:xfrm>
            <a:off x="11865482" y="1433381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· Дообучение LLM (PEFT)</a:t>
            </a:r>
            <a:endParaRPr lang="en-US" sz="12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E3FC0FF7-971E-AF04-F473-EC450ACB0304}"/>
              </a:ext>
            </a:extLst>
          </p:cNvPr>
          <p:cNvSpPr/>
          <p:nvPr/>
        </p:nvSpPr>
        <p:spPr>
          <a:xfrm>
            <a:off x="11883770" y="1780853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заморозка базы + 4-bit NF4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адаптер: QLoRA / LoRA /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AdaLoRA / TinyLoRA + голова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CE-loss · val 10 % → чекпоинт</a:t>
            </a:r>
            <a:endParaRPr lang="en-US" sz="950" dirty="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303B2CCF-2369-D97E-B30D-5C7D34576D62}"/>
              </a:ext>
            </a:extLst>
          </p:cNvPr>
          <p:cNvSpPr/>
          <p:nvPr/>
        </p:nvSpPr>
        <p:spPr>
          <a:xfrm>
            <a:off x="11876054" y="3306693"/>
            <a:ext cx="2283143" cy="1132572"/>
          </a:xfrm>
          <a:prstGeom prst="roundRect">
            <a:avLst>
              <a:gd name="adj" fmla="val 5455"/>
            </a:avLst>
          </a:prstGeom>
          <a:solidFill>
            <a:srgbClr val="E7EDFB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CE5FA91C-890F-5AC6-19EB-46F1238BF873}"/>
              </a:ext>
            </a:extLst>
          </p:cNvPr>
          <p:cNvSpPr/>
          <p:nvPr/>
        </p:nvSpPr>
        <p:spPr>
          <a:xfrm>
            <a:off x="12030074" y="3393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· Классификация + оценка</a:t>
            </a:r>
            <a:endParaRPr lang="en-US" sz="12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5F2493E-6A41-D470-ACCB-67651F619279}"/>
              </a:ext>
            </a:extLst>
          </p:cNvPr>
          <p:cNvSpPr/>
          <p:nvPr/>
        </p:nvSpPr>
        <p:spPr>
          <a:xfrm>
            <a:off x="12048362" y="3741032"/>
            <a:ext cx="1920240" cy="630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отложенном TEST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accuracy · macro-F1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по группам A / B / C</a:t>
            </a:r>
            <a:endParaRPr lang="en-US" sz="950" dirty="0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D26CBFBA-7AE9-5B35-E275-0A4474AFD605}"/>
              </a:ext>
            </a:extLst>
          </p:cNvPr>
          <p:cNvSpPr/>
          <p:nvPr/>
        </p:nvSpPr>
        <p:spPr>
          <a:xfrm>
            <a:off x="11554018" y="1811073"/>
            <a:ext cx="274320" cy="310896"/>
          </a:xfrm>
          <a:prstGeom prst="rightArrow">
            <a:avLst/>
          </a:prstGeom>
          <a:solidFill>
            <a:srgbClr val="4B73C9"/>
          </a:solidFill>
          <a:ln/>
        </p:spPr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8E5EA759-8CC8-AC31-B090-54639F3E02E1}"/>
              </a:ext>
            </a:extLst>
          </p:cNvPr>
          <p:cNvSpPr/>
          <p:nvPr/>
        </p:nvSpPr>
        <p:spPr>
          <a:xfrm>
            <a:off x="8100157" y="1738494"/>
            <a:ext cx="983266" cy="310896"/>
          </a:xfrm>
          <a:prstGeom prst="rightArrow">
            <a:avLst/>
          </a:prstGeom>
          <a:solidFill>
            <a:srgbClr val="4B73C9"/>
          </a:solidFill>
          <a:ln/>
        </p:spPr>
      </p:sp>
      <p:cxnSp>
        <p:nvCxnSpPr>
          <p:cNvPr id="45" name="Соединительная линия уступом 44">
            <a:extLst>
              <a:ext uri="{FF2B5EF4-FFF2-40B4-BE49-F238E27FC236}">
                <a16:creationId xmlns:a16="http://schemas.microsoft.com/office/drawing/2014/main" id="{D6579A8C-5642-65C2-89CA-56AF4182E457}"/>
              </a:ext>
            </a:extLst>
          </p:cNvPr>
          <p:cNvCxnSpPr>
            <a:cxnSpLocks/>
          </p:cNvCxnSpPr>
          <p:nvPr/>
        </p:nvCxnSpPr>
        <p:spPr>
          <a:xfrm>
            <a:off x="7058025" y="2620890"/>
            <a:ext cx="4844033" cy="935979"/>
          </a:xfrm>
          <a:prstGeom prst="bentConnector3">
            <a:avLst>
              <a:gd name="adj1" fmla="val 743"/>
            </a:avLst>
          </a:prstGeom>
          <a:noFill/>
          <a:ln w="28575">
            <a:solidFill>
              <a:srgbClr val="D14C4F"/>
            </a:solidFill>
            <a:prstDash val="solid"/>
            <a:headEnd type="none"/>
            <a:tailEnd type="triangle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8B3BC82-EA1D-45ED-5205-8693D3F7C9F4}"/>
              </a:ext>
            </a:extLst>
          </p:cNvPr>
          <p:cNvSpPr txBox="1"/>
          <p:nvPr/>
        </p:nvSpPr>
        <p:spPr>
          <a:xfrm>
            <a:off x="7158610" y="322411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D14C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</a:t>
            </a:r>
            <a:endParaRPr lang="ru-RU" dirty="0"/>
          </a:p>
        </p:txBody>
      </p:sp>
      <p:sp>
        <p:nvSpPr>
          <p:cNvPr id="50" name="Text 32">
            <a:extLst>
              <a:ext uri="{FF2B5EF4-FFF2-40B4-BE49-F238E27FC236}">
                <a16:creationId xmlns:a16="http://schemas.microsoft.com/office/drawing/2014/main" id="{083BEBEE-A407-1AA6-9C11-A19DFA4DC4C1}"/>
              </a:ext>
            </a:extLst>
          </p:cNvPr>
          <p:cNvSpPr/>
          <p:nvPr/>
        </p:nvSpPr>
        <p:spPr>
          <a:xfrm>
            <a:off x="7927851" y="146417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B73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</a:t>
            </a:r>
            <a:endParaRPr lang="en-US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77FAA116-F52C-37BB-8E20-6C5788E06FE7}"/>
              </a:ext>
            </a:extLst>
          </p:cNvPr>
          <p:cNvSpPr/>
          <p:nvPr/>
        </p:nvSpPr>
        <p:spPr>
          <a:xfrm rot="5400000">
            <a:off x="12664583" y="2775340"/>
            <a:ext cx="681230" cy="335754"/>
          </a:xfrm>
          <a:prstGeom prst="rightArrow">
            <a:avLst/>
          </a:prstGeom>
          <a:solidFill>
            <a:srgbClr val="4B73C9"/>
          </a:solidFill>
          <a:ln/>
        </p:spPr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E0249F01-32D9-6097-D9D9-A714C495636D}"/>
              </a:ext>
            </a:extLst>
          </p:cNvPr>
          <p:cNvSpPr/>
          <p:nvPr/>
        </p:nvSpPr>
        <p:spPr>
          <a:xfrm>
            <a:off x="12035789" y="4714087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7215A"/>
          </a:solidFill>
          <a:ln/>
          <a:effectLst>
            <a:outerShdw blurRad="63500" dist="25400" dir="8100000" algn="bl" rotWithShape="0">
              <a:srgbClr val="1A2350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15CAC602-BBC7-A45C-AAF5-50C36A4F281F}"/>
              </a:ext>
            </a:extLst>
          </p:cNvPr>
          <p:cNvSpPr/>
          <p:nvPr/>
        </p:nvSpPr>
        <p:spPr>
          <a:xfrm>
            <a:off x="12081509" y="471408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ВЫХОД</a:t>
            </a:r>
            <a:endParaRPr lang="en-US" sz="1200" dirty="0"/>
          </a:p>
        </p:txBody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F7ACEC34-D288-F456-EE05-2E7BEF1B6F46}"/>
              </a:ext>
            </a:extLst>
          </p:cNvPr>
          <p:cNvSpPr/>
          <p:nvPr/>
        </p:nvSpPr>
        <p:spPr>
          <a:xfrm>
            <a:off x="12904469" y="4460340"/>
            <a:ext cx="201168" cy="237744"/>
          </a:xfrm>
          <a:prstGeom prst="downArrow">
            <a:avLst/>
          </a:prstGeom>
          <a:solidFill>
            <a:srgbClr val="1721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7762</TotalTime>
  <Words>1595</Words>
  <Application>Microsoft Macintosh PowerPoint</Application>
  <PresentationFormat>Произвольный</PresentationFormat>
  <Paragraphs>422</Paragraphs>
  <Slides>14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Roboto Slab</vt:lpstr>
      <vt:lpstr>Arial</vt:lpstr>
      <vt:lpstr>Courier New</vt:lpstr>
      <vt:lpstr>Montserrat</vt:lpstr>
      <vt:lpstr>Times New Roman</vt:lpstr>
      <vt:lpstr>Roboto</vt:lpstr>
      <vt:lpstr>Candara</vt:lpstr>
      <vt:lpstr>Roboto Slab Black</vt:lpstr>
      <vt:lpstr>-apple-system, BlinkMacSystemFont, Segoe UI, Roboto, Helvetica Neue, Arial, sans-serif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Константин Тураносов</cp:lastModifiedBy>
  <cp:revision>51</cp:revision>
  <dcterms:created xsi:type="dcterms:W3CDTF">2026-04-13T10:36:46Z</dcterms:created>
  <dcterms:modified xsi:type="dcterms:W3CDTF">2026-06-01T18:12:41Z</dcterms:modified>
</cp:coreProperties>
</file>