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68" r:id="rId2"/>
    <p:sldId id="257" r:id="rId3"/>
    <p:sldId id="269" r:id="rId4"/>
    <p:sldId id="258" r:id="rId5"/>
    <p:sldId id="267" r:id="rId6"/>
    <p:sldId id="259" r:id="rId7"/>
    <p:sldId id="260" r:id="rId8"/>
    <p:sldId id="261" r:id="rId9"/>
    <p:sldId id="263" r:id="rId10"/>
    <p:sldId id="264" r:id="rId11"/>
    <p:sldId id="266" r:id="rId12"/>
    <p:sldId id="270" r:id="rId13"/>
    <p:sldId id="271" r:id="rId14"/>
    <p:sldId id="262" r:id="rId15"/>
  </p:sldIdLst>
  <p:sldSz cx="14630400" cy="8229600"/>
  <p:notesSz cx="8229600" cy="14630400"/>
  <p:embeddedFontLst>
    <p:embeddedFont>
      <p:font typeface="Candara" panose="020E0502030303020204" pitchFamily="34" charset="0"/>
      <p:regular r:id="rId17"/>
      <p:bold r:id="rId18"/>
      <p:italic r:id="rId19"/>
      <p:boldItalic r:id="rId20"/>
    </p:embeddedFon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Instrument Sans" pitchFamily="2" charset="0"/>
      <p:regular r:id="rId25"/>
      <p:bold r:id="rId26"/>
      <p:italic r:id="rId27"/>
    </p:embeddedFont>
    <p:embeddedFont>
      <p:font typeface="Montserrat" pitchFamily="2" charset="0"/>
      <p:regular r:id="rId28"/>
      <p:bold r:id="rId29"/>
      <p:italic r:id="rId30"/>
      <p:boldItalic r:id="rId31"/>
    </p:embeddedFont>
    <p:embeddedFont>
      <p:font typeface="Roboto" panose="02000000000000000000" pitchFamily="2" charset="0"/>
      <p:regular r:id="rId32"/>
      <p:bold r:id="rId33"/>
      <p:italic r:id="rId34"/>
      <p:boldItalic r:id="rId35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65D8"/>
    <a:srgbClr val="1E3E8D"/>
    <a:srgbClr val="4582B4"/>
    <a:srgbClr val="FA8072"/>
    <a:srgbClr val="FCFDFF"/>
    <a:srgbClr val="3157B8"/>
    <a:srgbClr val="4168CE"/>
    <a:srgbClr val="CF4C51"/>
    <a:srgbClr val="E98381"/>
    <a:srgbClr val="6A98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095"/>
    <p:restoredTop sz="94610"/>
  </p:normalViewPr>
  <p:slideViewPr>
    <p:cSldViewPr snapToGrid="0" snapToObjects="1">
      <p:cViewPr varScale="1">
        <p:scale>
          <a:sx n="176" d="100"/>
          <a:sy n="176" d="100"/>
        </p:scale>
        <p:origin x="208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9" Type="http://schemas.openxmlformats.org/officeDocument/2006/relationships/tableStyles" Target="tableStyles.xml"/><Relationship Id="rId21" Type="http://schemas.openxmlformats.org/officeDocument/2006/relationships/font" Target="fonts/font5.fntdata"/><Relationship Id="rId34" Type="http://schemas.openxmlformats.org/officeDocument/2006/relationships/font" Target="fonts/font1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font" Target="fonts/font17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font" Target="fonts/font19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2539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7311" y="3477600"/>
            <a:ext cx="5703090" cy="475200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233" y="670327"/>
            <a:ext cx="2980800" cy="1987200"/>
          </a:xfrm>
          <a:prstGeom prst="rect">
            <a:avLst/>
          </a:prstGeom>
        </p:spPr>
      </p:pic>
      <p:sp>
        <p:nvSpPr>
          <p:cNvPr id="6" name="Текст 26"/>
          <p:cNvSpPr>
            <a:spLocks noGrp="1"/>
          </p:cNvSpPr>
          <p:nvPr>
            <p:ph type="body" sz="quarter" idx="11" hasCustomPrompt="1"/>
          </p:nvPr>
        </p:nvSpPr>
        <p:spPr>
          <a:xfrm>
            <a:off x="672234" y="7300627"/>
            <a:ext cx="1979773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720"/>
              </a:spcAft>
              <a:buNone/>
              <a:defRPr sz="216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01.01.2010</a:t>
            </a:r>
          </a:p>
        </p:txBody>
      </p:sp>
      <p:sp>
        <p:nvSpPr>
          <p:cNvPr id="7" name="Текст 26"/>
          <p:cNvSpPr>
            <a:spLocks noGrp="1"/>
          </p:cNvSpPr>
          <p:nvPr>
            <p:ph type="body" sz="quarter" idx="12" hasCustomPrompt="1"/>
          </p:nvPr>
        </p:nvSpPr>
        <p:spPr>
          <a:xfrm>
            <a:off x="672233" y="3080671"/>
            <a:ext cx="3233706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720"/>
              </a:spcAft>
              <a:buNone/>
              <a:defRPr sz="2880">
                <a:solidFill>
                  <a:schemeClr val="bg1">
                    <a:lumMod val="65000"/>
                  </a:schemeClr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Текст 26"/>
          <p:cNvSpPr>
            <a:spLocks noGrp="1"/>
          </p:cNvSpPr>
          <p:nvPr>
            <p:ph type="body" sz="quarter" idx="13" hasCustomPrompt="1"/>
          </p:nvPr>
        </p:nvSpPr>
        <p:spPr>
          <a:xfrm>
            <a:off x="672234" y="3837801"/>
            <a:ext cx="3523249" cy="77559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720"/>
              </a:spcAft>
              <a:buNone/>
              <a:defRPr sz="4320" b="1">
                <a:solidFill>
                  <a:srgbClr val="0055BB"/>
                </a:solidFill>
                <a:latin typeface="Montserrat" panose="00000500000000000000" pitchFamily="2" charset="-52"/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447372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svg"/><Relationship Id="rId4" Type="http://schemas.openxmlformats.org/officeDocument/2006/relationships/image" Target="../media/image1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8E6EA7C-CF0A-7C36-965C-365245E00981}"/>
              </a:ext>
            </a:extLst>
          </p:cNvPr>
          <p:cNvSpPr/>
          <p:nvPr/>
        </p:nvSpPr>
        <p:spPr>
          <a:xfrm>
            <a:off x="5244584" y="2405300"/>
            <a:ext cx="4141232" cy="426244"/>
          </a:xfrm>
          <a:prstGeom prst="roundRect">
            <a:avLst>
              <a:gd name="adj" fmla="val 6386"/>
            </a:avLst>
          </a:prstGeom>
          <a:solidFill>
            <a:srgbClr val="D7DFF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29AA9FB-D664-0176-51F6-29592CE5974D}"/>
              </a:ext>
            </a:extLst>
          </p:cNvPr>
          <p:cNvSpPr/>
          <p:nvPr/>
        </p:nvSpPr>
        <p:spPr>
          <a:xfrm>
            <a:off x="5380673" y="2509599"/>
            <a:ext cx="386905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ВЫПУСКНАЯ КВАЛИФИКАЦИОННАЯ РАБОТА</a:t>
            </a:r>
            <a:endParaRPr lang="en-US" sz="1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C62B92A-E117-FB88-3B04-23DB35775F46}"/>
              </a:ext>
            </a:extLst>
          </p:cNvPr>
          <p:cNvSpPr/>
          <p:nvPr/>
        </p:nvSpPr>
        <p:spPr>
          <a:xfrm>
            <a:off x="793790" y="2958584"/>
            <a:ext cx="130428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Методы классификации текстовых документов на основе дообучения большой языковой модели</a:t>
            </a:r>
            <a:endParaRPr lang="en-US" sz="44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5CDA73E-F902-3C46-493C-93579965095D}"/>
              </a:ext>
            </a:extLst>
          </p:cNvPr>
          <p:cNvSpPr/>
          <p:nvPr/>
        </p:nvSpPr>
        <p:spPr>
          <a:xfrm>
            <a:off x="7134535" y="6067957"/>
            <a:ext cx="4230386" cy="137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b="1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Научный</a:t>
            </a: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ru-RU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консультант</a:t>
            </a: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</a:t>
            </a:r>
            <a:endParaRPr lang="ru-RU" sz="1750" b="1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>
              <a:lnSpc>
                <a:spcPts val="2850"/>
              </a:lnSpc>
              <a:buNone/>
            </a:pPr>
            <a:endParaRPr lang="ru-RU" sz="1750" b="1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>
              <a:lnSpc>
                <a:spcPts val="2850"/>
              </a:lnSpc>
              <a:buNone/>
            </a:pPr>
            <a:r>
              <a:rPr lang="ru-RU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Вавилов Павел Дмитриевич</a:t>
            </a:r>
            <a:endParaRPr lang="en-US" sz="1750" b="1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C5E1C53-FED2-B772-7A54-EB90BA368494}"/>
              </a:ext>
            </a:extLst>
          </p:cNvPr>
          <p:cNvSpPr/>
          <p:nvPr/>
        </p:nvSpPr>
        <p:spPr>
          <a:xfrm>
            <a:off x="396011" y="6067957"/>
            <a:ext cx="4230386" cy="1377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ru-RU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Выполнил</a:t>
            </a:r>
            <a:r>
              <a:rPr lang="en-US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</a:t>
            </a:r>
            <a:endParaRPr lang="ru-RU" sz="1750" b="1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>
              <a:lnSpc>
                <a:spcPts val="2850"/>
              </a:lnSpc>
              <a:buNone/>
            </a:pPr>
            <a:r>
              <a:rPr lang="ru-RU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Студент группы М24-525</a:t>
            </a:r>
          </a:p>
          <a:p>
            <a:pPr marL="0" indent="0">
              <a:lnSpc>
                <a:spcPts val="2850"/>
              </a:lnSpc>
              <a:buNone/>
            </a:pPr>
            <a:r>
              <a:rPr lang="ru-RU" sz="17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Тураносов Константин Викторович</a:t>
            </a:r>
            <a:endParaRPr lang="en-US" sz="175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EC67A2-CDCE-02F8-DCD5-35C503367FAE}"/>
              </a:ext>
            </a:extLst>
          </p:cNvPr>
          <p:cNvSpPr txBox="1"/>
          <p:nvPr/>
        </p:nvSpPr>
        <p:spPr>
          <a:xfrm>
            <a:off x="5244584" y="332615"/>
            <a:ext cx="917815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ru-RU" sz="1400" b="0" i="0" u="none" strike="noStrike" dirty="0">
                <a:solidFill>
                  <a:srgbClr val="333333"/>
                </a:solidFill>
                <a:effectLst/>
                <a:latin typeface="Montserrat" panose="00000500000000000000" pitchFamily="2" charset="-52"/>
              </a:rPr>
              <a:t>МИНИСТЕРСТВО НАУКИ И ВЫСШЕГО ОБРАЗОВАНИЯ РОССИЙСКОЙ ФЕДЕРАЦИИ</a:t>
            </a:r>
            <a:r>
              <a:rPr lang="en-US" sz="1400" dirty="0">
                <a:latin typeface="Montserrat" panose="00000500000000000000" pitchFamily="2" charset="-52"/>
              </a:rPr>
              <a:t> </a:t>
            </a: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ru-RU" sz="1400" b="0" i="0" u="none" strike="noStrike" dirty="0">
                <a:solidFill>
                  <a:srgbClr val="333333"/>
                </a:solidFill>
                <a:effectLst/>
                <a:latin typeface="Montserrat" panose="00000500000000000000" pitchFamily="2" charset="-52"/>
              </a:rPr>
              <a:t>ФЕДЕРАЛЬНОЕ ГОСУДАРСТВЕННОЕ АВТОНОМНОЕ</a:t>
            </a:r>
            <a:endParaRPr lang="ru-RU" sz="1400" b="0" dirty="0">
              <a:effectLst/>
              <a:latin typeface="Montserrat" panose="00000500000000000000" pitchFamily="2" charset="-52"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ru-RU" sz="1400" b="0" i="0" u="none" strike="noStrike" dirty="0">
                <a:solidFill>
                  <a:srgbClr val="333333"/>
                </a:solidFill>
                <a:effectLst/>
                <a:latin typeface="Montserrat" panose="00000500000000000000" pitchFamily="2" charset="-52"/>
              </a:rPr>
              <a:t>ОБРАЗОВАТЕЛЬНОЕ УЧРЕЖДЕНИЕ ВЫСШЕГО ОБРАЗОВАНИЯ</a:t>
            </a:r>
            <a:endParaRPr lang="ru-RU" sz="1400" b="0" dirty="0">
              <a:effectLst/>
              <a:latin typeface="Montserrat" panose="00000500000000000000" pitchFamily="2" charset="-52"/>
            </a:endParaRPr>
          </a:p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ru-RU" sz="1400" b="0" i="0" u="none" strike="noStrike" dirty="0">
                <a:solidFill>
                  <a:srgbClr val="333333"/>
                </a:solidFill>
                <a:effectLst/>
                <a:latin typeface="Montserrat" panose="00000500000000000000" pitchFamily="2" charset="-52"/>
              </a:rPr>
              <a:t>“НАЦИОНАЛЬНЫЙ ИССЛЕДОВАТЕЛЬСКИЙ ЯДЕРНЫЙ УНИВЕРСИТЕТ МИФИ”</a:t>
            </a:r>
            <a:endParaRPr lang="ru-RU" sz="1400" b="0" dirty="0">
              <a:effectLst/>
              <a:latin typeface="Montserrat" panose="00000500000000000000" pitchFamily="2" charset="-5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3F45AF-0069-29D8-EA0E-3FEEB7865CE6}"/>
              </a:ext>
            </a:extLst>
          </p:cNvPr>
          <p:cNvSpPr txBox="1"/>
          <p:nvPr/>
        </p:nvSpPr>
        <p:spPr>
          <a:xfrm>
            <a:off x="5606270" y="1286722"/>
            <a:ext cx="80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b="0" i="0" u="none" strike="noStrike" dirty="0">
                <a:solidFill>
                  <a:srgbClr val="333333"/>
                </a:solidFill>
                <a:effectLst/>
                <a:latin typeface="Montserrat" panose="00000500000000000000" pitchFamily="2" charset="-52"/>
              </a:rPr>
              <a:t>Кафедра № 42 «Криптология и кибербезопасность»</a:t>
            </a:r>
            <a:endParaRPr lang="ru-RU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88C0E7-C054-4553-B144-EB4F55B91043}"/>
              </a:ext>
            </a:extLst>
          </p:cNvPr>
          <p:cNvSpPr txBox="1"/>
          <p:nvPr/>
        </p:nvSpPr>
        <p:spPr>
          <a:xfrm>
            <a:off x="278607" y="7565062"/>
            <a:ext cx="7315200" cy="428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850"/>
              </a:lnSpc>
              <a:buNone/>
            </a:pPr>
            <a:r>
              <a:rPr lang="ru-RU" sz="18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Дата</a:t>
            </a:r>
            <a:r>
              <a:rPr lang="en-US" sz="18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</a:t>
            </a:r>
            <a:r>
              <a:rPr lang="ru-RU" sz="18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23.06.2026</a:t>
            </a:r>
          </a:p>
        </p:txBody>
      </p:sp>
    </p:spTree>
    <p:extLst>
      <p:ext uri="{BB962C8B-B14F-4D97-AF65-F5344CB8AC3E}">
        <p14:creationId xmlns:p14="http://schemas.microsoft.com/office/powerpoint/2010/main" val="1841292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odo1BG">
            <a:extLst>
              <a:ext uri="{FF2B5EF4-FFF2-40B4-BE49-F238E27FC236}">
                <a16:creationId xmlns:a16="http://schemas.microsoft.com/office/drawing/2014/main" id="{E674806F-6714-259A-D4E0-78AE0AB0D400}"/>
              </a:ext>
            </a:extLst>
          </p:cNvPr>
          <p:cNvSpPr/>
          <p:nvPr/>
        </p:nvSpPr>
        <p:spPr>
          <a:xfrm>
            <a:off x="3340537" y="6190496"/>
            <a:ext cx="7122319" cy="148416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8100">
            <a:solidFill>
              <a:srgbClr val="CF4C51"/>
            </a:solidFill>
          </a:ln>
        </p:spPr>
        <p:txBody>
          <a:bodyPr wrap="square" lIns="200000" tIns="150000" rIns="200000" bIns="150000" anchor="ctr"/>
          <a:lstStyle/>
          <a:p>
            <a:pPr marL="0" indent="0" algn="l">
              <a:lnSpc>
                <a:spcPts val="2400"/>
              </a:lnSpc>
              <a:buNone/>
            </a:pPr>
            <a:endParaRPr lang="ru-RU" sz="1400" dirty="0">
              <a:solidFill>
                <a:srgbClr val="4A4A4A"/>
              </a:solidFill>
              <a:latin typeface="Roboto"/>
            </a:endParaRPr>
          </a:p>
        </p:txBody>
      </p:sp>
      <p:sp>
        <p:nvSpPr>
          <p:cNvPr id="22" name="Todo1BG">
            <a:extLst>
              <a:ext uri="{FF2B5EF4-FFF2-40B4-BE49-F238E27FC236}">
                <a16:creationId xmlns:a16="http://schemas.microsoft.com/office/drawing/2014/main" id="{BBF52396-9323-B4A3-0C16-C485B640AF3D}"/>
              </a:ext>
            </a:extLst>
          </p:cNvPr>
          <p:cNvSpPr/>
          <p:nvPr/>
        </p:nvSpPr>
        <p:spPr>
          <a:xfrm>
            <a:off x="3340537" y="4754809"/>
            <a:ext cx="7122319" cy="132150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8100">
            <a:solidFill>
              <a:srgbClr val="00B050"/>
            </a:solidFill>
          </a:ln>
        </p:spPr>
        <p:txBody>
          <a:bodyPr wrap="square" lIns="200000" tIns="150000" rIns="200000" bIns="150000" anchor="ctr"/>
          <a:lstStyle/>
          <a:p>
            <a:pPr marL="0" indent="0" algn="l">
              <a:lnSpc>
                <a:spcPts val="2400"/>
              </a:lnSpc>
              <a:buNone/>
            </a:pPr>
            <a:endParaRPr lang="ru-RU" sz="1400" dirty="0">
              <a:solidFill>
                <a:srgbClr val="4A4A4A"/>
              </a:solidFill>
              <a:latin typeface="Roboto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465F5F9-CA94-0885-E61E-2B44E95F9B0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3887" y="0"/>
            <a:ext cx="14626513" cy="823178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44357" y="156485"/>
            <a:ext cx="7137797" cy="1169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3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Актуальность </a:t>
            </a:r>
            <a:r>
              <a:rPr lang="ru-RU" sz="3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темы </a:t>
            </a:r>
            <a:r>
              <a:rPr lang="en-US" sz="3750" dirty="0" err="1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и</a:t>
            </a:r>
            <a:r>
              <a:rPr lang="en-US" sz="3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endParaRPr lang="ru-RU" sz="3750" dirty="0">
              <a:solidFill>
                <a:srgbClr val="3257B8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  <a:p>
            <a:pPr marL="0" indent="0" algn="ctr">
              <a:lnSpc>
                <a:spcPts val="4700"/>
              </a:lnSpc>
              <a:buNone/>
            </a:pPr>
            <a:r>
              <a:rPr lang="ru-RU" sz="3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</a:rPr>
              <a:t>Проблематика исследования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3340537" y="1795983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 err="1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Проблема</a:t>
            </a:r>
            <a:r>
              <a:rPr lang="ru-RU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тика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3514725" y="2163827"/>
            <a:ext cx="9961169" cy="851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ru-RU" sz="1600" dirty="0">
                <a:latin typeface=""/>
                <a:ea typeface="Roboto Slab Black" pitchFamily="2" charset="0"/>
              </a:rPr>
              <a:t>Крупный нефтяной холдинг получает всю входящую корреспонденцию в один общий почтовый ящик.</a:t>
            </a:r>
          </a:p>
          <a:p>
            <a:pPr marL="0" indent="0" algn="l">
              <a:lnSpc>
                <a:spcPts val="2200"/>
              </a:lnSpc>
              <a:buNone/>
            </a:pPr>
            <a:r>
              <a:rPr lang="en-US" sz="1500" dirty="0" err="1">
                <a:solidFill>
                  <a:srgbClr val="15213F"/>
                </a:solidFill>
                <a:latin typeface=""/>
                <a:ea typeface="Roboto Slab Black" pitchFamily="2" charset="0"/>
                <a:cs typeface="Roboto" pitchFamily="34" charset="-120"/>
              </a:rPr>
              <a:t>Ручная</a:t>
            </a:r>
            <a:r>
              <a:rPr lang="en-US" sz="1500" dirty="0">
                <a:solidFill>
                  <a:srgbClr val="15213F"/>
                </a:solidFill>
                <a:latin typeface=""/>
                <a:ea typeface="Roboto Slab Black" pitchFamily="2" charset="0"/>
                <a:cs typeface="Roboto" pitchFamily="34" charset="-120"/>
              </a:rPr>
              <a:t> маршрутизация по </a:t>
            </a:r>
            <a:r>
              <a:rPr lang="en-US" sz="1500" dirty="0" err="1">
                <a:solidFill>
                  <a:srgbClr val="15213F"/>
                </a:solidFill>
                <a:latin typeface=""/>
                <a:ea typeface="Roboto Slab Black" pitchFamily="2" charset="0"/>
                <a:cs typeface="Roboto" pitchFamily="34" charset="-120"/>
              </a:rPr>
              <a:t>подразделениям</a:t>
            </a:r>
            <a:r>
              <a:rPr lang="en-US" sz="1500" dirty="0">
                <a:solidFill>
                  <a:srgbClr val="15213F"/>
                </a:solidFill>
                <a:latin typeface=""/>
                <a:ea typeface="Roboto Slab Black" pitchFamily="2" charset="0"/>
                <a:cs typeface="Roboto" pitchFamily="34" charset="-120"/>
              </a:rPr>
              <a:t> </a:t>
            </a:r>
            <a:r>
              <a:rPr lang="en-US" sz="1500" dirty="0" err="1">
                <a:solidFill>
                  <a:srgbClr val="15213F"/>
                </a:solidFill>
                <a:latin typeface=""/>
                <a:ea typeface="Roboto Slab Black" pitchFamily="2" charset="0"/>
                <a:cs typeface="Roboto" pitchFamily="34" charset="-120"/>
              </a:rPr>
              <a:t>трудоёмка</a:t>
            </a:r>
            <a:r>
              <a:rPr lang="en-US" sz="1500" dirty="0">
                <a:solidFill>
                  <a:srgbClr val="15213F"/>
                </a:solidFill>
                <a:latin typeface=""/>
                <a:ea typeface="Roboto Slab Black" pitchFamily="2" charset="0"/>
                <a:cs typeface="Roboto" pitchFamily="34" charset="-120"/>
              </a:rPr>
              <a:t>, </a:t>
            </a:r>
            <a:r>
              <a:rPr lang="ru-RU" sz="1500" dirty="0">
                <a:solidFill>
                  <a:srgbClr val="15213F"/>
                </a:solidFill>
                <a:latin typeface=""/>
                <a:ea typeface="Roboto Slab Black" pitchFamily="2" charset="0"/>
                <a:cs typeface="Roboto" pitchFamily="34" charset="-120"/>
              </a:rPr>
              <a:t>может </a:t>
            </a:r>
            <a:r>
              <a:rPr lang="en-US" sz="1500" dirty="0" err="1">
                <a:solidFill>
                  <a:srgbClr val="15213F"/>
                </a:solidFill>
                <a:latin typeface=""/>
                <a:ea typeface="Roboto Slab Black" pitchFamily="2" charset="0"/>
                <a:cs typeface="Roboto" pitchFamily="34" charset="-120"/>
              </a:rPr>
              <a:t>приводит</a:t>
            </a:r>
            <a:r>
              <a:rPr lang="ru-RU" sz="1500" dirty="0">
                <a:solidFill>
                  <a:srgbClr val="15213F"/>
                </a:solidFill>
                <a:latin typeface=""/>
                <a:ea typeface="Roboto Slab Black" pitchFamily="2" charset="0"/>
                <a:cs typeface="Roboto" pitchFamily="34" charset="-120"/>
              </a:rPr>
              <a:t>ь</a:t>
            </a:r>
            <a:r>
              <a:rPr lang="en-US" sz="1500" dirty="0">
                <a:solidFill>
                  <a:srgbClr val="15213F"/>
                </a:solidFill>
                <a:latin typeface=""/>
                <a:ea typeface="Roboto Slab Black" pitchFamily="2" charset="0"/>
                <a:cs typeface="Roboto" pitchFamily="34" charset="-120"/>
              </a:rPr>
              <a:t> к потерям корреспонденции </a:t>
            </a:r>
            <a:r>
              <a:rPr lang="en-US" sz="1500" dirty="0" err="1">
                <a:solidFill>
                  <a:srgbClr val="15213F"/>
                </a:solidFill>
                <a:latin typeface=""/>
                <a:ea typeface="Roboto Slab Black" pitchFamily="2" charset="0"/>
                <a:cs typeface="Roboto" pitchFamily="34" charset="-120"/>
              </a:rPr>
              <a:t>и</a:t>
            </a:r>
            <a:r>
              <a:rPr lang="en-US" sz="1500" dirty="0">
                <a:solidFill>
                  <a:srgbClr val="15213F"/>
                </a:solidFill>
                <a:latin typeface=""/>
                <a:ea typeface="Roboto Slab Black" pitchFamily="2" charset="0"/>
                <a:cs typeface="Roboto" pitchFamily="34" charset="-120"/>
              </a:rPr>
              <a:t> </a:t>
            </a:r>
            <a:r>
              <a:rPr lang="en-US" sz="1500" dirty="0" err="1">
                <a:solidFill>
                  <a:srgbClr val="15213F"/>
                </a:solidFill>
                <a:latin typeface=""/>
                <a:ea typeface="Roboto Slab Black" pitchFamily="2" charset="0"/>
                <a:cs typeface="Roboto" pitchFamily="34" charset="-120"/>
              </a:rPr>
              <a:t>задержкам</a:t>
            </a:r>
            <a:r>
              <a:rPr lang="ru-RU" sz="1500" dirty="0">
                <a:solidFill>
                  <a:srgbClr val="15213F"/>
                </a:solidFill>
                <a:latin typeface=""/>
                <a:ea typeface="Roboto Slab Black" pitchFamily="2" charset="0"/>
                <a:cs typeface="Roboto" pitchFamily="34" charset="-120"/>
              </a:rPr>
              <a:t> доставки до адресата</a:t>
            </a:r>
            <a:r>
              <a:rPr lang="en-US" sz="1500" dirty="0">
                <a:solidFill>
                  <a:srgbClr val="15213F"/>
                </a:solidFill>
                <a:latin typeface=""/>
                <a:ea typeface="Roboto Slab Black" pitchFamily="2" charset="0"/>
                <a:cs typeface="Roboto" pitchFamily="34" charset="-120"/>
              </a:rPr>
              <a:t>.</a:t>
            </a:r>
            <a:endParaRPr lang="en-US" sz="1500" dirty="0">
              <a:latin typeface=""/>
              <a:ea typeface="Roboto Slab Black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514725" y="3516618"/>
            <a:ext cx="7063935" cy="1196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200"/>
              </a:lnSpc>
            </a:pPr>
            <a:r>
              <a:rPr lang="ru-RU" sz="15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Большие языковые модели</a:t>
            </a:r>
            <a:r>
              <a:rPr lang="ru-RU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</a:t>
            </a:r>
          </a:p>
          <a:p>
            <a:pPr algn="l">
              <a:lnSpc>
                <a:spcPts val="2200"/>
              </a:lnSpc>
            </a:pPr>
            <a:r>
              <a:rPr lang="ru-RU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</a:t>
            </a:r>
            <a:r>
              <a:rPr lang="ru-RU" sz="1600" dirty="0">
                <a:latin typeface=""/>
                <a:ea typeface="Roboto Slab Black" pitchFamily="2" charset="0"/>
              </a:rPr>
              <a:t>на старте имеют глубокое понимание языка и специфики отрасли;</a:t>
            </a:r>
          </a:p>
          <a:p>
            <a:pPr algn="l">
              <a:lnSpc>
                <a:spcPts val="2200"/>
              </a:lnSpc>
            </a:pPr>
            <a:r>
              <a:rPr lang="ru-RU" sz="1600" dirty="0">
                <a:latin typeface=""/>
                <a:ea typeface="Roboto Slab Black" pitchFamily="2" charset="0"/>
              </a:rPr>
              <a:t>      крупные модели могут справляться с задачами без дообучения</a:t>
            </a:r>
            <a:r>
              <a:rPr lang="en-US" sz="1600" dirty="0">
                <a:latin typeface=""/>
                <a:ea typeface="Roboto Slab Black" pitchFamily="2" charset="0"/>
              </a:rPr>
              <a:t>;</a:t>
            </a:r>
            <a:endParaRPr lang="ru-RU" sz="1600" dirty="0">
              <a:latin typeface=""/>
              <a:ea typeface="Roboto Slab Black" pitchFamily="2" charset="0"/>
            </a:endParaRPr>
          </a:p>
          <a:p>
            <a:pPr algn="l">
              <a:lnSpc>
                <a:spcPts val="2200"/>
              </a:lnSpc>
            </a:pPr>
            <a:r>
              <a:rPr lang="ru-RU" sz="1600" dirty="0">
                <a:latin typeface=""/>
                <a:ea typeface="Roboto Slab Black" pitchFamily="2" charset="0"/>
              </a:rPr>
              <a:t>      дорогие в </a:t>
            </a:r>
            <a:r>
              <a:rPr lang="ru-RU" sz="1600" dirty="0" err="1">
                <a:latin typeface=""/>
                <a:ea typeface="Roboto Slab Black" pitchFamily="2" charset="0"/>
              </a:rPr>
              <a:t>инференсе</a:t>
            </a:r>
            <a:r>
              <a:rPr lang="ru-RU" sz="1600" dirty="0">
                <a:latin typeface=""/>
                <a:ea typeface="Roboto Slab Black" pitchFamily="2" charset="0"/>
              </a:rPr>
              <a:t> и дообучении.</a:t>
            </a:r>
            <a:endParaRPr lang="en-US" sz="1600" dirty="0">
              <a:latin typeface=""/>
              <a:ea typeface="Roboto Slab Black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392642" y="3215389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ru-RU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Актуальность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3504843" y="4800882"/>
            <a:ext cx="5410557" cy="1478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00"/>
              </a:lnSpc>
            </a:pPr>
            <a:r>
              <a:rPr lang="ru-RU" sz="15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Исследование 1</a:t>
            </a:r>
            <a:r>
              <a:rPr lang="ru-RU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</a:t>
            </a:r>
          </a:p>
          <a:p>
            <a:pPr>
              <a:lnSpc>
                <a:spcPts val="2200"/>
              </a:lnSpc>
            </a:pPr>
            <a:r>
              <a:rPr lang="ru-RU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Задача</a:t>
            </a: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</a:t>
            </a:r>
            <a:r>
              <a:rPr lang="ru-RU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Классификация 20 новостных групп. </a:t>
            </a: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ru-RU" sz="1500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>
              <a:lnSpc>
                <a:spcPts val="2200"/>
              </a:lnSpc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Fine</a:t>
            </a:r>
            <a:r>
              <a:rPr lang="ru-RU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</a:t>
            </a: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tunning Llama </a:t>
            </a:r>
            <a:r>
              <a:rPr lang="ru-RU" sz="15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превзошла</a:t>
            </a:r>
            <a:r>
              <a:rPr lang="ru-RU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ru-RU" sz="15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RoBERTa-base</a:t>
            </a:r>
            <a:r>
              <a:rPr lang="ru-RU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и </a:t>
            </a:r>
          </a:p>
          <a:p>
            <a:pPr>
              <a:lnSpc>
                <a:spcPts val="2200"/>
              </a:lnSpc>
            </a:pPr>
            <a:r>
              <a:rPr lang="ru-RU" sz="15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RoBERTa-large</a:t>
            </a:r>
            <a:endParaRPr lang="en-US" sz="1500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905024A5-2E6B-479E-9445-943452F4A1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31339" y="3784473"/>
            <a:ext cx="299561" cy="299561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28F0919E-77AD-47BC-8511-7245BF7100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31744" y="4093408"/>
            <a:ext cx="299561" cy="299561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12B61E80-BF31-42B0-895E-FA06335419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31338" y="4383012"/>
            <a:ext cx="299561" cy="299561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21BEDE79-20AB-4AE0-8DE3-3C44C2D57F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65860" y="3160043"/>
            <a:ext cx="476588" cy="476588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20458756-3D7B-41CF-ADB8-390C275682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65860" y="1721807"/>
            <a:ext cx="449580" cy="44958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296369AC-E4EE-AF30-614B-67BA17CBA0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16869" y="4800882"/>
            <a:ext cx="1234853" cy="1234853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C29BB0B3-8FA8-72DD-2406-F9808A80C6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16869" y="6325624"/>
            <a:ext cx="1234853" cy="1234853"/>
          </a:xfrm>
          <a:prstGeom prst="rect">
            <a:avLst/>
          </a:prstGeom>
        </p:spPr>
      </p:pic>
      <p:sp>
        <p:nvSpPr>
          <p:cNvPr id="21" name="Text 8">
            <a:extLst>
              <a:ext uri="{FF2B5EF4-FFF2-40B4-BE49-F238E27FC236}">
                <a16:creationId xmlns:a16="http://schemas.microsoft.com/office/drawing/2014/main" id="{33B096F0-458C-59AC-FA4D-954B6CA26D6D}"/>
              </a:ext>
            </a:extLst>
          </p:cNvPr>
          <p:cNvSpPr/>
          <p:nvPr/>
        </p:nvSpPr>
        <p:spPr>
          <a:xfrm>
            <a:off x="3538470" y="6169755"/>
            <a:ext cx="5612025" cy="1370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00"/>
              </a:lnSpc>
            </a:pPr>
            <a:r>
              <a:rPr lang="ru-RU" sz="15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Исследование 2</a:t>
            </a:r>
            <a:r>
              <a:rPr lang="ru-RU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</a:t>
            </a:r>
          </a:p>
          <a:p>
            <a:pPr>
              <a:lnSpc>
                <a:spcPts val="2200"/>
              </a:lnSpc>
            </a:pPr>
            <a:r>
              <a:rPr lang="ru-RU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Задача</a:t>
            </a: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</a:t>
            </a:r>
            <a:r>
              <a:rPr lang="ru-RU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Классификация </a:t>
            </a: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605</a:t>
            </a:r>
            <a:r>
              <a:rPr lang="ru-RU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новостных меток на несбалансированном датасете.</a:t>
            </a:r>
          </a:p>
          <a:p>
            <a:pPr>
              <a:lnSpc>
                <a:spcPts val="2200"/>
              </a:lnSpc>
            </a:pPr>
            <a:r>
              <a:rPr lang="ru-RU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Модели </a:t>
            </a: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QWEN</a:t>
            </a:r>
            <a:r>
              <a:rPr lang="ru-RU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дообученные через </a:t>
            </a: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Lora</a:t>
            </a:r>
            <a:r>
              <a:rPr lang="ru-RU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ru-RU" sz="15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уступают</a:t>
            </a:r>
            <a:r>
              <a:rPr lang="ru-RU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китайским </a:t>
            </a:r>
            <a:r>
              <a:rPr lang="ru-RU" sz="15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предобученным</a:t>
            </a:r>
            <a:r>
              <a:rPr lang="ru-RU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энкодерам </a:t>
            </a:r>
            <a:r>
              <a:rPr lang="en-US" sz="15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bert</a:t>
            </a:r>
            <a:r>
              <a:rPr lang="ru-RU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и </a:t>
            </a: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www-</a:t>
            </a:r>
            <a:r>
              <a:rPr lang="en-US" sz="15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bert</a:t>
            </a:r>
            <a:r>
              <a:rPr lang="ru-RU" sz="1500" dirty="0"/>
              <a:t>.</a:t>
            </a:r>
            <a:endParaRPr lang="en-US" sz="1500" dirty="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0D3CD19A-8B69-C6B0-1B05-F0701E5ADECA}"/>
              </a:ext>
            </a:extLst>
          </p:cNvPr>
          <p:cNvSpPr/>
          <p:nvPr/>
        </p:nvSpPr>
        <p:spPr>
          <a:xfrm>
            <a:off x="14337506" y="7924864"/>
            <a:ext cx="292894" cy="304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ru-RU" sz="1850" dirty="0">
                <a:latin typeface="Roboto Slab" pitchFamily="34" charset="0"/>
                <a:ea typeface="Roboto Slab" pitchFamily="34" charset="-122"/>
              </a:rPr>
              <a:t>1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Done1BG">
            <a:extLst>
              <a:ext uri="{FF2B5EF4-FFF2-40B4-BE49-F238E27FC236}">
                <a16:creationId xmlns:a16="http://schemas.microsoft.com/office/drawing/2014/main" id="{C90FC044-52A7-D410-36EF-D338019193E2}"/>
              </a:ext>
            </a:extLst>
          </p:cNvPr>
          <p:cNvSpPr/>
          <p:nvPr/>
        </p:nvSpPr>
        <p:spPr>
          <a:xfrm>
            <a:off x="7552279" y="3369854"/>
            <a:ext cx="6929437" cy="207907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168CE"/>
            </a:solidFill>
          </a:ln>
        </p:spPr>
        <p:txBody>
          <a:bodyPr wrap="square" lIns="200000" tIns="150000" rIns="200000" bIns="150000" anchor="ctr"/>
          <a:lstStyle/>
          <a:p>
            <a:pPr marL="0" indent="0" algn="ctr">
              <a:lnSpc>
                <a:spcPts val="2400"/>
              </a:lnSpc>
              <a:buNone/>
            </a:pPr>
            <a:endParaRPr lang="ru-RU" sz="1600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32" name="Done1BG">
            <a:extLst>
              <a:ext uri="{FF2B5EF4-FFF2-40B4-BE49-F238E27FC236}">
                <a16:creationId xmlns:a16="http://schemas.microsoft.com/office/drawing/2014/main" id="{17E74464-FCDF-7735-95DA-572F793EBB84}"/>
              </a:ext>
            </a:extLst>
          </p:cNvPr>
          <p:cNvSpPr/>
          <p:nvPr/>
        </p:nvSpPr>
        <p:spPr>
          <a:xfrm>
            <a:off x="7552279" y="5750472"/>
            <a:ext cx="6929437" cy="203154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168CE"/>
            </a:solidFill>
          </a:ln>
        </p:spPr>
        <p:txBody>
          <a:bodyPr wrap="square" lIns="200000" tIns="150000" rIns="200000" bIns="150000" anchor="ctr"/>
          <a:lstStyle/>
          <a:p>
            <a:pPr marL="0" indent="0" algn="ctr">
              <a:lnSpc>
                <a:spcPts val="2400"/>
              </a:lnSpc>
              <a:buNone/>
            </a:pPr>
            <a:endParaRPr lang="ru-RU" sz="1600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9" name="Done1BG">
            <a:extLst>
              <a:ext uri="{FF2B5EF4-FFF2-40B4-BE49-F238E27FC236}">
                <a16:creationId xmlns:a16="http://schemas.microsoft.com/office/drawing/2014/main" id="{96A3591E-654A-4152-F7E6-06BE1426EB88}"/>
              </a:ext>
            </a:extLst>
          </p:cNvPr>
          <p:cNvSpPr/>
          <p:nvPr/>
        </p:nvSpPr>
        <p:spPr>
          <a:xfrm>
            <a:off x="231362" y="3396099"/>
            <a:ext cx="6929437" cy="205283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168CE"/>
            </a:solidFill>
          </a:ln>
        </p:spPr>
        <p:txBody>
          <a:bodyPr wrap="square" lIns="200000" tIns="150000" rIns="200000" bIns="150000" anchor="ctr"/>
          <a:lstStyle/>
          <a:p>
            <a:pPr marL="0" indent="0" algn="ctr">
              <a:lnSpc>
                <a:spcPts val="2400"/>
              </a:lnSpc>
              <a:buNone/>
            </a:pPr>
            <a:endParaRPr lang="ru-RU" sz="1600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6FC109A3-14E9-9E0F-6F62-E08CA922860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t="18959" b="10374"/>
          <a:stretch>
            <a:fillRect/>
          </a:stretch>
        </p:blipFill>
        <p:spPr>
          <a:xfrm>
            <a:off x="44365" y="3564318"/>
            <a:ext cx="7352671" cy="2031546"/>
          </a:xfrm>
          <a:prstGeom prst="rect">
            <a:avLst/>
          </a:prstGeom>
        </p:spPr>
      </p:pic>
      <p:sp>
        <p:nvSpPr>
          <p:cNvPr id="7" name="Todo1BG">
            <a:extLst>
              <a:ext uri="{FF2B5EF4-FFF2-40B4-BE49-F238E27FC236}">
                <a16:creationId xmlns:a16="http://schemas.microsoft.com/office/drawing/2014/main" id="{D494AD1B-2FE7-87FE-5410-3A52F9C0E337}"/>
              </a:ext>
            </a:extLst>
          </p:cNvPr>
          <p:cNvSpPr/>
          <p:nvPr/>
        </p:nvSpPr>
        <p:spPr>
          <a:xfrm>
            <a:off x="600497" y="1162611"/>
            <a:ext cx="13365533" cy="114109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3257B8"/>
            </a:solidFill>
          </a:ln>
        </p:spPr>
        <p:txBody>
          <a:bodyPr wrap="square" lIns="200000" tIns="150000" rIns="200000" bIns="150000" anchor="ctr"/>
          <a:lstStyle/>
          <a:p>
            <a:pPr marL="0" indent="0" algn="l">
              <a:lnSpc>
                <a:spcPts val="2400"/>
              </a:lnSpc>
              <a:buNone/>
            </a:pPr>
            <a:endParaRPr lang="ru-RU" sz="1400" dirty="0">
              <a:solidFill>
                <a:srgbClr val="4A4A4A"/>
              </a:solidFill>
              <a:latin typeface="Roboto"/>
            </a:endParaRPr>
          </a:p>
        </p:txBody>
      </p:sp>
      <p:sp>
        <p:nvSpPr>
          <p:cNvPr id="2" name="Text 9">
            <a:extLst>
              <a:ext uri="{FF2B5EF4-FFF2-40B4-BE49-F238E27FC236}">
                <a16:creationId xmlns:a16="http://schemas.microsoft.com/office/drawing/2014/main" id="{F0012D36-5205-98E6-C3D5-8C3C62C499DB}"/>
              </a:ext>
            </a:extLst>
          </p:cNvPr>
          <p:cNvSpPr/>
          <p:nvPr/>
        </p:nvSpPr>
        <p:spPr>
          <a:xfrm>
            <a:off x="1334413" y="1378029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Цель работы</a:t>
            </a:r>
            <a:endParaRPr lang="en-US" sz="1850" dirty="0"/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8C0FA1CF-A947-3B47-AE76-2A7A988B0CAA}"/>
              </a:ext>
            </a:extLst>
          </p:cNvPr>
          <p:cNvSpPr/>
          <p:nvPr/>
        </p:nvSpPr>
        <p:spPr>
          <a:xfrm>
            <a:off x="3170357" y="1378030"/>
            <a:ext cx="10680986" cy="700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ru-RU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Исследовать применимость методов дообучения больших языковых моделей для решения задачи классификации русскоязычной корреспонденции.</a:t>
            </a:r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B3CB726-D68F-BBF7-7727-C5C906244A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9057" y="1290349"/>
            <a:ext cx="476588" cy="47658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56796AD-F48E-6CC7-D63F-21B8050B59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3307" y="2813494"/>
            <a:ext cx="416173" cy="416173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A512E48E-D80C-26AC-CD0A-75C375BE3CDA}"/>
              </a:ext>
            </a:extLst>
          </p:cNvPr>
          <p:cNvSpPr/>
          <p:nvPr/>
        </p:nvSpPr>
        <p:spPr>
          <a:xfrm>
            <a:off x="3744357" y="156485"/>
            <a:ext cx="7137797" cy="915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ru-RU" sz="3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Цель и задачи</a:t>
            </a: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2D3C0B3-BDDF-9ED4-F03C-E96EC7B5FE4F}"/>
              </a:ext>
            </a:extLst>
          </p:cNvPr>
          <p:cNvSpPr/>
          <p:nvPr/>
        </p:nvSpPr>
        <p:spPr>
          <a:xfrm>
            <a:off x="1386800" y="2882624"/>
            <a:ext cx="1206381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ru-RU" sz="1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Решаемые задачи</a:t>
            </a:r>
            <a:endParaRPr lang="en-US" sz="185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FBBA814D-5635-F9C2-122F-39E90AC37C06}"/>
              </a:ext>
            </a:extLst>
          </p:cNvPr>
          <p:cNvSpPr/>
          <p:nvPr/>
        </p:nvSpPr>
        <p:spPr>
          <a:xfrm>
            <a:off x="14337506" y="7924864"/>
            <a:ext cx="292894" cy="304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ru-RU" sz="1850" dirty="0">
                <a:latin typeface="Roboto Slab" pitchFamily="34" charset="0"/>
                <a:ea typeface="Roboto Slab" pitchFamily="34" charset="-122"/>
              </a:rPr>
              <a:t>2</a:t>
            </a:r>
            <a:endParaRPr lang="en-US" sz="185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4CB488-02E1-CD23-E65B-B4E12CBCC008}"/>
              </a:ext>
            </a:extLst>
          </p:cNvPr>
          <p:cNvSpPr txBox="1"/>
          <p:nvPr/>
        </p:nvSpPr>
        <p:spPr>
          <a:xfrm>
            <a:off x="198267" y="3695575"/>
            <a:ext cx="6920579" cy="380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ru-RU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 Произвести разведочный анализ данных</a:t>
            </a:r>
          </a:p>
        </p:txBody>
      </p:sp>
      <p:sp>
        <p:nvSpPr>
          <p:cNvPr id="23" name="Done1BG">
            <a:extLst>
              <a:ext uri="{FF2B5EF4-FFF2-40B4-BE49-F238E27FC236}">
                <a16:creationId xmlns:a16="http://schemas.microsoft.com/office/drawing/2014/main" id="{C1D7315E-38BC-89DE-1F4E-A81CE4C483EF}"/>
              </a:ext>
            </a:extLst>
          </p:cNvPr>
          <p:cNvSpPr/>
          <p:nvPr/>
        </p:nvSpPr>
        <p:spPr>
          <a:xfrm>
            <a:off x="231360" y="5750473"/>
            <a:ext cx="6929437" cy="203154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4168CE"/>
            </a:solidFill>
          </a:ln>
        </p:spPr>
        <p:txBody>
          <a:bodyPr wrap="square" lIns="200000" tIns="150000" rIns="200000" bIns="150000" anchor="ctr"/>
          <a:lstStyle/>
          <a:p>
            <a:pPr marL="0" indent="0" algn="ctr">
              <a:lnSpc>
                <a:spcPts val="2400"/>
              </a:lnSpc>
              <a:buNone/>
            </a:pPr>
            <a:endParaRPr lang="ru-RU" sz="1600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EB2ED6C-CD0A-B2BD-A48E-DB0641818BF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rcRect t="21307"/>
          <a:stretch>
            <a:fillRect/>
          </a:stretch>
        </p:blipFill>
        <p:spPr>
          <a:xfrm>
            <a:off x="273148" y="6101360"/>
            <a:ext cx="7082940" cy="183076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4463396-5A88-63A6-31CD-5CA88C8C2645}"/>
              </a:ext>
            </a:extLst>
          </p:cNvPr>
          <p:cNvSpPr txBox="1"/>
          <p:nvPr/>
        </p:nvSpPr>
        <p:spPr>
          <a:xfrm>
            <a:off x="240217" y="6120794"/>
            <a:ext cx="6920580" cy="688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>
              <a:lnSpc>
                <a:spcPts val="2400"/>
              </a:lnSpc>
              <a:buAutoNum type="arabicPeriod" startAt="2"/>
            </a:pPr>
            <a:r>
              <a:rPr lang="ru-RU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Разработать пайплайн аугментации данных </a:t>
            </a:r>
          </a:p>
          <a:p>
            <a:pPr algn="ctr">
              <a:lnSpc>
                <a:spcPts val="2400"/>
              </a:lnSpc>
            </a:pPr>
            <a:r>
              <a:rPr lang="ru-RU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для компенсации дисбаланса. </a:t>
            </a:r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60C92C18-AA4D-1147-5478-20D56C22B220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</a:blip>
          <a:srcRect t="52216" b="1324"/>
          <a:stretch>
            <a:fillRect/>
          </a:stretch>
        </p:blipFill>
        <p:spPr>
          <a:xfrm>
            <a:off x="7313255" y="6465119"/>
            <a:ext cx="7190589" cy="1484769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2ADB82BD-F614-4913-101C-1F4917C4304B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</a:blip>
          <a:srcRect t="3746" b="50412"/>
          <a:stretch>
            <a:fillRect/>
          </a:stretch>
        </p:blipFill>
        <p:spPr>
          <a:xfrm>
            <a:off x="7313255" y="3990976"/>
            <a:ext cx="7221878" cy="1460312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124F050-A4FD-F41A-CAD8-0900428B3530}"/>
              </a:ext>
            </a:extLst>
          </p:cNvPr>
          <p:cNvSpPr txBox="1"/>
          <p:nvPr/>
        </p:nvSpPr>
        <p:spPr>
          <a:xfrm>
            <a:off x="7510326" y="3695575"/>
            <a:ext cx="6929437" cy="688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>
              <a:lnSpc>
                <a:spcPts val="2400"/>
              </a:lnSpc>
              <a:buNone/>
            </a:pPr>
            <a:r>
              <a:rPr lang="ru-RU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 Реализовать и проверить эффективность </a:t>
            </a:r>
            <a:r>
              <a:rPr lang="en-US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few-shot</a:t>
            </a:r>
            <a:r>
              <a:rPr lang="ru-RU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классификации </a:t>
            </a:r>
            <a:r>
              <a:rPr lang="en-US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</a:t>
            </a:r>
            <a:r>
              <a:rPr lang="ru-RU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1EB94B-44D2-249B-E326-F2C44937399F}"/>
              </a:ext>
            </a:extLst>
          </p:cNvPr>
          <p:cNvSpPr txBox="1"/>
          <p:nvPr/>
        </p:nvSpPr>
        <p:spPr>
          <a:xfrm>
            <a:off x="7766890" y="6101360"/>
            <a:ext cx="6479612" cy="688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</a:pPr>
            <a:r>
              <a:rPr lang="ru-RU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 Реализовать дообучение </a:t>
            </a:r>
            <a:r>
              <a:rPr lang="en-US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 c </a:t>
            </a:r>
            <a:r>
              <a:rPr lang="ru-RU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помощью 4 методов </a:t>
            </a:r>
            <a:r>
              <a:rPr lang="en-US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PEFT: </a:t>
            </a:r>
            <a:r>
              <a:rPr lang="ru-RU" sz="18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LoRA</a:t>
            </a:r>
            <a:r>
              <a:rPr lang="ru-RU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ru-RU" sz="18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QLoRA</a:t>
            </a:r>
            <a:r>
              <a:rPr lang="ru-RU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ru-RU" sz="18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AdaLoRA</a:t>
            </a:r>
            <a:r>
              <a:rPr lang="ru-RU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ru-RU" sz="18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TinyLoRA</a:t>
            </a:r>
            <a:r>
              <a:rPr lang="ru-RU" sz="18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</a:t>
            </a:r>
            <a:endParaRPr lang="ru-RU" sz="1800" dirty="0">
              <a:solidFill>
                <a:srgbClr val="15213F"/>
              </a:solidFill>
              <a:highlight>
                <a:srgbClr val="FFFF00"/>
              </a:highlight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51441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>
            <a:extLst>
              <a:ext uri="{FF2B5EF4-FFF2-40B4-BE49-F238E27FC236}">
                <a16:creationId xmlns:a16="http://schemas.microsoft.com/office/drawing/2014/main" id="{09A4F964-D1BB-AACA-7295-6B3363B89660}"/>
              </a:ext>
            </a:extLst>
          </p:cNvPr>
          <p:cNvSpPr/>
          <p:nvPr/>
        </p:nvSpPr>
        <p:spPr>
          <a:xfrm>
            <a:off x="1079183" y="540425"/>
            <a:ext cx="9122092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ru-RU" sz="3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Разведочный анализ</a:t>
            </a:r>
            <a:r>
              <a:rPr lang="en-US" sz="3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sz="3550" dirty="0" err="1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корпус</a:t>
            </a:r>
            <a:r>
              <a:rPr lang="ru-RU" sz="3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а</a:t>
            </a:r>
            <a:r>
              <a:rPr lang="en-US" sz="3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sz="3550" dirty="0" err="1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данных</a:t>
            </a:r>
            <a:endParaRPr lang="en-US" sz="355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812E55CA-A358-89D2-3122-72A02DAA916B}"/>
              </a:ext>
            </a:extLst>
          </p:cNvPr>
          <p:cNvSpPr/>
          <p:nvPr/>
        </p:nvSpPr>
        <p:spPr>
          <a:xfrm>
            <a:off x="1079183" y="1450657"/>
            <a:ext cx="4465796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Корпус: </a:t>
            </a: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1 774 письма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36 блоков компании. </a:t>
            </a:r>
            <a:endParaRPr lang="en-US" sz="1400" dirty="0"/>
          </a:p>
        </p:txBody>
      </p:sp>
      <p:sp>
        <p:nvSpPr>
          <p:cNvPr id="18" name="Text 2">
            <a:extLst>
              <a:ext uri="{FF2B5EF4-FFF2-40B4-BE49-F238E27FC236}">
                <a16:creationId xmlns:a16="http://schemas.microsoft.com/office/drawing/2014/main" id="{BDA6E7B7-BB6E-B2DA-714C-88F22C1AC8ED}"/>
              </a:ext>
            </a:extLst>
          </p:cNvPr>
          <p:cNvSpPr/>
          <p:nvPr/>
        </p:nvSpPr>
        <p:spPr>
          <a:xfrm>
            <a:off x="1079183" y="1839992"/>
            <a:ext cx="4465796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Персональные данные заменены плейсхолдерами — имена, организации, даты.</a:t>
            </a:r>
            <a:endParaRPr lang="en-US" sz="140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15D3684D-71C0-CEAC-F7B5-03533097C6C1}"/>
              </a:ext>
            </a:extLst>
          </p:cNvPr>
          <p:cNvSpPr/>
          <p:nvPr/>
        </p:nvSpPr>
        <p:spPr>
          <a:xfrm>
            <a:off x="1079183" y="2503527"/>
            <a:ext cx="2750225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Выявленные проблемы</a:t>
            </a:r>
            <a:endParaRPr lang="en-US" sz="1750" dirty="0"/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DC99010A-493C-1A43-826B-6214590BB863}"/>
              </a:ext>
            </a:extLst>
          </p:cNvPr>
          <p:cNvSpPr/>
          <p:nvPr/>
        </p:nvSpPr>
        <p:spPr>
          <a:xfrm>
            <a:off x="1079183" y="2947868"/>
            <a:ext cx="4465796" cy="1353145"/>
          </a:xfrm>
          <a:prstGeom prst="roundRect">
            <a:avLst>
              <a:gd name="adj" fmla="val 8109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1" name="Image 0" descr="preencoded.png">
            <a:extLst>
              <a:ext uri="{FF2B5EF4-FFF2-40B4-BE49-F238E27FC236}">
                <a16:creationId xmlns:a16="http://schemas.microsoft.com/office/drawing/2014/main" id="{97E56537-4D1C-994A-137C-5D0BD9B75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323" y="2947868"/>
            <a:ext cx="91440" cy="1353145"/>
          </a:xfrm>
          <a:prstGeom prst="rect">
            <a:avLst/>
          </a:prstGeom>
        </p:spPr>
      </p:pic>
      <p:sp>
        <p:nvSpPr>
          <p:cNvPr id="22" name="Text 5">
            <a:extLst>
              <a:ext uri="{FF2B5EF4-FFF2-40B4-BE49-F238E27FC236}">
                <a16:creationId xmlns:a16="http://schemas.microsoft.com/office/drawing/2014/main" id="{4DDD3724-8661-A2B6-D930-E5BE86B4C29F}"/>
              </a:ext>
            </a:extLst>
          </p:cNvPr>
          <p:cNvSpPr/>
          <p:nvPr/>
        </p:nvSpPr>
        <p:spPr>
          <a:xfrm>
            <a:off x="1351359" y="3151465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 дубликатов</a:t>
            </a:r>
            <a:endParaRPr lang="en-US" sz="1750" dirty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03569F4C-1D68-638F-CD6E-92CE791D3A51}"/>
              </a:ext>
            </a:extLst>
          </p:cNvPr>
          <p:cNvSpPr/>
          <p:nvPr/>
        </p:nvSpPr>
        <p:spPr>
          <a:xfrm>
            <a:off x="1351359" y="3577828"/>
            <a:ext cx="3990023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полных + 1 пересекающийся между двумя блоками</a:t>
            </a:r>
            <a:endParaRPr lang="en-US" sz="1400" dirty="0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CAD36D80-B216-F2B2-F3BD-C48FE263A3D0}"/>
              </a:ext>
            </a:extLst>
          </p:cNvPr>
          <p:cNvSpPr/>
          <p:nvPr/>
        </p:nvSpPr>
        <p:spPr>
          <a:xfrm>
            <a:off x="1079183" y="4444960"/>
            <a:ext cx="4465796" cy="1353145"/>
          </a:xfrm>
          <a:prstGeom prst="roundRect">
            <a:avLst>
              <a:gd name="adj" fmla="val 8109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25" name="Image 1" descr="preencoded.png">
            <a:extLst>
              <a:ext uri="{FF2B5EF4-FFF2-40B4-BE49-F238E27FC236}">
                <a16:creationId xmlns:a16="http://schemas.microsoft.com/office/drawing/2014/main" id="{D23EDAB2-93EB-34C1-2D79-57F68E9CB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323" y="4444960"/>
            <a:ext cx="91440" cy="1353145"/>
          </a:xfrm>
          <a:prstGeom prst="rect">
            <a:avLst/>
          </a:prstGeom>
        </p:spPr>
      </p:pic>
      <p:sp>
        <p:nvSpPr>
          <p:cNvPr id="26" name="Text 8">
            <a:extLst>
              <a:ext uri="{FF2B5EF4-FFF2-40B4-BE49-F238E27FC236}">
                <a16:creationId xmlns:a16="http://schemas.microsoft.com/office/drawing/2014/main" id="{CE21F5A8-D8C3-44FB-FDD8-FB04B7CB87E5}"/>
              </a:ext>
            </a:extLst>
          </p:cNvPr>
          <p:cNvSpPr/>
          <p:nvPr/>
        </p:nvSpPr>
        <p:spPr>
          <a:xfrm>
            <a:off x="1351359" y="4648557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19 аномалий</a:t>
            </a:r>
            <a:endParaRPr lang="en-US" sz="1750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80D67959-1FA8-2B60-BBF1-C5CB5695ED62}"/>
              </a:ext>
            </a:extLst>
          </p:cNvPr>
          <p:cNvSpPr/>
          <p:nvPr/>
        </p:nvSpPr>
        <p:spPr>
          <a:xfrm>
            <a:off x="1351359" y="5074920"/>
            <a:ext cx="3990023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Тысячи слов, менее 50 уникальных — циклические повторения фраз</a:t>
            </a:r>
            <a:endParaRPr lang="en-US" sz="1400" dirty="0"/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07590D2B-7082-9E28-7849-4001F0EC3298}"/>
              </a:ext>
            </a:extLst>
          </p:cNvPr>
          <p:cNvSpPr/>
          <p:nvPr/>
        </p:nvSpPr>
        <p:spPr>
          <a:xfrm>
            <a:off x="7546165" y="1893838"/>
            <a:ext cx="3462457" cy="34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Дисбаланс классов по блокам</a:t>
            </a:r>
            <a:endParaRPr lang="en-US" sz="2800" dirty="0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3A683FAE-664F-EE79-0FDF-73A121A1756D}"/>
              </a:ext>
            </a:extLst>
          </p:cNvPr>
          <p:cNvSpPr/>
          <p:nvPr/>
        </p:nvSpPr>
        <p:spPr>
          <a:xfrm>
            <a:off x="10797774" y="2945665"/>
            <a:ext cx="93464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</a:t>
            </a:r>
            <a:endParaRPr lang="en-US" sz="650" dirty="0"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46A4C2D9-D9A9-A6FE-08D7-0C5A282D1268}"/>
              </a:ext>
            </a:extLst>
          </p:cNvPr>
          <p:cNvSpPr/>
          <p:nvPr/>
        </p:nvSpPr>
        <p:spPr>
          <a:xfrm>
            <a:off x="10797774" y="3832633"/>
            <a:ext cx="93464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</a:t>
            </a:r>
            <a:endParaRPr lang="en-US" sz="650" dirty="0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0B1CEC40-51CA-4AE1-8221-14833EB53437}"/>
              </a:ext>
            </a:extLst>
          </p:cNvPr>
          <p:cNvSpPr/>
          <p:nvPr/>
        </p:nvSpPr>
        <p:spPr>
          <a:xfrm>
            <a:off x="12135846" y="4719601"/>
            <a:ext cx="93464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8</a:t>
            </a:r>
            <a:endParaRPr lang="en-US" sz="650" dirty="0"/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DD19A796-E6A7-844E-C988-431F9B876953}"/>
              </a:ext>
            </a:extLst>
          </p:cNvPr>
          <p:cNvSpPr/>
          <p:nvPr/>
        </p:nvSpPr>
        <p:spPr>
          <a:xfrm>
            <a:off x="10797774" y="5606569"/>
            <a:ext cx="93464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6</a:t>
            </a:r>
            <a:endParaRPr lang="en-US" sz="650" dirty="0"/>
          </a:p>
        </p:txBody>
      </p:sp>
      <p:sp>
        <p:nvSpPr>
          <p:cNvPr id="4" name="Shape 7">
            <a:extLst>
              <a:ext uri="{FF2B5EF4-FFF2-40B4-BE49-F238E27FC236}">
                <a16:creationId xmlns:a16="http://schemas.microsoft.com/office/drawing/2014/main" id="{BC49932F-FCFD-D655-2F86-CCBEF6BBB20C}"/>
              </a:ext>
            </a:extLst>
          </p:cNvPr>
          <p:cNvSpPr/>
          <p:nvPr/>
        </p:nvSpPr>
        <p:spPr>
          <a:xfrm>
            <a:off x="1124903" y="5954050"/>
            <a:ext cx="4465796" cy="1353145"/>
          </a:xfrm>
          <a:prstGeom prst="roundRect">
            <a:avLst>
              <a:gd name="adj" fmla="val 8109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ECB6A212-B300-E169-18B2-5FA7323E1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323" y="5954049"/>
            <a:ext cx="91440" cy="1353145"/>
          </a:xfrm>
          <a:prstGeom prst="rect">
            <a:avLst/>
          </a:prstGeom>
        </p:spPr>
      </p:pic>
      <p:sp>
        <p:nvSpPr>
          <p:cNvPr id="7" name="Text 16">
            <a:extLst>
              <a:ext uri="{FF2B5EF4-FFF2-40B4-BE49-F238E27FC236}">
                <a16:creationId xmlns:a16="http://schemas.microsoft.com/office/drawing/2014/main" id="{10FFE2A7-1399-4B0B-C3D6-91642E77E011}"/>
              </a:ext>
            </a:extLst>
          </p:cNvPr>
          <p:cNvSpPr/>
          <p:nvPr/>
        </p:nvSpPr>
        <p:spPr>
          <a:xfrm>
            <a:off x="1293148" y="6087970"/>
            <a:ext cx="4366131" cy="1085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10 </a:t>
            </a:r>
            <a:r>
              <a:rPr lang="en-US" sz="1750" dirty="0" err="1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блоков</a:t>
            </a:r>
            <a:r>
              <a:rPr lang="en-US" sz="17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endParaRPr lang="ru-RU" sz="1750" dirty="0">
              <a:solidFill>
                <a:srgbClr val="15213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содержат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менее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10 </a:t>
            </a:r>
            <a:r>
              <a:rPr lang="en-US" sz="14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примеров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Крупнейший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блок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</a:t>
            </a: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249 </a:t>
            </a:r>
            <a:r>
              <a:rPr lang="en-US" sz="1400" b="1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писем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</a:t>
            </a:r>
            <a:endParaRPr lang="ru-RU" sz="1400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000"/>
              </a:lnSpc>
              <a:buNone/>
            </a:pPr>
            <a:r>
              <a:rPr lang="en-US" sz="14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Минимум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</a:t>
            </a:r>
            <a:r>
              <a:rPr lang="en-US" sz="14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</a:t>
            </a:r>
            <a:r>
              <a:rPr lang="en-US" sz="1400" b="1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письма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D2CA7F-ADB7-66D1-10D2-AD4E7BBFE4D6}"/>
              </a:ext>
            </a:extLst>
          </p:cNvPr>
          <p:cNvSpPr txBox="1"/>
          <p:nvPr/>
        </p:nvSpPr>
        <p:spPr>
          <a:xfrm>
            <a:off x="10709693" y="327105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chemeClr val="bg1"/>
                </a:solidFill>
                <a:latin typeface="Candara" panose="020E0502030303020204" pitchFamily="34" charset="0"/>
              </a:rPr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2E438A-5342-AB26-7CF4-98AC82DAA7CE}"/>
              </a:ext>
            </a:extLst>
          </p:cNvPr>
          <p:cNvSpPr txBox="1"/>
          <p:nvPr/>
        </p:nvSpPr>
        <p:spPr>
          <a:xfrm>
            <a:off x="10738996" y="3857578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chemeClr val="bg1"/>
                </a:solidFill>
                <a:latin typeface="Candara" panose="020E0502030303020204" pitchFamily="34" charset="0"/>
              </a:rPr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717BCF-AAD3-D205-9325-DB24BD2F0C73}"/>
              </a:ext>
            </a:extLst>
          </p:cNvPr>
          <p:cNvSpPr txBox="1"/>
          <p:nvPr/>
        </p:nvSpPr>
        <p:spPr>
          <a:xfrm>
            <a:off x="11851298" y="4483113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chemeClr val="bg1"/>
                </a:solidFill>
                <a:latin typeface="Candara" panose="020E0502030303020204" pitchFamily="34" charset="0"/>
              </a:rPr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4B729B-C2D9-6155-EE66-D348D0387583}"/>
              </a:ext>
            </a:extLst>
          </p:cNvPr>
          <p:cNvSpPr txBox="1"/>
          <p:nvPr/>
        </p:nvSpPr>
        <p:spPr>
          <a:xfrm>
            <a:off x="10756425" y="5115287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chemeClr val="bg1"/>
                </a:solidFill>
                <a:latin typeface="Candara" panose="020E0502030303020204" pitchFamily="34" charset="0"/>
              </a:rPr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0314DE-BC45-5982-44B6-E2ACC0C9472A}"/>
              </a:ext>
            </a:extLst>
          </p:cNvPr>
          <p:cNvSpPr txBox="1"/>
          <p:nvPr/>
        </p:nvSpPr>
        <p:spPr>
          <a:xfrm>
            <a:off x="12920623" y="5720410"/>
            <a:ext cx="32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chemeClr val="bg1"/>
                </a:solidFill>
                <a:latin typeface="Candara" panose="020E0502030303020204" pitchFamily="34" charset="0"/>
              </a:rPr>
              <a:t>10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16462D4-6A52-40A7-A0AC-9939E5404E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583" y="2558868"/>
            <a:ext cx="7649194" cy="393611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59E7C329-D3AB-4FF6-B6E4-99F03F306C20}"/>
              </a:ext>
            </a:extLst>
          </p:cNvPr>
          <p:cNvSpPr txBox="1"/>
          <p:nvPr/>
        </p:nvSpPr>
        <p:spPr>
          <a:xfrm>
            <a:off x="13082687" y="3191442"/>
            <a:ext cx="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"/>
              </a:rPr>
              <a:t>6 </a:t>
            </a:r>
            <a:r>
              <a:rPr lang="ru-RU" sz="1200" dirty="0">
                <a:solidFill>
                  <a:schemeClr val="bg1"/>
                </a:solidFill>
                <a:latin typeface=""/>
              </a:rPr>
              <a:t>блоков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B48EB31-09DA-4628-8BE3-0B9C748E85C3}"/>
              </a:ext>
            </a:extLst>
          </p:cNvPr>
          <p:cNvSpPr txBox="1"/>
          <p:nvPr/>
        </p:nvSpPr>
        <p:spPr>
          <a:xfrm>
            <a:off x="11734527" y="3601800"/>
            <a:ext cx="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"/>
              </a:rPr>
              <a:t>6 </a:t>
            </a:r>
            <a:r>
              <a:rPr lang="ru-RU" sz="1200" dirty="0">
                <a:solidFill>
                  <a:schemeClr val="bg1"/>
                </a:solidFill>
                <a:latin typeface=""/>
              </a:rPr>
              <a:t>блоков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2A27F0-FAFC-424C-8E58-7EC6D5D77D8C}"/>
              </a:ext>
            </a:extLst>
          </p:cNvPr>
          <p:cNvSpPr txBox="1"/>
          <p:nvPr/>
        </p:nvSpPr>
        <p:spPr>
          <a:xfrm>
            <a:off x="10356893" y="4818848"/>
            <a:ext cx="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  <a:latin typeface=""/>
              </a:rPr>
              <a:t>8</a:t>
            </a:r>
            <a:r>
              <a:rPr lang="en-US" sz="1200" dirty="0">
                <a:solidFill>
                  <a:schemeClr val="bg1"/>
                </a:solidFill>
                <a:latin typeface=""/>
              </a:rPr>
              <a:t> </a:t>
            </a:r>
            <a:r>
              <a:rPr lang="ru-RU" sz="1200" dirty="0">
                <a:solidFill>
                  <a:schemeClr val="bg1"/>
                </a:solidFill>
                <a:latin typeface=""/>
              </a:rPr>
              <a:t>блоков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663A2A8-6C82-4A9E-B2CC-90EEAE19DEFD}"/>
              </a:ext>
            </a:extLst>
          </p:cNvPr>
          <p:cNvSpPr txBox="1"/>
          <p:nvPr/>
        </p:nvSpPr>
        <p:spPr>
          <a:xfrm>
            <a:off x="8958219" y="5368283"/>
            <a:ext cx="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"/>
              </a:rPr>
              <a:t>6 </a:t>
            </a:r>
            <a:r>
              <a:rPr lang="ru-RU" sz="1200" dirty="0">
                <a:latin typeface=""/>
              </a:rPr>
              <a:t>блоков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B4444D-5725-4263-A8C9-47242CD74626}"/>
              </a:ext>
            </a:extLst>
          </p:cNvPr>
          <p:cNvSpPr txBox="1"/>
          <p:nvPr/>
        </p:nvSpPr>
        <p:spPr>
          <a:xfrm>
            <a:off x="7574177" y="5566068"/>
            <a:ext cx="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b="1" dirty="0">
                <a:latin typeface=""/>
              </a:rPr>
              <a:t>10</a:t>
            </a:r>
            <a:r>
              <a:rPr lang="en-US" sz="1200" dirty="0">
                <a:latin typeface=""/>
              </a:rPr>
              <a:t> </a:t>
            </a:r>
            <a:r>
              <a:rPr lang="ru-RU" sz="1200" dirty="0">
                <a:latin typeface=""/>
              </a:rPr>
              <a:t>блоков</a:t>
            </a: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6B5775EA-5C8F-4BB0-BAB6-C55A526E848F}"/>
              </a:ext>
            </a:extLst>
          </p:cNvPr>
          <p:cNvCxnSpPr>
            <a:cxnSpLocks/>
          </p:cNvCxnSpPr>
          <p:nvPr/>
        </p:nvCxnSpPr>
        <p:spPr>
          <a:xfrm flipV="1">
            <a:off x="7546165" y="5643563"/>
            <a:ext cx="0" cy="310486"/>
          </a:xfrm>
          <a:prstGeom prst="line">
            <a:avLst/>
          </a:prstGeom>
          <a:ln w="38100" cap="rnd" cmpd="sng">
            <a:solidFill>
              <a:srgbClr val="CF4C5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E512A0C6-8E5F-4028-9CB2-9206B6AFDC9E}"/>
              </a:ext>
            </a:extLst>
          </p:cNvPr>
          <p:cNvCxnSpPr>
            <a:cxnSpLocks/>
          </p:cNvCxnSpPr>
          <p:nvPr/>
        </p:nvCxnSpPr>
        <p:spPr>
          <a:xfrm>
            <a:off x="7546165" y="5618733"/>
            <a:ext cx="762016" cy="0"/>
          </a:xfrm>
          <a:prstGeom prst="line">
            <a:avLst/>
          </a:prstGeom>
          <a:ln w="38100" cap="rnd">
            <a:solidFill>
              <a:srgbClr val="CF4C5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>
            <a:extLst>
              <a:ext uri="{FF2B5EF4-FFF2-40B4-BE49-F238E27FC236}">
                <a16:creationId xmlns:a16="http://schemas.microsoft.com/office/drawing/2014/main" id="{18907090-29AF-4143-A376-9147718DD5D6}"/>
              </a:ext>
            </a:extLst>
          </p:cNvPr>
          <p:cNvCxnSpPr>
            <a:cxnSpLocks/>
          </p:cNvCxnSpPr>
          <p:nvPr/>
        </p:nvCxnSpPr>
        <p:spPr>
          <a:xfrm flipH="1">
            <a:off x="8307789" y="5639753"/>
            <a:ext cx="392" cy="314296"/>
          </a:xfrm>
          <a:prstGeom prst="line">
            <a:avLst/>
          </a:prstGeom>
          <a:ln w="38100" cap="rnd">
            <a:solidFill>
              <a:srgbClr val="CF4C5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38371706-B7EE-4E50-B2E9-E662AB5E2DB7}"/>
              </a:ext>
            </a:extLst>
          </p:cNvPr>
          <p:cNvCxnSpPr>
            <a:cxnSpLocks/>
          </p:cNvCxnSpPr>
          <p:nvPr/>
        </p:nvCxnSpPr>
        <p:spPr>
          <a:xfrm flipV="1">
            <a:off x="8921777" y="5329267"/>
            <a:ext cx="0" cy="624782"/>
          </a:xfrm>
          <a:prstGeom prst="line">
            <a:avLst/>
          </a:prstGeom>
          <a:ln w="38100" cap="rnd" cmpd="sng">
            <a:solidFill>
              <a:srgbClr val="CF4C5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1" name="Прямая соединительная линия 50">
            <a:extLst>
              <a:ext uri="{FF2B5EF4-FFF2-40B4-BE49-F238E27FC236}">
                <a16:creationId xmlns:a16="http://schemas.microsoft.com/office/drawing/2014/main" id="{88B60EB5-3878-44FB-9646-EB98A0C06343}"/>
              </a:ext>
            </a:extLst>
          </p:cNvPr>
          <p:cNvCxnSpPr>
            <a:cxnSpLocks/>
          </p:cNvCxnSpPr>
          <p:nvPr/>
        </p:nvCxnSpPr>
        <p:spPr>
          <a:xfrm>
            <a:off x="8921777" y="5325457"/>
            <a:ext cx="762016" cy="0"/>
          </a:xfrm>
          <a:prstGeom prst="line">
            <a:avLst/>
          </a:prstGeom>
          <a:ln w="38100" cap="rnd">
            <a:solidFill>
              <a:srgbClr val="CF4C5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2" name="Прямая соединительная линия 51">
            <a:extLst>
              <a:ext uri="{FF2B5EF4-FFF2-40B4-BE49-F238E27FC236}">
                <a16:creationId xmlns:a16="http://schemas.microsoft.com/office/drawing/2014/main" id="{0AE0250F-CBEB-4D57-BADB-9C71115302CA}"/>
              </a:ext>
            </a:extLst>
          </p:cNvPr>
          <p:cNvCxnSpPr>
            <a:cxnSpLocks/>
          </p:cNvCxnSpPr>
          <p:nvPr/>
        </p:nvCxnSpPr>
        <p:spPr>
          <a:xfrm flipH="1">
            <a:off x="9681844" y="5325457"/>
            <a:ext cx="1949" cy="628592"/>
          </a:xfrm>
          <a:prstGeom prst="line">
            <a:avLst/>
          </a:prstGeom>
          <a:ln w="38100" cap="rnd">
            <a:solidFill>
              <a:srgbClr val="CF4C5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3EE4E846-31B0-4B05-9508-38550E893A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12575" y="1589429"/>
            <a:ext cx="733590" cy="733590"/>
          </a:xfrm>
          <a:prstGeom prst="rect">
            <a:avLst/>
          </a:prstGeom>
        </p:spPr>
      </p:pic>
      <p:sp>
        <p:nvSpPr>
          <p:cNvPr id="2" name="Text 7">
            <a:extLst>
              <a:ext uri="{FF2B5EF4-FFF2-40B4-BE49-F238E27FC236}">
                <a16:creationId xmlns:a16="http://schemas.microsoft.com/office/drawing/2014/main" id="{BBBBCC2F-DEA4-814B-A726-D37734D7A0D8}"/>
              </a:ext>
            </a:extLst>
          </p:cNvPr>
          <p:cNvSpPr/>
          <p:nvPr/>
        </p:nvSpPr>
        <p:spPr>
          <a:xfrm>
            <a:off x="14337506" y="7924864"/>
            <a:ext cx="292894" cy="304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ru-RU" sz="1850" dirty="0">
                <a:latin typeface="Roboto Slab" pitchFamily="34" charset="0"/>
                <a:ea typeface="Roboto Slab" pitchFamily="34" charset="-122"/>
              </a:rPr>
              <a:t>3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900286" y="360000"/>
            <a:ext cx="12830000" cy="585337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r>
              <a:rPr lang="ru-RU" sz="3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Очистка данных</a:t>
            </a:r>
            <a:endParaRPr lang="en-US" sz="3600" dirty="0"/>
          </a:p>
          <a:p>
            <a:pPr marL="0" indent="0" algn="l">
              <a:buNone/>
            </a:pPr>
            <a:endParaRPr lang="ru-RU" sz="3550" dirty="0">
              <a:solidFill>
                <a:srgbClr val="3257B8"/>
              </a:solidFill>
              <a:latin typeface="Roboto Slab"/>
            </a:endParaRPr>
          </a:p>
        </p:txBody>
      </p:sp>
      <p:sp>
        <p:nvSpPr>
          <p:cNvPr id="110" name="Card1"/>
          <p:cNvSpPr/>
          <p:nvPr/>
        </p:nvSpPr>
        <p:spPr>
          <a:xfrm>
            <a:off x="900114" y="5300400"/>
            <a:ext cx="4100000" cy="1900000"/>
          </a:xfrm>
          <a:prstGeom prst="roundRect">
            <a:avLst>
              <a:gd name="adj" fmla="val 8000"/>
            </a:avLst>
          </a:prstGeom>
          <a:solidFill>
            <a:srgbClr val="F3F6FC"/>
          </a:solidFill>
          <a:ln w="12700">
            <a:solidFill>
              <a:srgbClr val="D8E0F0"/>
            </a:solidFill>
          </a:ln>
        </p:spPr>
        <p:txBody>
          <a:bodyPr wrap="square" lIns="200000" tIns="200000" rIns="200000" bIns="200000" anchor="t"/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3257B8"/>
                </a:solidFill>
                <a:latin typeface="Roboto"/>
              </a:rPr>
              <a:t>МЕДИАНА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ru-RU" sz="3600" b="1" dirty="0">
                <a:solidFill>
                  <a:srgbClr val="1A1A1A"/>
                </a:solidFill>
                <a:latin typeface="Roboto Slab"/>
              </a:rPr>
              <a:t>152 </a:t>
            </a:r>
            <a:r>
              <a:rPr lang="ru-RU" sz="3600" b="1" dirty="0">
                <a:solidFill>
                  <a:srgbClr val="3257B8"/>
                </a:solidFill>
                <a:latin typeface="Roboto Slab"/>
              </a:rPr>
              <a:t>→ 150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ru-RU" sz="1500" dirty="0">
                <a:solidFill>
                  <a:srgbClr val="4A4A4A"/>
                </a:solidFill>
                <a:latin typeface="Roboto"/>
              </a:rPr>
              <a:t>Типичная длина письма сохранена — информативные тексты не пострадали</a:t>
            </a:r>
          </a:p>
        </p:txBody>
      </p:sp>
      <p:sp>
        <p:nvSpPr>
          <p:cNvPr id="111" name="Card2"/>
          <p:cNvSpPr/>
          <p:nvPr/>
        </p:nvSpPr>
        <p:spPr>
          <a:xfrm>
            <a:off x="5265028" y="5300400"/>
            <a:ext cx="4100000" cy="1900000"/>
          </a:xfrm>
          <a:prstGeom prst="roundRect">
            <a:avLst>
              <a:gd name="adj" fmla="val 8000"/>
            </a:avLst>
          </a:prstGeom>
          <a:solidFill>
            <a:srgbClr val="3257B8"/>
          </a:solidFill>
          <a:ln>
            <a:noFill/>
          </a:ln>
        </p:spPr>
        <p:txBody>
          <a:bodyPr wrap="square" lIns="200000" tIns="200000" rIns="200000" bIns="200000" anchor="t"/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C9D6F0"/>
                </a:solidFill>
                <a:latin typeface="Roboto"/>
              </a:rPr>
              <a:t>МАКСИМУМ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ru-RU" sz="3600" b="1" dirty="0">
                <a:solidFill>
                  <a:srgbClr val="FFFFFF"/>
                </a:solidFill>
                <a:latin typeface="Roboto Slab"/>
              </a:rPr>
              <a:t>7500 </a:t>
            </a:r>
            <a:r>
              <a:rPr lang="ru-RU" sz="3600" b="1" dirty="0">
                <a:solidFill>
                  <a:srgbClr val="FFE29A"/>
                </a:solidFill>
                <a:latin typeface="Roboto Slab"/>
              </a:rPr>
              <a:t>→ 1500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ru-RU" sz="1500" dirty="0">
                <a:solidFill>
                  <a:srgbClr val="E7EDFA"/>
                </a:solidFill>
                <a:latin typeface="Roboto"/>
              </a:rPr>
              <a:t>Максимальная длина сокращена в 5 раз — аномалии убраны</a:t>
            </a:r>
          </a:p>
        </p:txBody>
      </p:sp>
      <p:sp>
        <p:nvSpPr>
          <p:cNvPr id="112" name="Card3"/>
          <p:cNvSpPr/>
          <p:nvPr/>
        </p:nvSpPr>
        <p:spPr>
          <a:xfrm>
            <a:off x="9629942" y="5300400"/>
            <a:ext cx="4100000" cy="1900000"/>
          </a:xfrm>
          <a:prstGeom prst="roundRect">
            <a:avLst>
              <a:gd name="adj" fmla="val 8000"/>
            </a:avLst>
          </a:prstGeom>
          <a:solidFill>
            <a:srgbClr val="F3F6FC"/>
          </a:solidFill>
          <a:ln w="12700">
            <a:solidFill>
              <a:srgbClr val="D8E0F0"/>
            </a:solidFill>
          </a:ln>
        </p:spPr>
        <p:txBody>
          <a:bodyPr wrap="square" lIns="200000" tIns="200000" rIns="200000" bIns="200000" anchor="t"/>
          <a:lstStyle/>
          <a:p>
            <a:pPr marL="0" indent="0" algn="l">
              <a:buNone/>
            </a:pPr>
            <a:r>
              <a:rPr lang="ru-RU" sz="1400" b="1" dirty="0">
                <a:solidFill>
                  <a:srgbClr val="3257B8"/>
                </a:solidFill>
                <a:latin typeface="Roboto"/>
              </a:rPr>
              <a:t>СРЕДНЕЕ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ru-RU" sz="3600" b="1" dirty="0">
                <a:solidFill>
                  <a:srgbClr val="1A1A1A"/>
                </a:solidFill>
                <a:latin typeface="Roboto Slab"/>
              </a:rPr>
              <a:t>274 </a:t>
            </a:r>
            <a:r>
              <a:rPr lang="ru-RU" sz="3600" b="1" dirty="0">
                <a:solidFill>
                  <a:srgbClr val="3257B8"/>
                </a:solidFill>
                <a:latin typeface="Roboto Slab"/>
              </a:rPr>
              <a:t>→ 195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ru-RU" sz="1500" dirty="0">
                <a:solidFill>
                  <a:srgbClr val="4A4A4A"/>
                </a:solidFill>
                <a:latin typeface="Roboto"/>
              </a:rPr>
              <a:t>Среднее приблизилось к медиане — распределение стало более симметричным</a:t>
            </a:r>
          </a:p>
        </p:txBody>
      </p:sp>
      <p:pic>
        <p:nvPicPr>
          <p:cNvPr id="7" name="Рисунок 6" descr="Изображение выглядит как текст, График, линия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574D6E1-9CB2-E84E-9037-D82A1F958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5723" y="1395733"/>
            <a:ext cx="6561675" cy="3759535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линия, График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60AE4B2-487E-9A15-F0BE-F95E0A5BC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14" y="1395733"/>
            <a:ext cx="6561675" cy="3759536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92EAF69-344D-4044-8579-A90A81DEB0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9140" y="824227"/>
            <a:ext cx="455156" cy="455156"/>
          </a:xfrm>
          <a:prstGeom prst="rect">
            <a:avLst/>
          </a:prstGeom>
        </p:spPr>
      </p:pic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643DB6F4-83F6-4B42-BF53-0A1446DCBF90}"/>
              </a:ext>
            </a:extLst>
          </p:cNvPr>
          <p:cNvSpPr/>
          <p:nvPr/>
        </p:nvSpPr>
        <p:spPr>
          <a:xfrm>
            <a:off x="1278116" y="1005810"/>
            <a:ext cx="12799282" cy="259794"/>
          </a:xfrm>
          <a:prstGeom prst="roundRect">
            <a:avLst/>
          </a:prstGeom>
          <a:solidFill>
            <a:srgbClr val="CF4C5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 18">
            <a:extLst>
              <a:ext uri="{FF2B5EF4-FFF2-40B4-BE49-F238E27FC236}">
                <a16:creationId xmlns:a16="http://schemas.microsoft.com/office/drawing/2014/main" id="{96BE9667-56FD-4DE4-9A55-CB1470320456}"/>
              </a:ext>
            </a:extLst>
          </p:cNvPr>
          <p:cNvSpPr/>
          <p:nvPr/>
        </p:nvSpPr>
        <p:spPr>
          <a:xfrm>
            <a:off x="1278116" y="1006879"/>
            <a:ext cx="8948078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ru-RU" sz="1400" dirty="0" err="1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Конвеер</a:t>
            </a:r>
            <a:r>
              <a:rPr lang="ru-RU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clean_text</a:t>
            </a:r>
            <a:r>
              <a:rPr lang="en-US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() </a:t>
            </a:r>
            <a:r>
              <a:rPr lang="ru-RU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</a:t>
            </a:r>
            <a:r>
              <a:rPr lang="en-US" sz="1400" dirty="0" err="1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даляет</a:t>
            </a:r>
            <a:r>
              <a:rPr lang="en-US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повторы слов, фраз, </a:t>
            </a:r>
            <a:r>
              <a:rPr lang="ru-RU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предложений, </a:t>
            </a:r>
            <a:r>
              <a:rPr lang="en-US" sz="1400" dirty="0" err="1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цепочки</a:t>
            </a:r>
            <a:r>
              <a:rPr lang="ru-RU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вида</a:t>
            </a:r>
            <a:r>
              <a:rPr lang="en-US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«</a:t>
            </a:r>
            <a:r>
              <a:rPr lang="en-US" sz="1400" dirty="0" err="1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слово-число</a:t>
            </a:r>
            <a:r>
              <a:rPr lang="en-US" sz="14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»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" name="Text 7">
            <a:extLst>
              <a:ext uri="{FF2B5EF4-FFF2-40B4-BE49-F238E27FC236}">
                <a16:creationId xmlns:a16="http://schemas.microsoft.com/office/drawing/2014/main" id="{0DCF3401-4D6D-254D-9ECA-861DB02B13CE}"/>
              </a:ext>
            </a:extLst>
          </p:cNvPr>
          <p:cNvSpPr/>
          <p:nvPr/>
        </p:nvSpPr>
        <p:spPr>
          <a:xfrm>
            <a:off x="14337506" y="7924864"/>
            <a:ext cx="292894" cy="304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ru-RU" sz="1850" dirty="0">
                <a:latin typeface="Roboto Slab" pitchFamily="34" charset="0"/>
                <a:ea typeface="Roboto Slab" pitchFamily="34" charset="-122"/>
              </a:rPr>
              <a:t>4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80974" y="366371"/>
            <a:ext cx="10826948" cy="488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30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Семантический </a:t>
            </a:r>
            <a:r>
              <a:rPr lang="en-US" sz="3050" dirty="0" err="1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анализ</a:t>
            </a:r>
            <a:endParaRPr lang="en-US" sz="3050" dirty="0"/>
          </a:p>
        </p:txBody>
      </p:sp>
      <p:sp>
        <p:nvSpPr>
          <p:cNvPr id="6" name="Shape 3"/>
          <p:cNvSpPr/>
          <p:nvPr/>
        </p:nvSpPr>
        <p:spPr>
          <a:xfrm>
            <a:off x="435455" y="949287"/>
            <a:ext cx="14021586" cy="798594"/>
          </a:xfrm>
          <a:prstGeom prst="roundRect">
            <a:avLst>
              <a:gd name="adj" fmla="val 6911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4"/>
          <p:cNvSpPr/>
          <p:nvPr/>
        </p:nvSpPr>
        <p:spPr>
          <a:xfrm>
            <a:off x="648815" y="1066485"/>
            <a:ext cx="10252711" cy="245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ru-RU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01. </a:t>
            </a:r>
            <a:r>
              <a:rPr lang="en-US" sz="1500" dirty="0" err="1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Текстовые</a:t>
            </a: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метрики (TTR, RTTR, hapax ratio)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48815" y="1395140"/>
            <a:ext cx="10252711" cy="31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Выделяют лишь крайние группы. ~25 блоков неразличимы — шаблонная деловая лексика выравнивает показатели.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1477210" y="1986861"/>
            <a:ext cx="5892288" cy="1098867"/>
          </a:xfrm>
          <a:prstGeom prst="roundRect">
            <a:avLst>
              <a:gd name="adj" fmla="val 6911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2" name="Text 7"/>
          <p:cNvSpPr/>
          <p:nvPr/>
        </p:nvSpPr>
        <p:spPr>
          <a:xfrm>
            <a:off x="1802965" y="2106021"/>
            <a:ext cx="5103617" cy="488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ru-RU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02. </a:t>
            </a:r>
            <a:r>
              <a:rPr lang="en-US" sz="1500" dirty="0" err="1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Тематическое</a:t>
            </a: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моделирование (LDA, 30 тем)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802965" y="2523247"/>
            <a:ext cx="5341742" cy="488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Темы пересекаются: «договор», «работа», «объект» — во всех классах. Чёткое разграничение невозможно.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115484" y="6055214"/>
            <a:ext cx="6036431" cy="1098867"/>
          </a:xfrm>
          <a:prstGeom prst="roundRect">
            <a:avLst>
              <a:gd name="adj" fmla="val 6911"/>
            </a:avLst>
          </a:prstGeom>
          <a:solidFill>
            <a:srgbClr val="FBFCFE"/>
          </a:solidFill>
          <a:ln w="2286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588" y="5965952"/>
            <a:ext cx="146390" cy="125486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363135" y="6166508"/>
            <a:ext cx="5106985" cy="488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ru-RU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03. </a:t>
            </a:r>
            <a:r>
              <a:rPr lang="en-US" sz="1500" dirty="0" err="1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Кластеризация</a:t>
            </a:r>
            <a:r>
              <a:rPr lang="en-US" sz="15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(SBERT → UMAP → HDBSCAN)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7363135" y="6587163"/>
            <a:ext cx="4653195" cy="633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83,6% писем</a:t>
            </a: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(1 468 из 1 755) — единый диффузный кластер. Только 6 малых кластеров имеют выраженную специфику.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7622196" y="7478332"/>
            <a:ext cx="6806312" cy="482149"/>
          </a:xfrm>
          <a:prstGeom prst="roundRect">
            <a:avLst>
              <a:gd name="adj" fmla="val 2454"/>
            </a:avLst>
          </a:prstGeom>
          <a:solidFill>
            <a:srgbClr val="D4E5F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524" y="7627878"/>
            <a:ext cx="210993" cy="18407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964910" y="7609018"/>
            <a:ext cx="6120883" cy="20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 err="1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Вывод</a:t>
            </a:r>
            <a:r>
              <a:rPr lang="en-US" sz="1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</a:t>
            </a:r>
            <a:r>
              <a:rPr lang="ru-RU" sz="12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ru-RU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 данном этапе </a:t>
            </a:r>
            <a:r>
              <a:rPr lang="en-US" sz="1200" dirty="0" err="1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классы</a:t>
            </a: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ru-RU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тематически и </a:t>
            </a:r>
            <a:r>
              <a:rPr lang="en-US" sz="1200" dirty="0" err="1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семантически</a:t>
            </a: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неразделимы</a:t>
            </a: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200" dirty="0"/>
          </a:p>
        </p:txBody>
      </p:sp>
      <p:pic>
        <p:nvPicPr>
          <p:cNvPr id="25" name="Рисунок 24" descr="Изображение выглядит как снимок экрана, диаграмма, текс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9A0171F-A2CE-B915-3FD1-DF348BD6D5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2502" y="1867864"/>
            <a:ext cx="6916006" cy="4014800"/>
          </a:xfrm>
          <a:prstGeom prst="rect">
            <a:avLst/>
          </a:prstGeom>
          <a:ln w="57150">
            <a:solidFill>
              <a:srgbClr val="4168CE"/>
            </a:solidFill>
          </a:ln>
        </p:spPr>
      </p:pic>
      <p:pic>
        <p:nvPicPr>
          <p:cNvPr id="29" name="Рисунок 28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26176D1-A184-BF9B-CCF2-967D0AEAF4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235" y="3862839"/>
            <a:ext cx="6911038" cy="4097642"/>
          </a:xfrm>
          <a:prstGeom prst="rect">
            <a:avLst/>
          </a:prstGeom>
          <a:ln w="57150">
            <a:solidFill>
              <a:srgbClr val="4168CE"/>
            </a:solidFill>
          </a:ln>
        </p:spPr>
      </p:pic>
      <p:pic>
        <p:nvPicPr>
          <p:cNvPr id="30" name="Image 3" descr="preencoded.png">
            <a:extLst>
              <a:ext uri="{FF2B5EF4-FFF2-40B4-BE49-F238E27FC236}">
                <a16:creationId xmlns:a16="http://schemas.microsoft.com/office/drawing/2014/main" id="{D4CEDB15-CDDB-93A9-FE02-F0B92B4BD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694" y="1897296"/>
            <a:ext cx="172572" cy="1254862"/>
          </a:xfrm>
          <a:prstGeom prst="rect">
            <a:avLst/>
          </a:prstGeom>
        </p:spPr>
      </p:pic>
      <p:pic>
        <p:nvPicPr>
          <p:cNvPr id="31" name="Image 3" descr="preencoded.png">
            <a:extLst>
              <a:ext uri="{FF2B5EF4-FFF2-40B4-BE49-F238E27FC236}">
                <a16:creationId xmlns:a16="http://schemas.microsoft.com/office/drawing/2014/main" id="{29EC9E80-AAC3-9DF7-A81E-12095C01A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5" y="901378"/>
            <a:ext cx="140140" cy="894412"/>
          </a:xfrm>
          <a:prstGeom prst="rect">
            <a:avLst/>
          </a:prstGeom>
        </p:spPr>
      </p:pic>
      <p:sp>
        <p:nvSpPr>
          <p:cNvPr id="3" name="Text 7">
            <a:extLst>
              <a:ext uri="{FF2B5EF4-FFF2-40B4-BE49-F238E27FC236}">
                <a16:creationId xmlns:a16="http://schemas.microsoft.com/office/drawing/2014/main" id="{D0093D90-BD30-C8A3-ECC6-4BD21145AE54}"/>
              </a:ext>
            </a:extLst>
          </p:cNvPr>
          <p:cNvSpPr/>
          <p:nvPr/>
        </p:nvSpPr>
        <p:spPr>
          <a:xfrm>
            <a:off x="14337506" y="7960076"/>
            <a:ext cx="292894" cy="304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ru-RU" sz="1850" dirty="0">
                <a:latin typeface="Roboto Slab" pitchFamily="34" charset="0"/>
                <a:ea typeface="Roboto Slab" pitchFamily="34" charset="-122"/>
              </a:rPr>
              <a:t>5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7"/>
          <p:cNvSpPr/>
          <p:nvPr/>
        </p:nvSpPr>
        <p:spPr>
          <a:xfrm>
            <a:off x="793790" y="6186726"/>
            <a:ext cx="3515320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Этап 1: LLM-генерация (&lt;15 примеров)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93790" y="6512838"/>
            <a:ext cx="4107418" cy="778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Модель Qwen2.5-32B-AWQ, инференс через vLLM. Стохастичность промптов: 5 случайных примеров на каждый запрос. Oversample 5× с последующей фильтрацией.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26949" y="6212591"/>
            <a:ext cx="3114794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Этап 2: Парафраз (15–34 примера)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5426949" y="6538703"/>
            <a:ext cx="3336353" cy="389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LLM-переформулировка. Циклический выбор источников — равномерное использование оригиналов.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743003" y="6186726"/>
            <a:ext cx="3135630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Этап 3: Обратный перевод (35–49)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9743003" y="6512838"/>
            <a:ext cx="4107418" cy="591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NLLB-200-3.3B: рус → англ → рус. NER-плейсхолдеры маскируются тегами </a:t>
            </a:r>
            <a:r>
              <a:rPr lang="en-US" sz="11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&lt;0&gt;</a:t>
            </a: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1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&lt;1&gt;</a:t>
            </a:r>
            <a:r>
              <a:rPr lang="en-US" sz="11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и восстанавливаются после перевода.</a:t>
            </a:r>
            <a:endParaRPr lang="en-US" sz="1150" dirty="0"/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4AEA2B35-A665-2EBB-EBCF-C07EEFFF584E}"/>
              </a:ext>
            </a:extLst>
          </p:cNvPr>
          <p:cNvSpPr/>
          <p:nvPr/>
        </p:nvSpPr>
        <p:spPr>
          <a:xfrm>
            <a:off x="1387506" y="389637"/>
            <a:ext cx="7637849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Трёхэтапная аугментация данных</a:t>
            </a:r>
            <a:endParaRPr lang="en-US" sz="3300" dirty="0"/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006BE90E-418E-76C2-7115-91BA4D143EDD}"/>
              </a:ext>
            </a:extLst>
          </p:cNvPr>
          <p:cNvSpPr/>
          <p:nvPr/>
        </p:nvSpPr>
        <p:spPr>
          <a:xfrm>
            <a:off x="1355368" y="972209"/>
            <a:ext cx="11828959" cy="531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Цель — довести каждый класс до </a:t>
            </a:r>
            <a:r>
              <a:rPr lang="en-US" sz="1650" b="1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минимум 50 примеров</a:t>
            </a:r>
            <a:r>
              <a:rPr lang="en-US" sz="1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. После каждого этапа группы пересчитываются и перераспределяются.</a:t>
            </a:r>
            <a:endParaRPr lang="en-US" sz="1650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A2FDFC5-1EC3-4846-934D-43BD1ED60070}"/>
              </a:ext>
            </a:extLst>
          </p:cNvPr>
          <p:cNvGrpSpPr/>
          <p:nvPr/>
        </p:nvGrpSpPr>
        <p:grpSpPr>
          <a:xfrm>
            <a:off x="528474" y="1621330"/>
            <a:ext cx="11855308" cy="5413205"/>
            <a:chOff x="1571115" y="1779985"/>
            <a:chExt cx="10266947" cy="4406741"/>
          </a:xfrm>
        </p:grpSpPr>
        <p:pic>
          <p:nvPicPr>
            <p:cNvPr id="18" name="Image 0" descr="preencoded.png">
              <a:extLst>
                <a:ext uri="{FF2B5EF4-FFF2-40B4-BE49-F238E27FC236}">
                  <a16:creationId xmlns:a16="http://schemas.microsoft.com/office/drawing/2014/main" id="{B565EBDB-51CE-BB8F-963D-C1857393D4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71115" y="1779985"/>
              <a:ext cx="10266947" cy="4406741"/>
            </a:xfrm>
            <a:prstGeom prst="rect">
              <a:avLst/>
            </a:prstGeom>
          </p:spPr>
        </p:pic>
        <p:sp>
          <p:nvSpPr>
            <p:cNvPr id="19" name="Text 2">
              <a:extLst>
                <a:ext uri="{FF2B5EF4-FFF2-40B4-BE49-F238E27FC236}">
                  <a16:creationId xmlns:a16="http://schemas.microsoft.com/office/drawing/2014/main" id="{315F264E-932A-1414-265D-71D9DB9A451F}"/>
                </a:ext>
              </a:extLst>
            </p:cNvPr>
            <p:cNvSpPr/>
            <p:nvPr/>
          </p:nvSpPr>
          <p:spPr>
            <a:xfrm>
              <a:off x="3530473" y="3792707"/>
              <a:ext cx="1937096" cy="63231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450"/>
                </a:lnSpc>
                <a:buNone/>
              </a:pPr>
              <a:r>
                <a:rPr lang="en-US" sz="195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Генерация с помощью LLM</a:t>
              </a:r>
              <a:endParaRPr lang="en-US" sz="1950" dirty="0"/>
            </a:p>
          </p:txBody>
        </p:sp>
        <p:sp>
          <p:nvSpPr>
            <p:cNvPr id="20" name="Text 3">
              <a:extLst>
                <a:ext uri="{FF2B5EF4-FFF2-40B4-BE49-F238E27FC236}">
                  <a16:creationId xmlns:a16="http://schemas.microsoft.com/office/drawing/2014/main" id="{D0FA460B-B9C1-BBBC-DCFF-6CA787A821C5}"/>
                </a:ext>
              </a:extLst>
            </p:cNvPr>
            <p:cNvSpPr/>
            <p:nvPr/>
          </p:nvSpPr>
          <p:spPr>
            <a:xfrm>
              <a:off x="6373867" y="4108144"/>
              <a:ext cx="1937097" cy="3161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ts val="2450"/>
                </a:lnSpc>
                <a:buNone/>
              </a:pPr>
              <a:r>
                <a:rPr lang="en-US" sz="195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Парафраз</a:t>
              </a:r>
              <a:endParaRPr lang="en-US" sz="1950" dirty="0"/>
            </a:p>
          </p:txBody>
        </p:sp>
        <p:sp>
          <p:nvSpPr>
            <p:cNvPr id="21" name="Text 4">
              <a:extLst>
                <a:ext uri="{FF2B5EF4-FFF2-40B4-BE49-F238E27FC236}">
                  <a16:creationId xmlns:a16="http://schemas.microsoft.com/office/drawing/2014/main" id="{3CD1A68D-255F-7B82-8A9B-932142499C8C}"/>
                </a:ext>
              </a:extLst>
            </p:cNvPr>
            <p:cNvSpPr/>
            <p:nvPr/>
          </p:nvSpPr>
          <p:spPr>
            <a:xfrm>
              <a:off x="9217262" y="4393266"/>
              <a:ext cx="1937096" cy="6323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lnSpc>
                  <a:spcPts val="2450"/>
                </a:lnSpc>
                <a:buNone/>
              </a:pPr>
              <a:r>
                <a:rPr lang="en-US" sz="1950" dirty="0">
                  <a:solidFill>
                    <a:srgbClr val="15213F"/>
                  </a:solidFill>
                  <a:latin typeface="Roboto Slab" pitchFamily="34" charset="0"/>
                  <a:ea typeface="Roboto Slab" pitchFamily="34" charset="-122"/>
                  <a:cs typeface="Roboto Slab" pitchFamily="34" charset="-120"/>
                </a:rPr>
                <a:t>Обратный перевод</a:t>
              </a:r>
              <a:endParaRPr lang="en-US" sz="195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B553535-E124-897E-D3A6-96C537AFC193}"/>
                </a:ext>
              </a:extLst>
            </p:cNvPr>
            <p:cNvSpPr txBox="1"/>
            <p:nvPr/>
          </p:nvSpPr>
          <p:spPr>
            <a:xfrm>
              <a:off x="5361283" y="2972573"/>
              <a:ext cx="4460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chemeClr val="bg1"/>
                  </a:solidFill>
                  <a:latin typeface=""/>
                </a:rPr>
                <a:t>15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65910A1-388A-809A-0D52-0EA6A3FCBA9F}"/>
                </a:ext>
              </a:extLst>
            </p:cNvPr>
            <p:cNvSpPr txBox="1"/>
            <p:nvPr/>
          </p:nvSpPr>
          <p:spPr>
            <a:xfrm>
              <a:off x="8158735" y="2964341"/>
              <a:ext cx="4460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"/>
                </a:rPr>
                <a:t>35</a:t>
              </a:r>
              <a:endParaRPr lang="ru-RU" dirty="0">
                <a:solidFill>
                  <a:schemeClr val="bg1"/>
                </a:solidFill>
                <a:latin typeface="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8BAB388-7B0C-7476-767C-50D52A510482}"/>
                </a:ext>
              </a:extLst>
            </p:cNvPr>
            <p:cNvSpPr txBox="1"/>
            <p:nvPr/>
          </p:nvSpPr>
          <p:spPr>
            <a:xfrm>
              <a:off x="10956187" y="2964341"/>
              <a:ext cx="4460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"/>
                </a:rPr>
                <a:t>50</a:t>
              </a:r>
              <a:endParaRPr lang="ru-RU" dirty="0">
                <a:solidFill>
                  <a:schemeClr val="bg1"/>
                </a:solidFill>
                <a:latin typeface=""/>
              </a:endParaRPr>
            </a:p>
          </p:txBody>
        </p:sp>
      </p:grpSp>
      <p:sp>
        <p:nvSpPr>
          <p:cNvPr id="2" name="Стрелка вправо 1">
            <a:extLst>
              <a:ext uri="{FF2B5EF4-FFF2-40B4-BE49-F238E27FC236}">
                <a16:creationId xmlns:a16="http://schemas.microsoft.com/office/drawing/2014/main" id="{DAA81A96-87BB-F7B5-E451-E9C62D4A56E8}"/>
              </a:ext>
            </a:extLst>
          </p:cNvPr>
          <p:cNvSpPr/>
          <p:nvPr/>
        </p:nvSpPr>
        <p:spPr>
          <a:xfrm>
            <a:off x="4564877" y="6395212"/>
            <a:ext cx="672662" cy="484632"/>
          </a:xfrm>
          <a:prstGeom prst="rightArrow">
            <a:avLst/>
          </a:prstGeom>
          <a:gradFill flip="none" rotWithShape="1">
            <a:gsLst>
              <a:gs pos="0">
                <a:srgbClr val="6A98DD">
                  <a:shade val="30000"/>
                  <a:satMod val="115000"/>
                </a:srgbClr>
              </a:gs>
              <a:gs pos="50000">
                <a:srgbClr val="6A98DD">
                  <a:shade val="67500"/>
                  <a:satMod val="115000"/>
                </a:srgbClr>
              </a:gs>
              <a:gs pos="100000">
                <a:srgbClr val="6A98DD">
                  <a:shade val="100000"/>
                  <a:satMod val="115000"/>
                </a:srgbClr>
              </a:gs>
            </a:gsLst>
            <a:lin ang="27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Стрелка вправо 2">
            <a:extLst>
              <a:ext uri="{FF2B5EF4-FFF2-40B4-BE49-F238E27FC236}">
                <a16:creationId xmlns:a16="http://schemas.microsoft.com/office/drawing/2014/main" id="{96C21695-A0FC-177B-4564-136BD5D4E52B}"/>
              </a:ext>
            </a:extLst>
          </p:cNvPr>
          <p:cNvSpPr/>
          <p:nvPr/>
        </p:nvSpPr>
        <p:spPr>
          <a:xfrm>
            <a:off x="8883944" y="6443167"/>
            <a:ext cx="672662" cy="484632"/>
          </a:xfrm>
          <a:prstGeom prst="rightArrow">
            <a:avLst/>
          </a:prstGeom>
          <a:gradFill flip="none" rotWithShape="1">
            <a:gsLst>
              <a:gs pos="0">
                <a:srgbClr val="20429F">
                  <a:shade val="30000"/>
                  <a:satMod val="115000"/>
                </a:srgbClr>
              </a:gs>
              <a:gs pos="50000">
                <a:srgbClr val="20429F">
                  <a:shade val="67500"/>
                  <a:satMod val="115000"/>
                </a:srgbClr>
              </a:gs>
              <a:gs pos="100000">
                <a:srgbClr val="20429F">
                  <a:shade val="100000"/>
                  <a:satMod val="115000"/>
                </a:srgbClr>
              </a:gs>
            </a:gsLst>
            <a:lin ang="81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82B38B18-615F-81AB-4F27-B8161D0D1911}"/>
              </a:ext>
            </a:extLst>
          </p:cNvPr>
          <p:cNvSpPr/>
          <p:nvPr/>
        </p:nvSpPr>
        <p:spPr>
          <a:xfrm>
            <a:off x="14337506" y="7924864"/>
            <a:ext cx="292894" cy="304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ru-RU" sz="1850" dirty="0">
                <a:latin typeface="Roboto Slab" pitchFamily="34" charset="0"/>
                <a:ea typeface="Roboto Slab" pitchFamily="34" charset="-122"/>
              </a:rPr>
              <a:t>6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">
            <a:extLst>
              <a:ext uri="{FF2B5EF4-FFF2-40B4-BE49-F238E27FC236}">
                <a16:creationId xmlns:a16="http://schemas.microsoft.com/office/drawing/2014/main" id="{391863DC-FA61-7F3A-CAE5-3BFD5ECD1FCA}"/>
              </a:ext>
            </a:extLst>
          </p:cNvPr>
          <p:cNvSpPr/>
          <p:nvPr/>
        </p:nvSpPr>
        <p:spPr>
          <a:xfrm>
            <a:off x="793790" y="360000"/>
            <a:ext cx="13000000" cy="700000"/>
          </a:xfrm>
          <a:prstGeom prst="rect">
            <a:avLst/>
          </a:prstGeom>
          <a:noFill/>
          <a:ln/>
        </p:spPr>
        <p:txBody>
          <a:bodyPr wrap="none" lIns="0" tIns="0" rIns="0" bIns="0" anchor="t"/>
          <a:lstStyle/>
          <a:p>
            <a:pPr marL="0" indent="0" algn="l">
              <a:buNone/>
            </a:pPr>
            <a:r>
              <a:rPr lang="ru-RU" sz="3550" dirty="0">
                <a:solidFill>
                  <a:srgbClr val="3257B8"/>
                </a:solidFill>
                <a:latin typeface="Roboto Slab" pitchFamily="34" charset="0"/>
              </a:rPr>
              <a:t>Система валидации и LLM-судья</a:t>
            </a:r>
          </a:p>
        </p:txBody>
      </p:sp>
      <p:sp>
        <p:nvSpPr>
          <p:cNvPr id="31" name="LeftSub">
            <a:extLst>
              <a:ext uri="{FF2B5EF4-FFF2-40B4-BE49-F238E27FC236}">
                <a16:creationId xmlns:a16="http://schemas.microsoft.com/office/drawing/2014/main" id="{8CA3291C-FF10-6DFC-C2F0-42CC5A934C42}"/>
              </a:ext>
            </a:extLst>
          </p:cNvPr>
          <p:cNvSpPr/>
          <p:nvPr/>
        </p:nvSpPr>
        <p:spPr>
          <a:xfrm>
            <a:off x="793790" y="1100000"/>
            <a:ext cx="6500000" cy="350000"/>
          </a:xfrm>
          <a:prstGeom prst="rect">
            <a:avLst/>
          </a:prstGeom>
          <a:noFill/>
          <a:ln/>
        </p:spPr>
        <p:txBody>
          <a:bodyPr wrap="square" lIns="0" tIns="0" rIns="0" bIns="0" anchor="b"/>
          <a:lstStyle/>
          <a:p>
            <a:pPr marL="0" indent="0" algn="l">
              <a:buNone/>
            </a:pPr>
            <a:r>
              <a:rPr lang="ru-RU" sz="1800" b="1" dirty="0">
                <a:solidFill>
                  <a:srgbClr val="1A2D6B"/>
                </a:solidFill>
                <a:latin typeface="Roboto"/>
              </a:rPr>
              <a:t>🛡 Уровень 1 — 7 детерминированных фильтров</a:t>
            </a:r>
          </a:p>
        </p:txBody>
      </p:sp>
      <p:sp>
        <p:nvSpPr>
          <p:cNvPr id="32" name="Num01">
            <a:extLst>
              <a:ext uri="{FF2B5EF4-FFF2-40B4-BE49-F238E27FC236}">
                <a16:creationId xmlns:a16="http://schemas.microsoft.com/office/drawing/2014/main" id="{007A7F82-3844-2BFC-5F50-EBCE329D6CB3}"/>
              </a:ext>
            </a:extLst>
          </p:cNvPr>
          <p:cNvSpPr/>
          <p:nvPr/>
        </p:nvSpPr>
        <p:spPr>
          <a:xfrm>
            <a:off x="900000" y="1580000"/>
            <a:ext cx="520000" cy="520000"/>
          </a:xfrm>
          <a:prstGeom prst="ellipse">
            <a:avLst/>
          </a:prstGeom>
          <a:solidFill>
            <a:srgbClr val="3257B8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ru-RU" sz="1600" b="1" dirty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33" name="Label01">
            <a:extLst>
              <a:ext uri="{FF2B5EF4-FFF2-40B4-BE49-F238E27FC236}">
                <a16:creationId xmlns:a16="http://schemas.microsoft.com/office/drawing/2014/main" id="{7F332B19-D568-56CC-0A84-A0448F52306A}"/>
              </a:ext>
            </a:extLst>
          </p:cNvPr>
          <p:cNvSpPr/>
          <p:nvPr/>
        </p:nvSpPr>
        <p:spPr>
          <a:xfrm>
            <a:off x="1600000" y="1500000"/>
            <a:ext cx="3000000" cy="700000"/>
          </a:xfrm>
          <a:prstGeom prst="rect">
            <a:avLst/>
          </a:prstGeom>
          <a:noFill/>
          <a:ln/>
        </p:spPr>
        <p:txBody>
          <a:bodyPr wrap="square" lIns="50000" tIns="0" rIns="50000" bIns="0" anchor="ctr"/>
          <a:lstStyle/>
          <a:p>
            <a:pPr marL="0" indent="0" algn="l">
              <a:buNone/>
            </a:pPr>
            <a:r>
              <a:rPr lang="ru-RU" sz="1500" b="1" dirty="0">
                <a:solidFill>
                  <a:srgbClr val="1A2D6B"/>
                </a:solidFill>
                <a:latin typeface="Roboto"/>
              </a:rPr>
              <a:t>Точные дубликаты</a:t>
            </a:r>
          </a:p>
        </p:txBody>
      </p:sp>
      <p:sp>
        <p:nvSpPr>
          <p:cNvPr id="34" name="Detail01">
            <a:extLst>
              <a:ext uri="{FF2B5EF4-FFF2-40B4-BE49-F238E27FC236}">
                <a16:creationId xmlns:a16="http://schemas.microsoft.com/office/drawing/2014/main" id="{85507655-624D-00E6-379F-4EB65448F1FE}"/>
              </a:ext>
            </a:extLst>
          </p:cNvPr>
          <p:cNvSpPr/>
          <p:nvPr/>
        </p:nvSpPr>
        <p:spPr>
          <a:xfrm>
            <a:off x="4800000" y="1500000"/>
            <a:ext cx="2500000" cy="700000"/>
          </a:xfrm>
          <a:prstGeom prst="rect">
            <a:avLst/>
          </a:prstGeom>
          <a:noFill/>
          <a:ln/>
        </p:spPr>
        <p:txBody>
          <a:bodyPr wrap="square" lIns="50000" tIns="0" rIns="50000" bIns="0" anchor="ctr"/>
          <a:lstStyle/>
          <a:p>
            <a:pPr marL="0" indent="0" algn="l">
              <a:buNone/>
            </a:pPr>
            <a:r>
              <a:rPr lang="ru-RU" sz="1300" dirty="0">
                <a:solidFill>
                  <a:srgbClr val="6B7280"/>
                </a:solidFill>
                <a:latin typeface="Roboto"/>
              </a:rPr>
              <a:t>O(1)</a:t>
            </a:r>
          </a:p>
        </p:txBody>
      </p:sp>
      <p:sp>
        <p:nvSpPr>
          <p:cNvPr id="35" name="Sep0">
            <a:extLst>
              <a:ext uri="{FF2B5EF4-FFF2-40B4-BE49-F238E27FC236}">
                <a16:creationId xmlns:a16="http://schemas.microsoft.com/office/drawing/2014/main" id="{F140B693-8F9C-6012-469D-20C61E0A6F1F}"/>
              </a:ext>
            </a:extLst>
          </p:cNvPr>
          <p:cNvSpPr/>
          <p:nvPr/>
        </p:nvSpPr>
        <p:spPr>
          <a:xfrm>
            <a:off x="900000" y="2240000"/>
            <a:ext cx="6300000" cy="0"/>
          </a:xfrm>
          <a:prstGeom prst="line">
            <a:avLst/>
          </a:prstGeom>
          <a:ln w="6350">
            <a:solidFill>
              <a:srgbClr val="E0E4ED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36" name="Num02">
            <a:extLst>
              <a:ext uri="{FF2B5EF4-FFF2-40B4-BE49-F238E27FC236}">
                <a16:creationId xmlns:a16="http://schemas.microsoft.com/office/drawing/2014/main" id="{F272BC93-4B51-5E41-CB28-5D0FD4E4EDEA}"/>
              </a:ext>
            </a:extLst>
          </p:cNvPr>
          <p:cNvSpPr/>
          <p:nvPr/>
        </p:nvSpPr>
        <p:spPr>
          <a:xfrm>
            <a:off x="900000" y="2360000"/>
            <a:ext cx="520000" cy="520000"/>
          </a:xfrm>
          <a:prstGeom prst="ellipse">
            <a:avLst/>
          </a:prstGeom>
          <a:solidFill>
            <a:srgbClr val="3257B8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ru-RU" sz="1600" b="1" dirty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37" name="Label02">
            <a:extLst>
              <a:ext uri="{FF2B5EF4-FFF2-40B4-BE49-F238E27FC236}">
                <a16:creationId xmlns:a16="http://schemas.microsoft.com/office/drawing/2014/main" id="{1E739345-F9BA-B397-B2A8-36B36B1BBE63}"/>
              </a:ext>
            </a:extLst>
          </p:cNvPr>
          <p:cNvSpPr/>
          <p:nvPr/>
        </p:nvSpPr>
        <p:spPr>
          <a:xfrm>
            <a:off x="1600000" y="2280000"/>
            <a:ext cx="3000000" cy="700000"/>
          </a:xfrm>
          <a:prstGeom prst="rect">
            <a:avLst/>
          </a:prstGeom>
          <a:noFill/>
          <a:ln/>
        </p:spPr>
        <p:txBody>
          <a:bodyPr wrap="square" lIns="50000" tIns="0" rIns="50000" bIns="0" anchor="ctr"/>
          <a:lstStyle/>
          <a:p>
            <a:pPr marL="0" indent="0" algn="l">
              <a:buNone/>
            </a:pPr>
            <a:r>
              <a:rPr lang="ru-RU" sz="1500" b="1" dirty="0">
                <a:solidFill>
                  <a:srgbClr val="1A2D6B"/>
                </a:solidFill>
                <a:latin typeface="Roboto"/>
              </a:rPr>
              <a:t>Мин. длина</a:t>
            </a:r>
          </a:p>
        </p:txBody>
      </p:sp>
      <p:sp>
        <p:nvSpPr>
          <p:cNvPr id="38" name="Detail02">
            <a:extLst>
              <a:ext uri="{FF2B5EF4-FFF2-40B4-BE49-F238E27FC236}">
                <a16:creationId xmlns:a16="http://schemas.microsoft.com/office/drawing/2014/main" id="{E5C6C5CD-FE46-206A-6D53-9544CBCD7EED}"/>
              </a:ext>
            </a:extLst>
          </p:cNvPr>
          <p:cNvSpPr/>
          <p:nvPr/>
        </p:nvSpPr>
        <p:spPr>
          <a:xfrm>
            <a:off x="4800000" y="2280000"/>
            <a:ext cx="2500000" cy="700000"/>
          </a:xfrm>
          <a:prstGeom prst="rect">
            <a:avLst/>
          </a:prstGeom>
          <a:noFill/>
          <a:ln/>
        </p:spPr>
        <p:txBody>
          <a:bodyPr wrap="square" lIns="50000" tIns="0" rIns="50000" bIns="0" anchor="ctr"/>
          <a:lstStyle/>
          <a:p>
            <a:pPr marL="0" indent="0" algn="l">
              <a:buNone/>
            </a:pPr>
            <a:r>
              <a:rPr lang="ru-RU" sz="1300" dirty="0">
                <a:solidFill>
                  <a:srgbClr val="6B7280"/>
                </a:solidFill>
                <a:latin typeface="Roboto"/>
              </a:rPr>
              <a:t>500 символов</a:t>
            </a:r>
          </a:p>
        </p:txBody>
      </p:sp>
      <p:sp>
        <p:nvSpPr>
          <p:cNvPr id="39" name="Sep1">
            <a:extLst>
              <a:ext uri="{FF2B5EF4-FFF2-40B4-BE49-F238E27FC236}">
                <a16:creationId xmlns:a16="http://schemas.microsoft.com/office/drawing/2014/main" id="{2A832AC9-7122-14E9-E93B-9FBEE9A64204}"/>
              </a:ext>
            </a:extLst>
          </p:cNvPr>
          <p:cNvSpPr/>
          <p:nvPr/>
        </p:nvSpPr>
        <p:spPr>
          <a:xfrm>
            <a:off x="900000" y="3020000"/>
            <a:ext cx="6300000" cy="0"/>
          </a:xfrm>
          <a:prstGeom prst="line">
            <a:avLst/>
          </a:prstGeom>
          <a:ln w="6350">
            <a:solidFill>
              <a:srgbClr val="E0E4ED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40" name="Num03">
            <a:extLst>
              <a:ext uri="{FF2B5EF4-FFF2-40B4-BE49-F238E27FC236}">
                <a16:creationId xmlns:a16="http://schemas.microsoft.com/office/drawing/2014/main" id="{4D1D6B0F-5D8A-982F-05A4-725F3835ADA1}"/>
              </a:ext>
            </a:extLst>
          </p:cNvPr>
          <p:cNvSpPr/>
          <p:nvPr/>
        </p:nvSpPr>
        <p:spPr>
          <a:xfrm>
            <a:off x="900000" y="3140000"/>
            <a:ext cx="520000" cy="520000"/>
          </a:xfrm>
          <a:prstGeom prst="ellipse">
            <a:avLst/>
          </a:prstGeom>
          <a:solidFill>
            <a:srgbClr val="3257B8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ru-RU" sz="1600" b="1" dirty="0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41" name="Label03">
            <a:extLst>
              <a:ext uri="{FF2B5EF4-FFF2-40B4-BE49-F238E27FC236}">
                <a16:creationId xmlns:a16="http://schemas.microsoft.com/office/drawing/2014/main" id="{BCA32BC4-560E-C7A5-85F0-05DE34FE1BEE}"/>
              </a:ext>
            </a:extLst>
          </p:cNvPr>
          <p:cNvSpPr/>
          <p:nvPr/>
        </p:nvSpPr>
        <p:spPr>
          <a:xfrm>
            <a:off x="1600000" y="3060000"/>
            <a:ext cx="3000000" cy="700000"/>
          </a:xfrm>
          <a:prstGeom prst="rect">
            <a:avLst/>
          </a:prstGeom>
          <a:noFill/>
          <a:ln/>
        </p:spPr>
        <p:txBody>
          <a:bodyPr wrap="square" lIns="50000" tIns="0" rIns="50000" bIns="0" anchor="ctr"/>
          <a:lstStyle/>
          <a:p>
            <a:pPr marL="0" indent="0" algn="l">
              <a:buNone/>
            </a:pPr>
            <a:r>
              <a:rPr lang="ru-RU" sz="1500" b="1" dirty="0">
                <a:solidFill>
                  <a:srgbClr val="1A2D6B"/>
                </a:solidFill>
                <a:latin typeface="Roboto"/>
              </a:rPr>
              <a:t>Язык текста</a:t>
            </a:r>
          </a:p>
        </p:txBody>
      </p:sp>
      <p:sp>
        <p:nvSpPr>
          <p:cNvPr id="42" name="Detail03">
            <a:extLst>
              <a:ext uri="{FF2B5EF4-FFF2-40B4-BE49-F238E27FC236}">
                <a16:creationId xmlns:a16="http://schemas.microsoft.com/office/drawing/2014/main" id="{26198256-C90F-654C-3F00-5AADB4869297}"/>
              </a:ext>
            </a:extLst>
          </p:cNvPr>
          <p:cNvSpPr/>
          <p:nvPr/>
        </p:nvSpPr>
        <p:spPr>
          <a:xfrm>
            <a:off x="4800000" y="3060000"/>
            <a:ext cx="2500000" cy="700000"/>
          </a:xfrm>
          <a:prstGeom prst="rect">
            <a:avLst/>
          </a:prstGeom>
          <a:noFill/>
          <a:ln/>
        </p:spPr>
        <p:txBody>
          <a:bodyPr wrap="square" lIns="50000" tIns="0" rIns="50000" bIns="0" anchor="ctr"/>
          <a:lstStyle/>
          <a:p>
            <a:pPr marL="0" indent="0" algn="l">
              <a:buNone/>
            </a:pPr>
            <a:r>
              <a:rPr lang="ru-RU" sz="1300" dirty="0">
                <a:solidFill>
                  <a:srgbClr val="6B7280"/>
                </a:solidFill>
                <a:latin typeface="Roboto"/>
              </a:rPr>
              <a:t>langdetect</a:t>
            </a:r>
          </a:p>
        </p:txBody>
      </p:sp>
      <p:sp>
        <p:nvSpPr>
          <p:cNvPr id="43" name="Sep2">
            <a:extLst>
              <a:ext uri="{FF2B5EF4-FFF2-40B4-BE49-F238E27FC236}">
                <a16:creationId xmlns:a16="http://schemas.microsoft.com/office/drawing/2014/main" id="{E53A28F2-2C5A-2F75-291C-A1A394A3E824}"/>
              </a:ext>
            </a:extLst>
          </p:cNvPr>
          <p:cNvSpPr/>
          <p:nvPr/>
        </p:nvSpPr>
        <p:spPr>
          <a:xfrm>
            <a:off x="900000" y="3800000"/>
            <a:ext cx="6300000" cy="0"/>
          </a:xfrm>
          <a:prstGeom prst="line">
            <a:avLst/>
          </a:prstGeom>
          <a:ln w="6350">
            <a:solidFill>
              <a:srgbClr val="E0E4ED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44" name="Num04">
            <a:extLst>
              <a:ext uri="{FF2B5EF4-FFF2-40B4-BE49-F238E27FC236}">
                <a16:creationId xmlns:a16="http://schemas.microsoft.com/office/drawing/2014/main" id="{52296CCC-B0C3-C78B-C87F-355A7A769574}"/>
              </a:ext>
            </a:extLst>
          </p:cNvPr>
          <p:cNvSpPr/>
          <p:nvPr/>
        </p:nvSpPr>
        <p:spPr>
          <a:xfrm>
            <a:off x="900000" y="3920000"/>
            <a:ext cx="520000" cy="520000"/>
          </a:xfrm>
          <a:prstGeom prst="ellipse">
            <a:avLst/>
          </a:prstGeom>
          <a:solidFill>
            <a:srgbClr val="3257B8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ru-RU" sz="1600" b="1" dirty="0">
                <a:solidFill>
                  <a:srgbClr val="FFFFFF"/>
                </a:solidFill>
                <a:latin typeface="Roboto"/>
              </a:rPr>
              <a:t>04</a:t>
            </a:r>
          </a:p>
        </p:txBody>
      </p:sp>
      <p:sp>
        <p:nvSpPr>
          <p:cNvPr id="45" name="Label04">
            <a:extLst>
              <a:ext uri="{FF2B5EF4-FFF2-40B4-BE49-F238E27FC236}">
                <a16:creationId xmlns:a16="http://schemas.microsoft.com/office/drawing/2014/main" id="{3E1699B3-E89F-B0AE-463E-0C3F60937E4F}"/>
              </a:ext>
            </a:extLst>
          </p:cNvPr>
          <p:cNvSpPr/>
          <p:nvPr/>
        </p:nvSpPr>
        <p:spPr>
          <a:xfrm>
            <a:off x="1600000" y="3840000"/>
            <a:ext cx="3000000" cy="700000"/>
          </a:xfrm>
          <a:prstGeom prst="rect">
            <a:avLst/>
          </a:prstGeom>
          <a:noFill/>
          <a:ln/>
        </p:spPr>
        <p:txBody>
          <a:bodyPr wrap="square" lIns="50000" tIns="0" rIns="50000" bIns="0" anchor="ctr"/>
          <a:lstStyle/>
          <a:p>
            <a:pPr marL="0" indent="0" algn="l">
              <a:buNone/>
            </a:pPr>
            <a:r>
              <a:rPr lang="ru-RU" sz="1500" b="1" dirty="0">
                <a:solidFill>
                  <a:srgbClr val="1A2D6B"/>
                </a:solidFill>
                <a:latin typeface="Roboto"/>
              </a:rPr>
              <a:t>Вырожденные</a:t>
            </a:r>
          </a:p>
        </p:txBody>
      </p:sp>
      <p:sp>
        <p:nvSpPr>
          <p:cNvPr id="46" name="Detail04">
            <a:extLst>
              <a:ext uri="{FF2B5EF4-FFF2-40B4-BE49-F238E27FC236}">
                <a16:creationId xmlns:a16="http://schemas.microsoft.com/office/drawing/2014/main" id="{FC01D934-BB21-D216-6BA3-1B568609D999}"/>
              </a:ext>
            </a:extLst>
          </p:cNvPr>
          <p:cNvSpPr/>
          <p:nvPr/>
        </p:nvSpPr>
        <p:spPr>
          <a:xfrm>
            <a:off x="4800000" y="3840000"/>
            <a:ext cx="2500000" cy="700000"/>
          </a:xfrm>
          <a:prstGeom prst="rect">
            <a:avLst/>
          </a:prstGeom>
          <a:noFill/>
          <a:ln/>
        </p:spPr>
        <p:txBody>
          <a:bodyPr wrap="square" lIns="50000" tIns="0" rIns="50000" bIns="0" anchor="ctr"/>
          <a:lstStyle/>
          <a:p>
            <a:pPr marL="0" indent="0" algn="l">
              <a:buNone/>
            </a:pPr>
            <a:r>
              <a:rPr lang="ru-RU" sz="1300" dirty="0">
                <a:solidFill>
                  <a:srgbClr val="6B7280"/>
                </a:solidFill>
                <a:latin typeface="Roboto"/>
              </a:rPr>
              <a:t>unique ratio &lt;20%</a:t>
            </a:r>
          </a:p>
        </p:txBody>
      </p:sp>
      <p:sp>
        <p:nvSpPr>
          <p:cNvPr id="47" name="Sep3">
            <a:extLst>
              <a:ext uri="{FF2B5EF4-FFF2-40B4-BE49-F238E27FC236}">
                <a16:creationId xmlns:a16="http://schemas.microsoft.com/office/drawing/2014/main" id="{33D7982D-04FD-F70B-5BCF-3060384BD267}"/>
              </a:ext>
            </a:extLst>
          </p:cNvPr>
          <p:cNvSpPr/>
          <p:nvPr/>
        </p:nvSpPr>
        <p:spPr>
          <a:xfrm>
            <a:off x="900000" y="4580000"/>
            <a:ext cx="6300000" cy="0"/>
          </a:xfrm>
          <a:prstGeom prst="line">
            <a:avLst/>
          </a:prstGeom>
          <a:ln w="6350">
            <a:solidFill>
              <a:srgbClr val="E0E4ED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48" name="Num05">
            <a:extLst>
              <a:ext uri="{FF2B5EF4-FFF2-40B4-BE49-F238E27FC236}">
                <a16:creationId xmlns:a16="http://schemas.microsoft.com/office/drawing/2014/main" id="{0DBD2197-C0A6-E60D-DD1B-8E980134D0D8}"/>
              </a:ext>
            </a:extLst>
          </p:cNvPr>
          <p:cNvSpPr/>
          <p:nvPr/>
        </p:nvSpPr>
        <p:spPr>
          <a:xfrm>
            <a:off x="900000" y="4700000"/>
            <a:ext cx="520000" cy="520000"/>
          </a:xfrm>
          <a:prstGeom prst="ellipse">
            <a:avLst/>
          </a:prstGeom>
          <a:solidFill>
            <a:srgbClr val="3257B8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ru-RU" sz="1600" b="1" dirty="0">
                <a:solidFill>
                  <a:srgbClr val="FFFFFF"/>
                </a:solidFill>
                <a:latin typeface="Roboto"/>
              </a:rPr>
              <a:t>05</a:t>
            </a:r>
          </a:p>
        </p:txBody>
      </p:sp>
      <p:sp>
        <p:nvSpPr>
          <p:cNvPr id="49" name="Label05">
            <a:extLst>
              <a:ext uri="{FF2B5EF4-FFF2-40B4-BE49-F238E27FC236}">
                <a16:creationId xmlns:a16="http://schemas.microsoft.com/office/drawing/2014/main" id="{0E475E9B-3680-7FF2-D6D4-7A59AEE042BC}"/>
              </a:ext>
            </a:extLst>
          </p:cNvPr>
          <p:cNvSpPr/>
          <p:nvPr/>
        </p:nvSpPr>
        <p:spPr>
          <a:xfrm>
            <a:off x="1600000" y="4620000"/>
            <a:ext cx="3000000" cy="700000"/>
          </a:xfrm>
          <a:prstGeom prst="rect">
            <a:avLst/>
          </a:prstGeom>
          <a:noFill/>
          <a:ln/>
        </p:spPr>
        <p:txBody>
          <a:bodyPr wrap="square" lIns="50000" tIns="0" rIns="50000" bIns="0" anchor="ctr"/>
          <a:lstStyle/>
          <a:p>
            <a:pPr marL="0" indent="0" algn="l">
              <a:buNone/>
            </a:pPr>
            <a:r>
              <a:rPr lang="ru-RU" sz="1500" b="1" dirty="0">
                <a:solidFill>
                  <a:srgbClr val="1A2D6B"/>
                </a:solidFill>
                <a:latin typeface="Roboto"/>
              </a:rPr>
              <a:t>Иероглифы</a:t>
            </a:r>
          </a:p>
        </p:txBody>
      </p:sp>
      <p:sp>
        <p:nvSpPr>
          <p:cNvPr id="50" name="Detail05">
            <a:extLst>
              <a:ext uri="{FF2B5EF4-FFF2-40B4-BE49-F238E27FC236}">
                <a16:creationId xmlns:a16="http://schemas.microsoft.com/office/drawing/2014/main" id="{199121E7-5AF8-B75B-BD2C-9423DC07531E}"/>
              </a:ext>
            </a:extLst>
          </p:cNvPr>
          <p:cNvSpPr/>
          <p:nvPr/>
        </p:nvSpPr>
        <p:spPr>
          <a:xfrm>
            <a:off x="4800000" y="4620000"/>
            <a:ext cx="2500000" cy="700000"/>
          </a:xfrm>
          <a:prstGeom prst="rect">
            <a:avLst/>
          </a:prstGeom>
          <a:noFill/>
          <a:ln/>
        </p:spPr>
        <p:txBody>
          <a:bodyPr wrap="square" lIns="50000" tIns="0" rIns="50000" bIns="0" anchor="ctr"/>
          <a:lstStyle/>
          <a:p>
            <a:pPr marL="0" indent="0" algn="l">
              <a:buNone/>
            </a:pPr>
            <a:r>
              <a:rPr lang="ru-RU" sz="1300" dirty="0">
                <a:solidFill>
                  <a:srgbClr val="6B7280"/>
                </a:solidFill>
                <a:latin typeface="Roboto"/>
              </a:rPr>
              <a:t>модель Qwen</a:t>
            </a:r>
          </a:p>
        </p:txBody>
      </p:sp>
      <p:sp>
        <p:nvSpPr>
          <p:cNvPr id="51" name="Sep4">
            <a:extLst>
              <a:ext uri="{FF2B5EF4-FFF2-40B4-BE49-F238E27FC236}">
                <a16:creationId xmlns:a16="http://schemas.microsoft.com/office/drawing/2014/main" id="{74B1C253-9271-0186-DE7C-F972615CA58C}"/>
              </a:ext>
            </a:extLst>
          </p:cNvPr>
          <p:cNvSpPr/>
          <p:nvPr/>
        </p:nvSpPr>
        <p:spPr>
          <a:xfrm>
            <a:off x="900000" y="5360000"/>
            <a:ext cx="6300000" cy="0"/>
          </a:xfrm>
          <a:prstGeom prst="line">
            <a:avLst/>
          </a:prstGeom>
          <a:ln w="6350">
            <a:solidFill>
              <a:srgbClr val="E0E4ED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52" name="Num06">
            <a:extLst>
              <a:ext uri="{FF2B5EF4-FFF2-40B4-BE49-F238E27FC236}">
                <a16:creationId xmlns:a16="http://schemas.microsoft.com/office/drawing/2014/main" id="{69D1953E-E606-E9BC-239C-B85F2C23FC0D}"/>
              </a:ext>
            </a:extLst>
          </p:cNvPr>
          <p:cNvSpPr/>
          <p:nvPr/>
        </p:nvSpPr>
        <p:spPr>
          <a:xfrm>
            <a:off x="900000" y="5480000"/>
            <a:ext cx="520000" cy="520000"/>
          </a:xfrm>
          <a:prstGeom prst="ellipse">
            <a:avLst/>
          </a:prstGeom>
          <a:solidFill>
            <a:srgbClr val="3257B8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ru-RU" sz="1600" b="1" dirty="0">
                <a:solidFill>
                  <a:srgbClr val="FFFFFF"/>
                </a:solidFill>
                <a:latin typeface="Roboto"/>
              </a:rPr>
              <a:t>06</a:t>
            </a:r>
          </a:p>
        </p:txBody>
      </p:sp>
      <p:sp>
        <p:nvSpPr>
          <p:cNvPr id="53" name="Label06">
            <a:extLst>
              <a:ext uri="{FF2B5EF4-FFF2-40B4-BE49-F238E27FC236}">
                <a16:creationId xmlns:a16="http://schemas.microsoft.com/office/drawing/2014/main" id="{B9A23B9C-55C1-55D9-01ED-24B0155008D8}"/>
              </a:ext>
            </a:extLst>
          </p:cNvPr>
          <p:cNvSpPr/>
          <p:nvPr/>
        </p:nvSpPr>
        <p:spPr>
          <a:xfrm>
            <a:off x="1600000" y="5400000"/>
            <a:ext cx="3000000" cy="700000"/>
          </a:xfrm>
          <a:prstGeom prst="rect">
            <a:avLst/>
          </a:prstGeom>
          <a:noFill/>
          <a:ln/>
        </p:spPr>
        <p:txBody>
          <a:bodyPr wrap="square" lIns="50000" tIns="0" rIns="50000" bIns="0" anchor="ctr"/>
          <a:lstStyle/>
          <a:p>
            <a:pPr marL="0" indent="0" algn="l">
              <a:buNone/>
            </a:pPr>
            <a:r>
              <a:rPr lang="ru-RU" sz="1500" b="1" dirty="0">
                <a:solidFill>
                  <a:srgbClr val="1A2D6B"/>
                </a:solidFill>
                <a:latin typeface="Roboto"/>
              </a:rPr>
              <a:t>Промпт-утечка</a:t>
            </a:r>
          </a:p>
        </p:txBody>
      </p:sp>
      <p:sp>
        <p:nvSpPr>
          <p:cNvPr id="54" name="Detail06">
            <a:extLst>
              <a:ext uri="{FF2B5EF4-FFF2-40B4-BE49-F238E27FC236}">
                <a16:creationId xmlns:a16="http://schemas.microsoft.com/office/drawing/2014/main" id="{9AE61F25-DE3E-4522-B896-5C2064CF698A}"/>
              </a:ext>
            </a:extLst>
          </p:cNvPr>
          <p:cNvSpPr/>
          <p:nvPr/>
        </p:nvSpPr>
        <p:spPr>
          <a:xfrm>
            <a:off x="4800000" y="5400000"/>
            <a:ext cx="2500000" cy="700000"/>
          </a:xfrm>
          <a:prstGeom prst="rect">
            <a:avLst/>
          </a:prstGeom>
          <a:noFill/>
          <a:ln/>
        </p:spPr>
        <p:txBody>
          <a:bodyPr wrap="square" lIns="50000" tIns="0" rIns="50000" bIns="0" anchor="ctr"/>
          <a:lstStyle/>
          <a:p>
            <a:pPr marL="0" indent="0" algn="l">
              <a:buNone/>
            </a:pPr>
            <a:r>
              <a:rPr lang="ru-RU" sz="1300" dirty="0">
                <a:solidFill>
                  <a:srgbClr val="6B7280"/>
                </a:solidFill>
                <a:latin typeface="Roboto"/>
              </a:rPr>
              <a:t>мета-фразы, markdown</a:t>
            </a:r>
          </a:p>
        </p:txBody>
      </p:sp>
      <p:sp>
        <p:nvSpPr>
          <p:cNvPr id="55" name="Sep5">
            <a:extLst>
              <a:ext uri="{FF2B5EF4-FFF2-40B4-BE49-F238E27FC236}">
                <a16:creationId xmlns:a16="http://schemas.microsoft.com/office/drawing/2014/main" id="{2F8E3F6E-0837-5D25-A499-36FFC9B82E19}"/>
              </a:ext>
            </a:extLst>
          </p:cNvPr>
          <p:cNvSpPr/>
          <p:nvPr/>
        </p:nvSpPr>
        <p:spPr>
          <a:xfrm>
            <a:off x="900000" y="6140000"/>
            <a:ext cx="6300000" cy="0"/>
          </a:xfrm>
          <a:prstGeom prst="line">
            <a:avLst/>
          </a:prstGeom>
          <a:ln w="6350">
            <a:solidFill>
              <a:srgbClr val="E0E4ED"/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56" name="Num07">
            <a:extLst>
              <a:ext uri="{FF2B5EF4-FFF2-40B4-BE49-F238E27FC236}">
                <a16:creationId xmlns:a16="http://schemas.microsoft.com/office/drawing/2014/main" id="{83098D4D-8F94-69D0-3E45-D59714314C93}"/>
              </a:ext>
            </a:extLst>
          </p:cNvPr>
          <p:cNvSpPr/>
          <p:nvPr/>
        </p:nvSpPr>
        <p:spPr>
          <a:xfrm>
            <a:off x="900000" y="6260000"/>
            <a:ext cx="520000" cy="520000"/>
          </a:xfrm>
          <a:prstGeom prst="ellipse">
            <a:avLst/>
          </a:prstGeom>
          <a:solidFill>
            <a:srgbClr val="3257B8"/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ru-RU" sz="1600" b="1" dirty="0">
                <a:solidFill>
                  <a:srgbClr val="FFFFFF"/>
                </a:solidFill>
                <a:latin typeface="Roboto"/>
              </a:rPr>
              <a:t>07</a:t>
            </a:r>
          </a:p>
        </p:txBody>
      </p:sp>
      <p:sp>
        <p:nvSpPr>
          <p:cNvPr id="57" name="Label07">
            <a:extLst>
              <a:ext uri="{FF2B5EF4-FFF2-40B4-BE49-F238E27FC236}">
                <a16:creationId xmlns:a16="http://schemas.microsoft.com/office/drawing/2014/main" id="{32E7CDF2-ECDF-81DB-21BF-199BF85B8183}"/>
              </a:ext>
            </a:extLst>
          </p:cNvPr>
          <p:cNvSpPr/>
          <p:nvPr/>
        </p:nvSpPr>
        <p:spPr>
          <a:xfrm>
            <a:off x="1600000" y="6180000"/>
            <a:ext cx="3000000" cy="700000"/>
          </a:xfrm>
          <a:prstGeom prst="rect">
            <a:avLst/>
          </a:prstGeom>
          <a:noFill/>
          <a:ln/>
        </p:spPr>
        <p:txBody>
          <a:bodyPr wrap="square" lIns="50000" tIns="0" rIns="50000" bIns="0" anchor="ctr"/>
          <a:lstStyle/>
          <a:p>
            <a:pPr marL="0" indent="0" algn="l">
              <a:buNone/>
            </a:pPr>
            <a:r>
              <a:rPr lang="ru-RU" sz="1500" b="1" dirty="0">
                <a:solidFill>
                  <a:srgbClr val="1A2D6B"/>
                </a:solidFill>
                <a:latin typeface="Roboto"/>
              </a:rPr>
              <a:t>SBERT сходство</a:t>
            </a:r>
          </a:p>
        </p:txBody>
      </p:sp>
      <p:sp>
        <p:nvSpPr>
          <p:cNvPr id="58" name="Detail07">
            <a:extLst>
              <a:ext uri="{FF2B5EF4-FFF2-40B4-BE49-F238E27FC236}">
                <a16:creationId xmlns:a16="http://schemas.microsoft.com/office/drawing/2014/main" id="{78CA50E2-5B69-9B10-A37C-B18A203B98CE}"/>
              </a:ext>
            </a:extLst>
          </p:cNvPr>
          <p:cNvSpPr/>
          <p:nvPr/>
        </p:nvSpPr>
        <p:spPr>
          <a:xfrm>
            <a:off x="4800000" y="6180000"/>
            <a:ext cx="2500000" cy="700000"/>
          </a:xfrm>
          <a:prstGeom prst="rect">
            <a:avLst/>
          </a:prstGeom>
          <a:noFill/>
          <a:ln/>
        </p:spPr>
        <p:txBody>
          <a:bodyPr wrap="square" lIns="50000" tIns="0" rIns="50000" bIns="0" anchor="ctr"/>
          <a:lstStyle/>
          <a:p>
            <a:pPr marL="0" indent="0" algn="l">
              <a:buNone/>
            </a:pPr>
            <a:r>
              <a:rPr lang="ru-RU" sz="1300" dirty="0">
                <a:solidFill>
                  <a:srgbClr val="6B7280"/>
                </a:solidFill>
                <a:latin typeface="Roboto"/>
              </a:rPr>
              <a:t>порог 0,5–0,98</a:t>
            </a:r>
          </a:p>
        </p:txBody>
      </p:sp>
      <p:sp>
        <p:nvSpPr>
          <p:cNvPr id="59" name="JudgeBG">
            <a:extLst>
              <a:ext uri="{FF2B5EF4-FFF2-40B4-BE49-F238E27FC236}">
                <a16:creationId xmlns:a16="http://schemas.microsoft.com/office/drawing/2014/main" id="{79C58B93-BD7C-1C6A-B493-A3E0FB2804A8}"/>
              </a:ext>
            </a:extLst>
          </p:cNvPr>
          <p:cNvSpPr/>
          <p:nvPr/>
        </p:nvSpPr>
        <p:spPr>
          <a:xfrm>
            <a:off x="7500000" y="1100000"/>
            <a:ext cx="6336610" cy="6500000"/>
          </a:xfrm>
          <a:prstGeom prst="roundRect">
            <a:avLst>
              <a:gd name="adj" fmla="val 3000"/>
            </a:avLst>
          </a:prstGeom>
          <a:solidFill>
            <a:srgbClr val="3257B8"/>
          </a:solidFill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60" name="JudgeIcon">
            <a:extLst>
              <a:ext uri="{FF2B5EF4-FFF2-40B4-BE49-F238E27FC236}">
                <a16:creationId xmlns:a16="http://schemas.microsoft.com/office/drawing/2014/main" id="{C90F3749-F019-2259-C99C-D679C56F8565}"/>
              </a:ext>
            </a:extLst>
          </p:cNvPr>
          <p:cNvSpPr/>
          <p:nvPr/>
        </p:nvSpPr>
        <p:spPr>
          <a:xfrm>
            <a:off x="7800000" y="1350000"/>
            <a:ext cx="700000" cy="700000"/>
          </a:xfrm>
          <a:prstGeom prst="ellipse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txBody>
          <a:bodyPr wrap="none" lIns="0" tIns="0" rIns="0" bIns="0" anchor="ctr" anchorCtr="1"/>
          <a:lstStyle/>
          <a:p>
            <a:pPr algn="ctr">
              <a:buNone/>
            </a:pPr>
            <a:r>
              <a:rPr lang="ru-RU" sz="2800" dirty="0">
                <a:solidFill>
                  <a:srgbClr val="FFFFFF"/>
                </a:solidFill>
                <a:latin typeface="Roboto"/>
              </a:rPr>
              <a:t>⚖</a:t>
            </a:r>
          </a:p>
        </p:txBody>
      </p:sp>
      <p:sp>
        <p:nvSpPr>
          <p:cNvPr id="61" name="JudgeTitle">
            <a:extLst>
              <a:ext uri="{FF2B5EF4-FFF2-40B4-BE49-F238E27FC236}">
                <a16:creationId xmlns:a16="http://schemas.microsoft.com/office/drawing/2014/main" id="{CA1BB41D-3724-BE91-B0BC-1793B7CEAC5C}"/>
              </a:ext>
            </a:extLst>
          </p:cNvPr>
          <p:cNvSpPr/>
          <p:nvPr/>
        </p:nvSpPr>
        <p:spPr>
          <a:xfrm>
            <a:off x="8650000" y="1350000"/>
            <a:ext cx="4800000" cy="7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ru-RU" sz="2200" b="1" dirty="0">
                <a:solidFill>
                  <a:srgbClr val="FFFFFF"/>
                </a:solidFill>
                <a:latin typeface="Roboto"/>
              </a:rPr>
              <a:t>Уровень 2 — LLM-судья</a:t>
            </a:r>
          </a:p>
          <a:p>
            <a:pPr marL="0" indent="0" algn="l">
              <a:buNone/>
            </a:pPr>
            <a:r>
              <a:rPr lang="ru-RU" sz="1400" dirty="0">
                <a:solidFill>
                  <a:srgbClr val="C9D6F0"/>
                </a:solidFill>
                <a:latin typeface="Roboto"/>
              </a:rPr>
              <a:t>Qwen-32B, temperature=0,1</a:t>
            </a:r>
          </a:p>
        </p:txBody>
      </p:sp>
      <p:sp>
        <p:nvSpPr>
          <p:cNvPr id="62" name="JudgeSep">
            <a:extLst>
              <a:ext uri="{FF2B5EF4-FFF2-40B4-BE49-F238E27FC236}">
                <a16:creationId xmlns:a16="http://schemas.microsoft.com/office/drawing/2014/main" id="{2E12AD5F-D70C-93C1-1BB3-E1F3BA9162E3}"/>
              </a:ext>
            </a:extLst>
          </p:cNvPr>
          <p:cNvSpPr/>
          <p:nvPr/>
        </p:nvSpPr>
        <p:spPr>
          <a:xfrm>
            <a:off x="7800000" y="2250000"/>
            <a:ext cx="5736610" cy="0"/>
          </a:xfrm>
          <a:prstGeom prst="line">
            <a:avLst/>
          </a:prstGeom>
          <a:ln w="9525">
            <a:solidFill>
              <a:srgbClr val="FFFFFF">
                <a:alpha val="3000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63" name="GenLabel">
            <a:extLst>
              <a:ext uri="{FF2B5EF4-FFF2-40B4-BE49-F238E27FC236}">
                <a16:creationId xmlns:a16="http://schemas.microsoft.com/office/drawing/2014/main" id="{A7D62910-18FC-E456-5D00-8F500DAC50E4}"/>
              </a:ext>
            </a:extLst>
          </p:cNvPr>
          <p:cNvSpPr/>
          <p:nvPr/>
        </p:nvSpPr>
        <p:spPr>
          <a:xfrm>
            <a:off x="7800000" y="2400000"/>
            <a:ext cx="5736610" cy="4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ru-RU" sz="1600" b="1" dirty="0">
                <a:solidFill>
                  <a:srgbClr val="FFE29A"/>
                </a:solidFill>
                <a:latin typeface="Roboto"/>
              </a:rPr>
              <a:t>📝 Для генерации:</a:t>
            </a:r>
          </a:p>
        </p:txBody>
      </p:sp>
      <p:sp>
        <p:nvSpPr>
          <p:cNvPr id="64" name="GenCriteria">
            <a:extLst>
              <a:ext uri="{FF2B5EF4-FFF2-40B4-BE49-F238E27FC236}">
                <a16:creationId xmlns:a16="http://schemas.microsoft.com/office/drawing/2014/main" id="{6DB544F6-7CBD-64FE-761D-87018ECFEE19}"/>
              </a:ext>
            </a:extLst>
          </p:cNvPr>
          <p:cNvSpPr/>
          <p:nvPr/>
        </p:nvSpPr>
        <p:spPr>
          <a:xfrm>
            <a:off x="7800000" y="2800000"/>
            <a:ext cx="5736610" cy="1000000"/>
          </a:xfrm>
          <a:prstGeom prst="rect">
            <a:avLst/>
          </a:prstGeom>
          <a:noFill/>
          <a:ln/>
        </p:spPr>
        <p:txBody>
          <a:bodyPr wrap="square" lIns="0" tIns="0" rIns="200000" bIns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ru-RU" sz="1400" dirty="0">
                <a:solidFill>
                  <a:srgbClr val="E7EDFA"/>
                </a:solidFill>
                <a:latin typeface="Roboto"/>
              </a:rPr>
              <a:t>естественность • связность • соответствие классу • полнота</a:t>
            </a:r>
          </a:p>
        </p:txBody>
      </p:sp>
      <p:sp>
        <p:nvSpPr>
          <p:cNvPr id="65" name="ParLabel">
            <a:extLst>
              <a:ext uri="{FF2B5EF4-FFF2-40B4-BE49-F238E27FC236}">
                <a16:creationId xmlns:a16="http://schemas.microsoft.com/office/drawing/2014/main" id="{6FCAEA13-5E80-99DF-2396-478FB2314D5E}"/>
              </a:ext>
            </a:extLst>
          </p:cNvPr>
          <p:cNvSpPr/>
          <p:nvPr/>
        </p:nvSpPr>
        <p:spPr>
          <a:xfrm>
            <a:off x="7800000" y="3700000"/>
            <a:ext cx="5736610" cy="400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ru-RU" sz="1600" b="1" dirty="0">
                <a:solidFill>
                  <a:srgbClr val="FFE29A"/>
                </a:solidFill>
                <a:latin typeface="Roboto"/>
              </a:rPr>
              <a:t>🔄 Для парафраза и обратного перевода:</a:t>
            </a:r>
          </a:p>
        </p:txBody>
      </p:sp>
      <p:sp>
        <p:nvSpPr>
          <p:cNvPr id="66" name="ParCriteria">
            <a:extLst>
              <a:ext uri="{FF2B5EF4-FFF2-40B4-BE49-F238E27FC236}">
                <a16:creationId xmlns:a16="http://schemas.microsoft.com/office/drawing/2014/main" id="{83330D04-0777-8A4B-1673-FA310B5ADDF5}"/>
              </a:ext>
            </a:extLst>
          </p:cNvPr>
          <p:cNvSpPr/>
          <p:nvPr/>
        </p:nvSpPr>
        <p:spPr>
          <a:xfrm>
            <a:off x="7800000" y="4100000"/>
            <a:ext cx="5736610" cy="1000000"/>
          </a:xfrm>
          <a:prstGeom prst="rect">
            <a:avLst/>
          </a:prstGeom>
          <a:noFill/>
          <a:ln/>
        </p:spPr>
        <p:txBody>
          <a:bodyPr wrap="square" lIns="0" tIns="0" rIns="200000" bIns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ru-RU" sz="1400" dirty="0">
                <a:solidFill>
                  <a:srgbClr val="E7EDFA"/>
                </a:solidFill>
                <a:latin typeface="Roboto"/>
              </a:rPr>
              <a:t>сохранение смысла • степень переформулировки • полнота деталей</a:t>
            </a:r>
          </a:p>
        </p:txBody>
      </p:sp>
      <p:sp>
        <p:nvSpPr>
          <p:cNvPr id="67" name="JudgeSep2">
            <a:extLst>
              <a:ext uri="{FF2B5EF4-FFF2-40B4-BE49-F238E27FC236}">
                <a16:creationId xmlns:a16="http://schemas.microsoft.com/office/drawing/2014/main" id="{2C3DD996-D53F-6E20-70DA-B10FAEE51AC5}"/>
              </a:ext>
            </a:extLst>
          </p:cNvPr>
          <p:cNvSpPr/>
          <p:nvPr/>
        </p:nvSpPr>
        <p:spPr>
          <a:xfrm>
            <a:off x="7800000" y="5200000"/>
            <a:ext cx="5736610" cy="0"/>
          </a:xfrm>
          <a:prstGeom prst="line">
            <a:avLst/>
          </a:prstGeom>
          <a:ln w="9525">
            <a:solidFill>
              <a:srgbClr val="FFFFFF">
                <a:alpha val="30000"/>
              </a:srgbClr>
            </a:solidFill>
          </a:ln>
        </p:spPr>
        <p:txBody>
          <a:bodyPr/>
          <a:lstStyle/>
          <a:p>
            <a:endParaRPr lang="ru-RU"/>
          </a:p>
        </p:txBody>
      </p:sp>
      <p:sp>
        <p:nvSpPr>
          <p:cNvPr id="68" name="Threshold">
            <a:extLst>
              <a:ext uri="{FF2B5EF4-FFF2-40B4-BE49-F238E27FC236}">
                <a16:creationId xmlns:a16="http://schemas.microsoft.com/office/drawing/2014/main" id="{FCD962AC-DFE2-6FC2-AED7-475C17E68ADC}"/>
              </a:ext>
            </a:extLst>
          </p:cNvPr>
          <p:cNvSpPr/>
          <p:nvPr/>
        </p:nvSpPr>
        <p:spPr>
          <a:xfrm>
            <a:off x="7800000" y="5350000"/>
            <a:ext cx="5736610" cy="2000000"/>
          </a:xfrm>
          <a:prstGeom prst="rect">
            <a:avLst/>
          </a:prstGeom>
          <a:noFill/>
          <a:ln/>
        </p:spPr>
        <p:txBody>
          <a:bodyPr wrap="square" lIns="0" tIns="0" rIns="200000" bIns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ru-RU" sz="2400" b="1" dirty="0">
                <a:solidFill>
                  <a:srgbClr val="FFFFFF"/>
                </a:solidFill>
                <a:latin typeface="Roboto Slab"/>
              </a:rPr>
              <a:t>Оценка 1–10</a:t>
            </a:r>
          </a:p>
          <a:p>
            <a:pPr marL="0" indent="0" algn="l">
              <a:lnSpc>
                <a:spcPts val="2400"/>
              </a:lnSpc>
              <a:buNone/>
            </a:pPr>
            <a:r>
              <a:rPr lang="ru-RU" sz="1500" dirty="0">
                <a:solidFill>
                  <a:srgbClr val="E7EDFA"/>
                </a:solidFill>
                <a:latin typeface="Roboto"/>
              </a:rPr>
              <a:t>Порог отсечения </a:t>
            </a:r>
            <a:r>
              <a:rPr lang="ru-RU" sz="1500" b="1" dirty="0">
                <a:solidFill>
                  <a:srgbClr val="FFE29A"/>
                </a:solidFill>
                <a:latin typeface="Roboto"/>
              </a:rPr>
              <a:t>5,0</a:t>
            </a:r>
            <a:r>
              <a:rPr lang="ru-RU" sz="1500" dirty="0">
                <a:solidFill>
                  <a:srgbClr val="E7EDFA"/>
                </a:solidFill>
                <a:latin typeface="Roboto"/>
              </a:rPr>
              <a:t> (для обратного перевода — </a:t>
            </a:r>
            <a:r>
              <a:rPr lang="ru-RU" sz="1500" b="1" dirty="0">
                <a:solidFill>
                  <a:srgbClr val="FFE29A"/>
                </a:solidFill>
                <a:latin typeface="Roboto"/>
              </a:rPr>
              <a:t>2,5</a:t>
            </a:r>
            <a:r>
              <a:rPr lang="ru-RU" sz="1500" dirty="0">
                <a:solidFill>
                  <a:srgbClr val="E7EDFA"/>
                </a:solidFill>
                <a:latin typeface="Roboto"/>
              </a:rPr>
              <a:t>)</a:t>
            </a:r>
          </a:p>
          <a:p>
            <a:pPr marL="0" indent="0" algn="l">
              <a:lnSpc>
                <a:spcPts val="2400"/>
              </a:lnSpc>
              <a:spcBef>
                <a:spcPts val="400"/>
              </a:spcBef>
              <a:buNone/>
            </a:pPr>
            <a:r>
              <a:rPr lang="ru-RU" sz="1500">
                <a:solidFill>
                  <a:srgbClr val="E7EDFA"/>
                </a:solidFill>
                <a:latin typeface="Roboto"/>
              </a:rPr>
              <a:t>Из оставшихся </a:t>
            </a:r>
            <a:r>
              <a:rPr lang="ru-RU" sz="1500" dirty="0">
                <a:solidFill>
                  <a:srgbClr val="E7EDFA"/>
                </a:solidFill>
                <a:latin typeface="Roboto"/>
              </a:rPr>
              <a:t>кандидатов отбирается N лучших</a:t>
            </a:r>
          </a:p>
        </p:txBody>
      </p:sp>
      <p:sp>
        <p:nvSpPr>
          <p:cNvPr id="2" name="Text 7">
            <a:extLst>
              <a:ext uri="{FF2B5EF4-FFF2-40B4-BE49-F238E27FC236}">
                <a16:creationId xmlns:a16="http://schemas.microsoft.com/office/drawing/2014/main" id="{3C8045CB-BB13-741F-21E0-6DD6A33B8F6D}"/>
              </a:ext>
            </a:extLst>
          </p:cNvPr>
          <p:cNvSpPr/>
          <p:nvPr/>
        </p:nvSpPr>
        <p:spPr>
          <a:xfrm>
            <a:off x="14337506" y="7924864"/>
            <a:ext cx="292894" cy="304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ru-RU" sz="1850" dirty="0">
                <a:latin typeface="Roboto Slab" pitchFamily="34" charset="0"/>
                <a:ea typeface="Roboto Slab" pitchFamily="34" charset="-122"/>
              </a:rPr>
              <a:t>7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0;p4">
            <a:extLst>
              <a:ext uri="{FF2B5EF4-FFF2-40B4-BE49-F238E27FC236}">
                <a16:creationId xmlns:a16="http://schemas.microsoft.com/office/drawing/2014/main" id="{48DAB670-F42E-AC3A-35DF-7B6FCABA183D}"/>
              </a:ext>
            </a:extLst>
          </p:cNvPr>
          <p:cNvSpPr/>
          <p:nvPr/>
        </p:nvSpPr>
        <p:spPr>
          <a:xfrm>
            <a:off x="1190750" y="201030"/>
            <a:ext cx="6414914" cy="675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200"/>
              <a:buFont typeface="Roboto Slab"/>
              <a:buNone/>
            </a:pPr>
            <a:r>
              <a:rPr lang="ru-RU" sz="3200" dirty="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Результаты</a:t>
            </a:r>
            <a:r>
              <a:rPr lang="ru-RU" sz="2200" b="0" i="0" u="none" strike="noStrike" cap="none" dirty="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lang="ru-RU" sz="3200" b="0" i="0" u="none" strike="noStrike" cap="none" dirty="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Аугментации</a:t>
            </a:r>
            <a:endParaRPr sz="3200" b="0" i="0" u="none" strike="noStrike" cap="none" dirty="0"/>
          </a:p>
        </p:txBody>
      </p:sp>
      <p:sp>
        <p:nvSpPr>
          <p:cNvPr id="32" name="Google Shape;23;p4">
            <a:extLst>
              <a:ext uri="{FF2B5EF4-FFF2-40B4-BE49-F238E27FC236}">
                <a16:creationId xmlns:a16="http://schemas.microsoft.com/office/drawing/2014/main" id="{4F8797BD-86EA-9595-397D-0E4B87BE4B32}"/>
              </a:ext>
            </a:extLst>
          </p:cNvPr>
          <p:cNvSpPr/>
          <p:nvPr/>
        </p:nvSpPr>
        <p:spPr>
          <a:xfrm>
            <a:off x="732215" y="1346567"/>
            <a:ext cx="3774300" cy="360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lang="en-US" b="1" i="0" u="none" strike="noStrike" cap="none" dirty="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Balanced Accuracy</a:t>
            </a:r>
            <a:endParaRPr b="0" i="0" u="none" strike="noStrike" cap="none" dirty="0"/>
          </a:p>
        </p:txBody>
      </p:sp>
      <p:sp>
        <p:nvSpPr>
          <p:cNvPr id="33" name="Google Shape;24;p4">
            <a:extLst>
              <a:ext uri="{FF2B5EF4-FFF2-40B4-BE49-F238E27FC236}">
                <a16:creationId xmlns:a16="http://schemas.microsoft.com/office/drawing/2014/main" id="{9625D90F-4DE9-1C24-FBA4-E8CA088FA2CF}"/>
              </a:ext>
            </a:extLst>
          </p:cNvPr>
          <p:cNvSpPr/>
          <p:nvPr/>
        </p:nvSpPr>
        <p:spPr>
          <a:xfrm>
            <a:off x="682425" y="1871078"/>
            <a:ext cx="1288241" cy="228001"/>
          </a:xfrm>
          <a:prstGeom prst="roundRect">
            <a:avLst>
              <a:gd name="adj" fmla="val 77044"/>
            </a:avLst>
          </a:prstGeom>
          <a:solidFill>
            <a:srgbClr val="FFFFFF">
              <a:alpha val="20000"/>
            </a:srgb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26;p4">
            <a:extLst>
              <a:ext uri="{FF2B5EF4-FFF2-40B4-BE49-F238E27FC236}">
                <a16:creationId xmlns:a16="http://schemas.microsoft.com/office/drawing/2014/main" id="{C26D0F31-9907-BC92-9F9C-7AE267A77AAD}"/>
              </a:ext>
            </a:extLst>
          </p:cNvPr>
          <p:cNvSpPr/>
          <p:nvPr/>
        </p:nvSpPr>
        <p:spPr>
          <a:xfrm>
            <a:off x="1042838" y="1834098"/>
            <a:ext cx="796471" cy="234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15213F"/>
                </a:solidFill>
                <a:latin typeface="Arial"/>
                <a:ea typeface="Arial"/>
                <a:cs typeface="Arial"/>
                <a:sym typeface="Arial"/>
              </a:rPr>
              <a:t>Baseline</a:t>
            </a:r>
            <a:endParaRPr sz="1400" b="0" i="0" u="none" strike="noStrike" cap="none" dirty="0"/>
          </a:p>
        </p:txBody>
      </p:sp>
      <p:sp>
        <p:nvSpPr>
          <p:cNvPr id="38" name="Google Shape;29;p4">
            <a:extLst>
              <a:ext uri="{FF2B5EF4-FFF2-40B4-BE49-F238E27FC236}">
                <a16:creationId xmlns:a16="http://schemas.microsoft.com/office/drawing/2014/main" id="{C8F3E7B3-6BAF-4341-C51A-C4D1D4D2DE4D}"/>
              </a:ext>
            </a:extLst>
          </p:cNvPr>
          <p:cNvSpPr/>
          <p:nvPr/>
        </p:nvSpPr>
        <p:spPr>
          <a:xfrm>
            <a:off x="2338179" y="1828276"/>
            <a:ext cx="1056715" cy="259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15213F"/>
                </a:solidFill>
                <a:latin typeface="Arial"/>
                <a:ea typeface="Arial"/>
                <a:cs typeface="Arial"/>
                <a:sym typeface="Arial"/>
              </a:rPr>
              <a:t>Augmented</a:t>
            </a:r>
            <a:endParaRPr sz="1400" b="0" i="0" u="none" strike="noStrike" cap="none" dirty="0"/>
          </a:p>
        </p:txBody>
      </p:sp>
      <p:sp>
        <p:nvSpPr>
          <p:cNvPr id="40" name="Google Shape;31;p4">
            <a:extLst>
              <a:ext uri="{FF2B5EF4-FFF2-40B4-BE49-F238E27FC236}">
                <a16:creationId xmlns:a16="http://schemas.microsoft.com/office/drawing/2014/main" id="{75D66A11-A6B4-A967-6055-412F330E22BA}"/>
              </a:ext>
            </a:extLst>
          </p:cNvPr>
          <p:cNvSpPr/>
          <p:nvPr/>
        </p:nvSpPr>
        <p:spPr>
          <a:xfrm>
            <a:off x="1769266" y="3642550"/>
            <a:ext cx="349200" cy="1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30475" rIns="30475" bIns="304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Arial"/>
              <a:buNone/>
            </a:pPr>
            <a:r>
              <a:rPr lang="en-US" sz="5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0.48</a:t>
            </a:r>
            <a:endParaRPr sz="550" b="0" i="0" u="none" strike="noStrike" cap="none"/>
          </a:p>
        </p:txBody>
      </p:sp>
      <p:sp>
        <p:nvSpPr>
          <p:cNvPr id="41" name="Google Shape;32;p4">
            <a:extLst>
              <a:ext uri="{FF2B5EF4-FFF2-40B4-BE49-F238E27FC236}">
                <a16:creationId xmlns:a16="http://schemas.microsoft.com/office/drawing/2014/main" id="{18A44C00-AA3B-8EFF-D72C-916B1EBC82F0}"/>
              </a:ext>
            </a:extLst>
          </p:cNvPr>
          <p:cNvSpPr/>
          <p:nvPr/>
        </p:nvSpPr>
        <p:spPr>
          <a:xfrm>
            <a:off x="2992246" y="4046575"/>
            <a:ext cx="265200" cy="1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30475" rIns="30475" bIns="304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Arial"/>
              <a:buNone/>
            </a:pPr>
            <a:r>
              <a:rPr lang="en-US" sz="5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0.38</a:t>
            </a:r>
            <a:endParaRPr sz="550" b="0" i="0" u="none" strike="noStrike" cap="none"/>
          </a:p>
        </p:txBody>
      </p:sp>
      <p:sp>
        <p:nvSpPr>
          <p:cNvPr id="42" name="Google Shape;33;p4">
            <a:extLst>
              <a:ext uri="{FF2B5EF4-FFF2-40B4-BE49-F238E27FC236}">
                <a16:creationId xmlns:a16="http://schemas.microsoft.com/office/drawing/2014/main" id="{D559A399-7397-FFD6-D645-FF774BC23E2C}"/>
              </a:ext>
            </a:extLst>
          </p:cNvPr>
          <p:cNvSpPr/>
          <p:nvPr/>
        </p:nvSpPr>
        <p:spPr>
          <a:xfrm>
            <a:off x="4108772" y="4046550"/>
            <a:ext cx="195000" cy="1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30475" rIns="30475" bIns="304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Arial"/>
              <a:buNone/>
            </a:pPr>
            <a:r>
              <a:rPr lang="en-US" sz="5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0.5</a:t>
            </a:r>
            <a:endParaRPr sz="550" b="0" i="0" u="none" strike="noStrike" cap="none"/>
          </a:p>
        </p:txBody>
      </p:sp>
      <p:sp>
        <p:nvSpPr>
          <p:cNvPr id="43" name="Google Shape;34;p4">
            <a:extLst>
              <a:ext uri="{FF2B5EF4-FFF2-40B4-BE49-F238E27FC236}">
                <a16:creationId xmlns:a16="http://schemas.microsoft.com/office/drawing/2014/main" id="{8E64BF57-C769-8734-C767-F9F2AB533BBD}"/>
              </a:ext>
            </a:extLst>
          </p:cNvPr>
          <p:cNvSpPr/>
          <p:nvPr/>
        </p:nvSpPr>
        <p:spPr>
          <a:xfrm>
            <a:off x="6635675" y="4081010"/>
            <a:ext cx="195000" cy="13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75" tIns="30475" rIns="30475" bIns="304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Arial"/>
              <a:buNone/>
            </a:pPr>
            <a:r>
              <a:rPr lang="en-US" sz="55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0.52</a:t>
            </a:r>
            <a:endParaRPr sz="550" b="0" i="0" u="none" strike="noStrike" cap="none"/>
          </a:p>
        </p:txBody>
      </p:sp>
      <p:sp>
        <p:nvSpPr>
          <p:cNvPr id="53" name="Google Shape;24;p4">
            <a:extLst>
              <a:ext uri="{FF2B5EF4-FFF2-40B4-BE49-F238E27FC236}">
                <a16:creationId xmlns:a16="http://schemas.microsoft.com/office/drawing/2014/main" id="{E8794A0C-4FB4-13FC-002A-EB995019F155}"/>
              </a:ext>
            </a:extLst>
          </p:cNvPr>
          <p:cNvSpPr/>
          <p:nvPr/>
        </p:nvSpPr>
        <p:spPr>
          <a:xfrm>
            <a:off x="2014211" y="1860084"/>
            <a:ext cx="1362464" cy="228001"/>
          </a:xfrm>
          <a:prstGeom prst="roundRect">
            <a:avLst>
              <a:gd name="adj" fmla="val 77044"/>
            </a:avLst>
          </a:prstGeom>
          <a:solidFill>
            <a:srgbClr val="FFFFFF">
              <a:alpha val="20000"/>
            </a:srgb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2628277-ED78-29FD-6FCE-42FE72D1A68A}"/>
              </a:ext>
            </a:extLst>
          </p:cNvPr>
          <p:cNvSpPr txBox="1"/>
          <p:nvPr/>
        </p:nvSpPr>
        <p:spPr>
          <a:xfrm>
            <a:off x="812647" y="4253935"/>
            <a:ext cx="460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0,42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FABEE83-0487-C5DC-AD7A-D49BD8CF5253}"/>
              </a:ext>
            </a:extLst>
          </p:cNvPr>
          <p:cNvSpPr txBox="1"/>
          <p:nvPr/>
        </p:nvSpPr>
        <p:spPr>
          <a:xfrm>
            <a:off x="1255345" y="4270422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0,48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30E0742-1543-26BE-0B2A-9B69C7A6530E}"/>
              </a:ext>
            </a:extLst>
          </p:cNvPr>
          <p:cNvSpPr txBox="1"/>
          <p:nvPr/>
        </p:nvSpPr>
        <p:spPr>
          <a:xfrm>
            <a:off x="1970216" y="4270422"/>
            <a:ext cx="3834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0,3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FDBA761-0DC0-F58F-AD59-44BB3EAE07C8}"/>
              </a:ext>
            </a:extLst>
          </p:cNvPr>
          <p:cNvSpPr txBox="1"/>
          <p:nvPr/>
        </p:nvSpPr>
        <p:spPr>
          <a:xfrm>
            <a:off x="2408038" y="4270422"/>
            <a:ext cx="4651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0,45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524D6CF-87DC-07B7-C42D-A3763AA45134}"/>
              </a:ext>
            </a:extLst>
          </p:cNvPr>
          <p:cNvSpPr txBox="1"/>
          <p:nvPr/>
        </p:nvSpPr>
        <p:spPr>
          <a:xfrm>
            <a:off x="3117861" y="4270422"/>
            <a:ext cx="468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0,38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6B451E3-9FBB-9A77-E090-725493B66091}"/>
              </a:ext>
            </a:extLst>
          </p:cNvPr>
          <p:cNvSpPr txBox="1"/>
          <p:nvPr/>
        </p:nvSpPr>
        <p:spPr>
          <a:xfrm>
            <a:off x="3568575" y="4270422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0,46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5CC1DF0-6F86-5E3A-AD2E-93E40ABCABB0}"/>
              </a:ext>
            </a:extLst>
          </p:cNvPr>
          <p:cNvSpPr txBox="1"/>
          <p:nvPr/>
        </p:nvSpPr>
        <p:spPr>
          <a:xfrm>
            <a:off x="4272316" y="4242158"/>
            <a:ext cx="468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0,36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0C89D6B-8272-8814-3274-61CC064703C7}"/>
              </a:ext>
            </a:extLst>
          </p:cNvPr>
          <p:cNvSpPr txBox="1"/>
          <p:nvPr/>
        </p:nvSpPr>
        <p:spPr>
          <a:xfrm>
            <a:off x="4748238" y="4242158"/>
            <a:ext cx="3834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0,5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F39302B-455B-59FA-4E99-916CDA74DC8F}"/>
              </a:ext>
            </a:extLst>
          </p:cNvPr>
          <p:cNvSpPr txBox="1"/>
          <p:nvPr/>
        </p:nvSpPr>
        <p:spPr>
          <a:xfrm>
            <a:off x="5419961" y="4242158"/>
            <a:ext cx="4603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0,42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246F5EE-3FA8-DDC9-06F7-A700DEA9345D}"/>
              </a:ext>
            </a:extLst>
          </p:cNvPr>
          <p:cNvSpPr txBox="1"/>
          <p:nvPr/>
        </p:nvSpPr>
        <p:spPr>
          <a:xfrm>
            <a:off x="5870675" y="4242158"/>
            <a:ext cx="4539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0,52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DF1EEB9-1D35-3C9D-7CB8-84C35449C1D9}"/>
              </a:ext>
            </a:extLst>
          </p:cNvPr>
          <p:cNvSpPr txBox="1"/>
          <p:nvPr/>
        </p:nvSpPr>
        <p:spPr>
          <a:xfrm>
            <a:off x="7720066" y="4275834"/>
            <a:ext cx="4748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0,44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C6C8DDC-75E7-8607-631C-70463A2E2976}"/>
              </a:ext>
            </a:extLst>
          </p:cNvPr>
          <p:cNvSpPr txBox="1"/>
          <p:nvPr/>
        </p:nvSpPr>
        <p:spPr>
          <a:xfrm>
            <a:off x="8200864" y="4292321"/>
            <a:ext cx="4748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0,45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CFD8E4D-2358-CD9D-9070-72D1CEBECC11}"/>
              </a:ext>
            </a:extLst>
          </p:cNvPr>
          <p:cNvSpPr txBox="1"/>
          <p:nvPr/>
        </p:nvSpPr>
        <p:spPr>
          <a:xfrm>
            <a:off x="8964632" y="428994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0,33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1F8DD96-BE2C-2B01-0A01-E21D62495B23}"/>
              </a:ext>
            </a:extLst>
          </p:cNvPr>
          <p:cNvSpPr txBox="1"/>
          <p:nvPr/>
        </p:nvSpPr>
        <p:spPr>
          <a:xfrm>
            <a:off x="9438988" y="4289941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0,46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3E1A00C-253D-FA53-F747-3FDBCFD716B6}"/>
              </a:ext>
            </a:extLst>
          </p:cNvPr>
          <p:cNvSpPr txBox="1"/>
          <p:nvPr/>
        </p:nvSpPr>
        <p:spPr>
          <a:xfrm>
            <a:off x="10207705" y="4288494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0,40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2F733AC-4BFD-6A0B-899F-B4AC9469D812}"/>
              </a:ext>
            </a:extLst>
          </p:cNvPr>
          <p:cNvSpPr txBox="1"/>
          <p:nvPr/>
        </p:nvSpPr>
        <p:spPr>
          <a:xfrm>
            <a:off x="10683709" y="4288494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0,46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D2B55EF-800E-199C-F70C-7071BD365AEB}"/>
              </a:ext>
            </a:extLst>
          </p:cNvPr>
          <p:cNvSpPr txBox="1"/>
          <p:nvPr/>
        </p:nvSpPr>
        <p:spPr>
          <a:xfrm>
            <a:off x="11429075" y="4270421"/>
            <a:ext cx="4587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0,35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98103A5-9C34-4CAD-30D3-65C79DD74067}"/>
              </a:ext>
            </a:extLst>
          </p:cNvPr>
          <p:cNvSpPr txBox="1"/>
          <p:nvPr/>
        </p:nvSpPr>
        <p:spPr>
          <a:xfrm>
            <a:off x="11934537" y="4285202"/>
            <a:ext cx="4716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0,44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5DA1218-0017-B483-04CF-357B7A605718}"/>
              </a:ext>
            </a:extLst>
          </p:cNvPr>
          <p:cNvSpPr txBox="1"/>
          <p:nvPr/>
        </p:nvSpPr>
        <p:spPr>
          <a:xfrm>
            <a:off x="12683036" y="4278346"/>
            <a:ext cx="468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0,39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05C6244-FA84-F8AC-678B-29D066B358CA}"/>
              </a:ext>
            </a:extLst>
          </p:cNvPr>
          <p:cNvSpPr txBox="1"/>
          <p:nvPr/>
        </p:nvSpPr>
        <p:spPr>
          <a:xfrm>
            <a:off x="13166450" y="4284355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ndara" panose="020E0502030303020204" pitchFamily="34" charset="0"/>
              </a:rPr>
              <a:t>0,46</a:t>
            </a:r>
            <a:endParaRPr lang="ru-RU" sz="1200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2" name="Прямоугольник: скругленные углы 3">
            <a:extLst>
              <a:ext uri="{FF2B5EF4-FFF2-40B4-BE49-F238E27FC236}">
                <a16:creationId xmlns:a16="http://schemas.microsoft.com/office/drawing/2014/main" id="{44256080-226D-338F-A340-B885BF4963E8}"/>
              </a:ext>
            </a:extLst>
          </p:cNvPr>
          <p:cNvSpPr/>
          <p:nvPr/>
        </p:nvSpPr>
        <p:spPr>
          <a:xfrm>
            <a:off x="1179989" y="889283"/>
            <a:ext cx="12799282" cy="259794"/>
          </a:xfrm>
          <a:prstGeom prst="roundRect">
            <a:avLst/>
          </a:prstGeom>
          <a:solidFill>
            <a:srgbClr val="CF4C5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Google Shape;21;p4">
            <a:extLst>
              <a:ext uri="{FF2B5EF4-FFF2-40B4-BE49-F238E27FC236}">
                <a16:creationId xmlns:a16="http://schemas.microsoft.com/office/drawing/2014/main" id="{47D196CC-3319-0AF1-5152-1CF40316F28E}"/>
              </a:ext>
            </a:extLst>
          </p:cNvPr>
          <p:cNvSpPr/>
          <p:nvPr/>
        </p:nvSpPr>
        <p:spPr>
          <a:xfrm>
            <a:off x="1241146" y="876700"/>
            <a:ext cx="9006249" cy="430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lang="en-US" sz="1600" b="0" i="0" u="none" strike="noStrike" cap="none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Метрики</a:t>
            </a:r>
            <a:r>
              <a:rPr lang="en-US" sz="1600" b="0" i="0" u="none" strike="noStrike" cap="non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b="0" i="0" u="none" strike="noStrike" cap="none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на</a:t>
            </a:r>
            <a:r>
              <a:rPr lang="en-US" sz="1600" b="0" i="0" u="none" strike="noStrike" cap="non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b="0" i="0" u="none" strike="noStrike" cap="none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исходных</a:t>
            </a:r>
            <a:r>
              <a:rPr lang="en-US" sz="1600" b="0" i="0" u="none" strike="noStrike" cap="non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b="0" i="0" u="none" strike="noStrike" cap="none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и</a:t>
            </a:r>
            <a:r>
              <a:rPr lang="en-US" sz="1600" b="0" i="0" u="none" strike="noStrike" cap="non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b="0" i="0" u="none" strike="noStrike" cap="none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аугментированных</a:t>
            </a:r>
            <a:r>
              <a:rPr lang="en-US" sz="1600" b="0" i="0" u="none" strike="noStrike" cap="non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b="0" i="0" u="none" strike="noStrike" cap="none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данных</a:t>
            </a:r>
            <a:r>
              <a:rPr lang="en-US" sz="1600" b="0" i="0" u="none" strike="noStrike" cap="non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— </a:t>
            </a:r>
            <a:r>
              <a:rPr lang="en-US" sz="1600" b="1" i="0" u="none" strike="noStrike" cap="non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balanced accuracy</a:t>
            </a:r>
            <a:r>
              <a:rPr lang="en-US" sz="1600" b="0" i="0" u="none" strike="noStrike" cap="non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b="0" i="0" u="none" strike="noStrike" cap="none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и</a:t>
            </a:r>
            <a:r>
              <a:rPr lang="en-US" sz="1600" b="0" i="0" u="none" strike="noStrike" cap="non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600" b="1" i="0" u="none" strike="noStrike" cap="non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macro F1</a:t>
            </a:r>
            <a:r>
              <a:rPr lang="en-US" sz="1600" b="0" i="0" u="none" strike="noStrike" cap="non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600" b="0" i="0" u="none" strike="noStrike" cap="none" dirty="0">
              <a:solidFill>
                <a:schemeClr val="bg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D13AD37-C8E5-9DC4-F579-EE4303CB68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477416" y="506266"/>
            <a:ext cx="686301" cy="686301"/>
          </a:xfrm>
          <a:prstGeom prst="rect">
            <a:avLst/>
          </a:prstGeom>
        </p:spPr>
      </p:pic>
      <p:sp>
        <p:nvSpPr>
          <p:cNvPr id="4" name="Text 7">
            <a:extLst>
              <a:ext uri="{FF2B5EF4-FFF2-40B4-BE49-F238E27FC236}">
                <a16:creationId xmlns:a16="http://schemas.microsoft.com/office/drawing/2014/main" id="{4FCDB517-57B6-B307-6084-74658E4A9CA4}"/>
              </a:ext>
            </a:extLst>
          </p:cNvPr>
          <p:cNvSpPr/>
          <p:nvPr/>
        </p:nvSpPr>
        <p:spPr>
          <a:xfrm>
            <a:off x="14337506" y="7924864"/>
            <a:ext cx="292894" cy="304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ru-RU" sz="1850" dirty="0">
                <a:latin typeface="Roboto Slab" pitchFamily="34" charset="0"/>
                <a:ea typeface="Roboto Slab" pitchFamily="34" charset="-122"/>
              </a:rPr>
              <a:t>8</a:t>
            </a:r>
            <a:endParaRPr lang="en-US" sz="1850" dirty="0"/>
          </a:p>
        </p:txBody>
      </p:sp>
      <p:sp>
        <p:nvSpPr>
          <p:cNvPr id="8" name="Google Shape;35;p4">
            <a:extLst>
              <a:ext uri="{FF2B5EF4-FFF2-40B4-BE49-F238E27FC236}">
                <a16:creationId xmlns:a16="http://schemas.microsoft.com/office/drawing/2014/main" id="{3E91D881-C29C-3023-2E96-D925DEFC4B5F}"/>
              </a:ext>
            </a:extLst>
          </p:cNvPr>
          <p:cNvSpPr/>
          <p:nvPr/>
        </p:nvSpPr>
        <p:spPr>
          <a:xfrm>
            <a:off x="7605664" y="1450241"/>
            <a:ext cx="3774300" cy="241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lang="en-US" sz="1600" b="1" i="0" u="none" strike="noStrike" cap="none" dirty="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Macro</a:t>
            </a:r>
            <a:r>
              <a:rPr lang="en-US" sz="1400" b="1" i="0" u="none" strike="noStrike" cap="none" dirty="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F1</a:t>
            </a:r>
            <a:endParaRPr sz="1400" b="0" i="0" u="none" strike="noStrike" cap="none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A4DBC248-8F99-A0A2-1654-5CD524F0C92F}"/>
              </a:ext>
            </a:extLst>
          </p:cNvPr>
          <p:cNvSpPr/>
          <p:nvPr/>
        </p:nvSpPr>
        <p:spPr>
          <a:xfrm>
            <a:off x="3241456" y="2419837"/>
            <a:ext cx="1381343" cy="266445"/>
          </a:xfrm>
          <a:prstGeom prst="rect">
            <a:avLst/>
          </a:prstGeom>
          <a:solidFill>
            <a:srgbClr val="FCFD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E2B8E96-90F4-F7C4-B2A8-93254E68CA4F}"/>
              </a:ext>
            </a:extLst>
          </p:cNvPr>
          <p:cNvSpPr/>
          <p:nvPr/>
        </p:nvSpPr>
        <p:spPr>
          <a:xfrm>
            <a:off x="10506512" y="2411826"/>
            <a:ext cx="1381343" cy="266445"/>
          </a:xfrm>
          <a:prstGeom prst="rect">
            <a:avLst/>
          </a:prstGeom>
          <a:solidFill>
            <a:srgbClr val="FCFD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F92B309-906B-66E6-7EC9-7420834ADCF5}"/>
              </a:ext>
            </a:extLst>
          </p:cNvPr>
          <p:cNvSpPr/>
          <p:nvPr/>
        </p:nvSpPr>
        <p:spPr>
          <a:xfrm>
            <a:off x="5880343" y="2757692"/>
            <a:ext cx="1381343" cy="384777"/>
          </a:xfrm>
          <a:prstGeom prst="rect">
            <a:avLst/>
          </a:prstGeom>
          <a:solidFill>
            <a:srgbClr val="FCFD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8C8FC5B1-0B44-09EB-D164-217A93E976A9}"/>
              </a:ext>
            </a:extLst>
          </p:cNvPr>
          <p:cNvSpPr/>
          <p:nvPr/>
        </p:nvSpPr>
        <p:spPr>
          <a:xfrm>
            <a:off x="820566" y="1914240"/>
            <a:ext cx="151891" cy="151987"/>
          </a:xfrm>
          <a:prstGeom prst="roundRect">
            <a:avLst/>
          </a:prstGeom>
          <a:solidFill>
            <a:srgbClr val="1E3E8D"/>
          </a:solidFill>
          <a:ln>
            <a:solidFill>
              <a:srgbClr val="1E3E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DF29E6DB-0678-9C96-84DA-3C279BDD397D}"/>
              </a:ext>
            </a:extLst>
          </p:cNvPr>
          <p:cNvSpPr/>
          <p:nvPr/>
        </p:nvSpPr>
        <p:spPr>
          <a:xfrm>
            <a:off x="2106257" y="1899726"/>
            <a:ext cx="151891" cy="151987"/>
          </a:xfrm>
          <a:prstGeom prst="roundRect">
            <a:avLst/>
          </a:prstGeom>
          <a:solidFill>
            <a:srgbClr val="3E65D8"/>
          </a:solidFill>
          <a:ln>
            <a:solidFill>
              <a:srgbClr val="3E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Google Shape;24;p4">
            <a:extLst>
              <a:ext uri="{FF2B5EF4-FFF2-40B4-BE49-F238E27FC236}">
                <a16:creationId xmlns:a16="http://schemas.microsoft.com/office/drawing/2014/main" id="{3F510CE7-422C-24F2-9D03-C655CFD65E98}"/>
              </a:ext>
            </a:extLst>
          </p:cNvPr>
          <p:cNvSpPr/>
          <p:nvPr/>
        </p:nvSpPr>
        <p:spPr>
          <a:xfrm>
            <a:off x="7605664" y="1842944"/>
            <a:ext cx="1288241" cy="228001"/>
          </a:xfrm>
          <a:prstGeom prst="roundRect">
            <a:avLst>
              <a:gd name="adj" fmla="val 77044"/>
            </a:avLst>
          </a:prstGeom>
          <a:solidFill>
            <a:srgbClr val="FFFFFF">
              <a:alpha val="20000"/>
            </a:srgb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26;p4">
            <a:extLst>
              <a:ext uri="{FF2B5EF4-FFF2-40B4-BE49-F238E27FC236}">
                <a16:creationId xmlns:a16="http://schemas.microsoft.com/office/drawing/2014/main" id="{2C84FDA3-6D0C-9684-B852-C19B3C9FA464}"/>
              </a:ext>
            </a:extLst>
          </p:cNvPr>
          <p:cNvSpPr/>
          <p:nvPr/>
        </p:nvSpPr>
        <p:spPr>
          <a:xfrm>
            <a:off x="7966077" y="1805964"/>
            <a:ext cx="796471" cy="234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15213F"/>
                </a:solidFill>
                <a:latin typeface="Arial"/>
                <a:ea typeface="Arial"/>
                <a:cs typeface="Arial"/>
                <a:sym typeface="Arial"/>
              </a:rPr>
              <a:t>Baseline</a:t>
            </a:r>
            <a:endParaRPr sz="1400" b="0" i="0" u="none" strike="noStrike" cap="none" dirty="0"/>
          </a:p>
        </p:txBody>
      </p:sp>
      <p:sp>
        <p:nvSpPr>
          <p:cNvPr id="17" name="Google Shape;29;p4">
            <a:extLst>
              <a:ext uri="{FF2B5EF4-FFF2-40B4-BE49-F238E27FC236}">
                <a16:creationId xmlns:a16="http://schemas.microsoft.com/office/drawing/2014/main" id="{25915650-E1F6-0182-CC80-F145C24130BB}"/>
              </a:ext>
            </a:extLst>
          </p:cNvPr>
          <p:cNvSpPr/>
          <p:nvPr/>
        </p:nvSpPr>
        <p:spPr>
          <a:xfrm>
            <a:off x="9261418" y="1800142"/>
            <a:ext cx="1056715" cy="259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15213F"/>
                </a:solidFill>
                <a:latin typeface="Arial"/>
                <a:ea typeface="Arial"/>
                <a:cs typeface="Arial"/>
                <a:sym typeface="Arial"/>
              </a:rPr>
              <a:t>Augmented</a:t>
            </a:r>
            <a:endParaRPr sz="1400" b="0" i="0" u="none" strike="noStrike" cap="none" dirty="0"/>
          </a:p>
        </p:txBody>
      </p:sp>
      <p:sp>
        <p:nvSpPr>
          <p:cNvPr id="18" name="Google Shape;24;p4">
            <a:extLst>
              <a:ext uri="{FF2B5EF4-FFF2-40B4-BE49-F238E27FC236}">
                <a16:creationId xmlns:a16="http://schemas.microsoft.com/office/drawing/2014/main" id="{C00EFFE1-563C-1185-A73D-BFEFD4F842CB}"/>
              </a:ext>
            </a:extLst>
          </p:cNvPr>
          <p:cNvSpPr/>
          <p:nvPr/>
        </p:nvSpPr>
        <p:spPr>
          <a:xfrm>
            <a:off x="8937450" y="1831950"/>
            <a:ext cx="1362464" cy="228001"/>
          </a:xfrm>
          <a:prstGeom prst="roundRect">
            <a:avLst>
              <a:gd name="adj" fmla="val 77044"/>
            </a:avLst>
          </a:prstGeom>
          <a:solidFill>
            <a:srgbClr val="FFFFFF">
              <a:alpha val="20000"/>
            </a:srgb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84968C3F-9AB2-5CD5-2E5C-776BEE68A1D5}"/>
              </a:ext>
            </a:extLst>
          </p:cNvPr>
          <p:cNvSpPr/>
          <p:nvPr/>
        </p:nvSpPr>
        <p:spPr>
          <a:xfrm>
            <a:off x="7743805" y="1886106"/>
            <a:ext cx="151891" cy="151987"/>
          </a:xfrm>
          <a:prstGeom prst="roundRect">
            <a:avLst/>
          </a:prstGeom>
          <a:solidFill>
            <a:srgbClr val="1E3E8D"/>
          </a:solidFill>
          <a:ln>
            <a:solidFill>
              <a:srgbClr val="1E3E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Скругленный прямоугольник 19">
            <a:extLst>
              <a:ext uri="{FF2B5EF4-FFF2-40B4-BE49-F238E27FC236}">
                <a16:creationId xmlns:a16="http://schemas.microsoft.com/office/drawing/2014/main" id="{0F2B1A87-7A5C-C44E-C76B-51376353CD97}"/>
              </a:ext>
            </a:extLst>
          </p:cNvPr>
          <p:cNvSpPr/>
          <p:nvPr/>
        </p:nvSpPr>
        <p:spPr>
          <a:xfrm>
            <a:off x="9029496" y="1871592"/>
            <a:ext cx="151891" cy="151987"/>
          </a:xfrm>
          <a:prstGeom prst="roundRect">
            <a:avLst/>
          </a:prstGeom>
          <a:solidFill>
            <a:srgbClr val="3E65D8"/>
          </a:solidFill>
          <a:ln>
            <a:solidFill>
              <a:srgbClr val="3E65D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0524A5B-33D8-1DD1-F71C-37BC13625F84}"/>
              </a:ext>
            </a:extLst>
          </p:cNvPr>
          <p:cNvSpPr/>
          <p:nvPr/>
        </p:nvSpPr>
        <p:spPr>
          <a:xfrm>
            <a:off x="12861424" y="2757692"/>
            <a:ext cx="1381343" cy="384777"/>
          </a:xfrm>
          <a:prstGeom prst="rect">
            <a:avLst/>
          </a:prstGeom>
          <a:solidFill>
            <a:srgbClr val="FCFD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137509EB-C6B8-D095-E2DE-040362F39C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534" y="2263512"/>
            <a:ext cx="13461593" cy="48570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 0">
            <a:extLst>
              <a:ext uri="{FF2B5EF4-FFF2-40B4-BE49-F238E27FC236}">
                <a16:creationId xmlns:a16="http://schemas.microsoft.com/office/drawing/2014/main" id="{43F4C63D-856F-7B77-C12B-EB42EFCD75A3}"/>
              </a:ext>
            </a:extLst>
          </p:cNvPr>
          <p:cNvSpPr/>
          <p:nvPr/>
        </p:nvSpPr>
        <p:spPr>
          <a:xfrm>
            <a:off x="800988" y="273516"/>
            <a:ext cx="13430019" cy="66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Prompt-based </a:t>
            </a:r>
            <a:r>
              <a:rPr lang="en-US" sz="3650" dirty="0" err="1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классификация</a:t>
            </a:r>
            <a:r>
              <a:rPr lang="en-US" sz="3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:</a:t>
            </a:r>
            <a:r>
              <a:rPr lang="ru-RU" sz="3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</a:t>
            </a:r>
            <a:r>
              <a:rPr lang="en-US" sz="3650" dirty="0" err="1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матрица</a:t>
            </a:r>
            <a:r>
              <a:rPr lang="en-US" sz="3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экспериментов</a:t>
            </a:r>
            <a:endParaRPr lang="en-US" sz="3650" dirty="0"/>
          </a:p>
        </p:txBody>
      </p:sp>
      <p:sp>
        <p:nvSpPr>
          <p:cNvPr id="102" name="Shape 2">
            <a:extLst>
              <a:ext uri="{FF2B5EF4-FFF2-40B4-BE49-F238E27FC236}">
                <a16:creationId xmlns:a16="http://schemas.microsoft.com/office/drawing/2014/main" id="{CE72836C-C675-898A-7EAB-DD0EB4C54F0A}"/>
              </a:ext>
            </a:extLst>
          </p:cNvPr>
          <p:cNvSpPr/>
          <p:nvPr/>
        </p:nvSpPr>
        <p:spPr>
          <a:xfrm>
            <a:off x="834628" y="2648826"/>
            <a:ext cx="12961025" cy="3884771"/>
          </a:xfrm>
          <a:prstGeom prst="roundRect">
            <a:avLst>
              <a:gd name="adj" fmla="val 72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3" name="Shape 3">
            <a:extLst>
              <a:ext uri="{FF2B5EF4-FFF2-40B4-BE49-F238E27FC236}">
                <a16:creationId xmlns:a16="http://schemas.microsoft.com/office/drawing/2014/main" id="{3ADABFC1-FBED-C415-18F3-9900EA821907}"/>
              </a:ext>
            </a:extLst>
          </p:cNvPr>
          <p:cNvSpPr/>
          <p:nvPr/>
        </p:nvSpPr>
        <p:spPr>
          <a:xfrm>
            <a:off x="842248" y="2656446"/>
            <a:ext cx="12945785" cy="139362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4" name="Text 4">
            <a:extLst>
              <a:ext uri="{FF2B5EF4-FFF2-40B4-BE49-F238E27FC236}">
                <a16:creationId xmlns:a16="http://schemas.microsoft.com/office/drawing/2014/main" id="{9EFED1BA-F04E-E830-8C79-BEF5BF72BA9C}"/>
              </a:ext>
            </a:extLst>
          </p:cNvPr>
          <p:cNvSpPr/>
          <p:nvPr/>
        </p:nvSpPr>
        <p:spPr>
          <a:xfrm>
            <a:off x="1030486" y="2757292"/>
            <a:ext cx="1781294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Модель</a:t>
            </a:r>
            <a:endParaRPr lang="en-US" sz="1450" dirty="0"/>
          </a:p>
        </p:txBody>
      </p:sp>
      <p:sp>
        <p:nvSpPr>
          <p:cNvPr id="105" name="Text 5">
            <a:extLst>
              <a:ext uri="{FF2B5EF4-FFF2-40B4-BE49-F238E27FC236}">
                <a16:creationId xmlns:a16="http://schemas.microsoft.com/office/drawing/2014/main" id="{E23EF834-FC4A-70E6-AB62-EF0582749D86}"/>
              </a:ext>
            </a:extLst>
          </p:cNvPr>
          <p:cNvSpPr/>
          <p:nvPr/>
        </p:nvSpPr>
        <p:spPr>
          <a:xfrm>
            <a:off x="3194923" y="2757292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0-shot</a:t>
            </a:r>
            <a:endParaRPr lang="en-US" sz="1450" dirty="0"/>
          </a:p>
        </p:txBody>
      </p:sp>
      <p:sp>
        <p:nvSpPr>
          <p:cNvPr id="106" name="Text 6">
            <a:extLst>
              <a:ext uri="{FF2B5EF4-FFF2-40B4-BE49-F238E27FC236}">
                <a16:creationId xmlns:a16="http://schemas.microsoft.com/office/drawing/2014/main" id="{C961BE77-5FA4-6F7F-CBEF-7BD7FEF34CDA}"/>
              </a:ext>
            </a:extLst>
          </p:cNvPr>
          <p:cNvSpPr/>
          <p:nvPr/>
        </p:nvSpPr>
        <p:spPr>
          <a:xfrm>
            <a:off x="4991695" y="2757292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1-shot</a:t>
            </a:r>
            <a:endParaRPr lang="en-US" sz="1450" dirty="0"/>
          </a:p>
        </p:txBody>
      </p:sp>
      <p:sp>
        <p:nvSpPr>
          <p:cNvPr id="107" name="Text 7">
            <a:extLst>
              <a:ext uri="{FF2B5EF4-FFF2-40B4-BE49-F238E27FC236}">
                <a16:creationId xmlns:a16="http://schemas.microsoft.com/office/drawing/2014/main" id="{CAC4D436-B2A2-086D-AC62-41EFE578B2E7}"/>
              </a:ext>
            </a:extLst>
          </p:cNvPr>
          <p:cNvSpPr/>
          <p:nvPr/>
        </p:nvSpPr>
        <p:spPr>
          <a:xfrm>
            <a:off x="6788468" y="2757292"/>
            <a:ext cx="964406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3-shot</a:t>
            </a:r>
            <a:endParaRPr lang="en-US" sz="1450" dirty="0"/>
          </a:p>
        </p:txBody>
      </p:sp>
      <p:sp>
        <p:nvSpPr>
          <p:cNvPr id="108" name="Text 8">
            <a:extLst>
              <a:ext uri="{FF2B5EF4-FFF2-40B4-BE49-F238E27FC236}">
                <a16:creationId xmlns:a16="http://schemas.microsoft.com/office/drawing/2014/main" id="{28D7691B-C57C-2C63-0201-49A676FFD5A8}"/>
              </a:ext>
            </a:extLst>
          </p:cNvPr>
          <p:cNvSpPr/>
          <p:nvPr/>
        </p:nvSpPr>
        <p:spPr>
          <a:xfrm>
            <a:off x="8136017" y="2757292"/>
            <a:ext cx="1348978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3s-nd</a:t>
            </a:r>
            <a:endParaRPr lang="en-US" sz="1450" dirty="0"/>
          </a:p>
        </p:txBody>
      </p:sp>
      <p:sp>
        <p:nvSpPr>
          <p:cNvPr id="109" name="Text 9">
            <a:extLst>
              <a:ext uri="{FF2B5EF4-FFF2-40B4-BE49-F238E27FC236}">
                <a16:creationId xmlns:a16="http://schemas.microsoft.com/office/drawing/2014/main" id="{481C24D0-A303-2AAE-6766-3F55C0249085}"/>
              </a:ext>
            </a:extLst>
          </p:cNvPr>
          <p:cNvSpPr/>
          <p:nvPr/>
        </p:nvSpPr>
        <p:spPr>
          <a:xfrm>
            <a:off x="8136017" y="3125195"/>
            <a:ext cx="1348978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без описаний классов</a:t>
            </a:r>
            <a:endParaRPr lang="en-US" sz="1450" dirty="0"/>
          </a:p>
        </p:txBody>
      </p:sp>
      <p:sp>
        <p:nvSpPr>
          <p:cNvPr id="110" name="Text 10">
            <a:extLst>
              <a:ext uri="{FF2B5EF4-FFF2-40B4-BE49-F238E27FC236}">
                <a16:creationId xmlns:a16="http://schemas.microsoft.com/office/drawing/2014/main" id="{3518C42A-DCB4-87AB-C4F2-0CDD0C6A03E0}"/>
              </a:ext>
            </a:extLst>
          </p:cNvPr>
          <p:cNvSpPr/>
          <p:nvPr/>
        </p:nvSpPr>
        <p:spPr>
          <a:xfrm>
            <a:off x="9868138" y="2757292"/>
            <a:ext cx="1672590" cy="1098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5s</a:t>
            </a:r>
            <a:r>
              <a:rPr lang="ru-RU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</a:p>
          <a:p>
            <a:pPr marL="0" indent="0" algn="l">
              <a:lnSpc>
                <a:spcPts val="2150"/>
              </a:lnSpc>
              <a:buNone/>
            </a:pPr>
            <a:r>
              <a:rPr lang="en-US" sz="14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короткие</a:t>
            </a: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примеры + описания</a:t>
            </a:r>
            <a:endParaRPr lang="en-US" sz="1450" dirty="0"/>
          </a:p>
        </p:txBody>
      </p:sp>
      <p:sp>
        <p:nvSpPr>
          <p:cNvPr id="111" name="Text 11">
            <a:extLst>
              <a:ext uri="{FF2B5EF4-FFF2-40B4-BE49-F238E27FC236}">
                <a16:creationId xmlns:a16="http://schemas.microsoft.com/office/drawing/2014/main" id="{23CC8A32-FD46-7957-571E-B7FED68B10F8}"/>
              </a:ext>
            </a:extLst>
          </p:cNvPr>
          <p:cNvSpPr/>
          <p:nvPr/>
        </p:nvSpPr>
        <p:spPr>
          <a:xfrm>
            <a:off x="11923871" y="2757292"/>
            <a:ext cx="167640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5s-nd</a:t>
            </a:r>
            <a:endParaRPr lang="en-US" sz="1450" dirty="0"/>
          </a:p>
        </p:txBody>
      </p:sp>
      <p:sp>
        <p:nvSpPr>
          <p:cNvPr id="112" name="Text 12">
            <a:extLst>
              <a:ext uri="{FF2B5EF4-FFF2-40B4-BE49-F238E27FC236}">
                <a16:creationId xmlns:a16="http://schemas.microsoft.com/office/drawing/2014/main" id="{3B374049-3904-2C29-699C-4339E1A46BF6}"/>
              </a:ext>
            </a:extLst>
          </p:cNvPr>
          <p:cNvSpPr/>
          <p:nvPr/>
        </p:nvSpPr>
        <p:spPr>
          <a:xfrm>
            <a:off x="11923871" y="3125195"/>
            <a:ext cx="1676400" cy="824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короткие примеры, без описаний</a:t>
            </a:r>
            <a:endParaRPr lang="en-US" sz="1450" dirty="0"/>
          </a:p>
        </p:txBody>
      </p:sp>
      <p:sp>
        <p:nvSpPr>
          <p:cNvPr id="113" name="Shape 13">
            <a:extLst>
              <a:ext uri="{FF2B5EF4-FFF2-40B4-BE49-F238E27FC236}">
                <a16:creationId xmlns:a16="http://schemas.microsoft.com/office/drawing/2014/main" id="{1E23B5F9-7DFE-D45C-F8E7-E8B2F41086DC}"/>
              </a:ext>
            </a:extLst>
          </p:cNvPr>
          <p:cNvSpPr/>
          <p:nvPr/>
        </p:nvSpPr>
        <p:spPr>
          <a:xfrm>
            <a:off x="842248" y="4050073"/>
            <a:ext cx="12945785" cy="49518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4" name="Text 14">
            <a:extLst>
              <a:ext uri="{FF2B5EF4-FFF2-40B4-BE49-F238E27FC236}">
                <a16:creationId xmlns:a16="http://schemas.microsoft.com/office/drawing/2014/main" id="{4949D41A-752D-C5A1-1192-A6582F728C0E}"/>
              </a:ext>
            </a:extLst>
          </p:cNvPr>
          <p:cNvSpPr/>
          <p:nvPr/>
        </p:nvSpPr>
        <p:spPr>
          <a:xfrm>
            <a:off x="1030486" y="4150919"/>
            <a:ext cx="1781294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saiga_8b</a:t>
            </a:r>
            <a:endParaRPr lang="en-US" sz="1800" dirty="0"/>
          </a:p>
        </p:txBody>
      </p:sp>
      <p:sp>
        <p:nvSpPr>
          <p:cNvPr id="115" name="Text 15">
            <a:extLst>
              <a:ext uri="{FF2B5EF4-FFF2-40B4-BE49-F238E27FC236}">
                <a16:creationId xmlns:a16="http://schemas.microsoft.com/office/drawing/2014/main" id="{EE3205C7-23C6-3712-75A5-5ECE17FD8CD4}"/>
              </a:ext>
            </a:extLst>
          </p:cNvPr>
          <p:cNvSpPr/>
          <p:nvPr/>
        </p:nvSpPr>
        <p:spPr>
          <a:xfrm>
            <a:off x="3194923" y="4150919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16" name="Text 16">
            <a:extLst>
              <a:ext uri="{FF2B5EF4-FFF2-40B4-BE49-F238E27FC236}">
                <a16:creationId xmlns:a16="http://schemas.microsoft.com/office/drawing/2014/main" id="{6B0C2AD1-30AD-BA0D-BED3-C4E70FE04BE8}"/>
              </a:ext>
            </a:extLst>
          </p:cNvPr>
          <p:cNvSpPr/>
          <p:nvPr/>
        </p:nvSpPr>
        <p:spPr>
          <a:xfrm>
            <a:off x="4991695" y="4150919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17" name="Text 17">
            <a:extLst>
              <a:ext uri="{FF2B5EF4-FFF2-40B4-BE49-F238E27FC236}">
                <a16:creationId xmlns:a16="http://schemas.microsoft.com/office/drawing/2014/main" id="{262F526C-DC7A-6972-6AD6-8307E6805E93}"/>
              </a:ext>
            </a:extLst>
          </p:cNvPr>
          <p:cNvSpPr/>
          <p:nvPr/>
        </p:nvSpPr>
        <p:spPr>
          <a:xfrm>
            <a:off x="6788468" y="4150919"/>
            <a:ext cx="964406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</a:t>
            </a:r>
            <a:endParaRPr lang="en-US" sz="1450" dirty="0"/>
          </a:p>
        </p:txBody>
      </p:sp>
      <p:sp>
        <p:nvSpPr>
          <p:cNvPr id="118" name="Text 18">
            <a:extLst>
              <a:ext uri="{FF2B5EF4-FFF2-40B4-BE49-F238E27FC236}">
                <a16:creationId xmlns:a16="http://schemas.microsoft.com/office/drawing/2014/main" id="{FC9135E7-B453-32FC-B2D5-D1D7506E261C}"/>
              </a:ext>
            </a:extLst>
          </p:cNvPr>
          <p:cNvSpPr/>
          <p:nvPr/>
        </p:nvSpPr>
        <p:spPr>
          <a:xfrm>
            <a:off x="8136017" y="4150919"/>
            <a:ext cx="1348978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</a:t>
            </a:r>
            <a:endParaRPr lang="en-US" sz="1450" dirty="0"/>
          </a:p>
        </p:txBody>
      </p:sp>
      <p:sp>
        <p:nvSpPr>
          <p:cNvPr id="119" name="Text 19">
            <a:extLst>
              <a:ext uri="{FF2B5EF4-FFF2-40B4-BE49-F238E27FC236}">
                <a16:creationId xmlns:a16="http://schemas.microsoft.com/office/drawing/2014/main" id="{071C5E29-5A45-B72C-AF99-57D6A60F25D4}"/>
              </a:ext>
            </a:extLst>
          </p:cNvPr>
          <p:cNvSpPr/>
          <p:nvPr/>
        </p:nvSpPr>
        <p:spPr>
          <a:xfrm>
            <a:off x="9868138" y="4150919"/>
            <a:ext cx="167259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</a:t>
            </a:r>
            <a:endParaRPr lang="en-US" sz="1450" dirty="0"/>
          </a:p>
        </p:txBody>
      </p:sp>
      <p:sp>
        <p:nvSpPr>
          <p:cNvPr id="120" name="Text 20">
            <a:extLst>
              <a:ext uri="{FF2B5EF4-FFF2-40B4-BE49-F238E27FC236}">
                <a16:creationId xmlns:a16="http://schemas.microsoft.com/office/drawing/2014/main" id="{CDDE8F07-CC3C-6B16-0DD2-3B025E7279A6}"/>
              </a:ext>
            </a:extLst>
          </p:cNvPr>
          <p:cNvSpPr/>
          <p:nvPr/>
        </p:nvSpPr>
        <p:spPr>
          <a:xfrm>
            <a:off x="11923871" y="4150919"/>
            <a:ext cx="167640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</a:t>
            </a:r>
            <a:endParaRPr lang="en-US" sz="1450" dirty="0"/>
          </a:p>
        </p:txBody>
      </p:sp>
      <p:sp>
        <p:nvSpPr>
          <p:cNvPr id="121" name="Shape 21">
            <a:extLst>
              <a:ext uri="{FF2B5EF4-FFF2-40B4-BE49-F238E27FC236}">
                <a16:creationId xmlns:a16="http://schemas.microsoft.com/office/drawing/2014/main" id="{FC095A41-07D1-5913-C7E4-70730CA26458}"/>
              </a:ext>
            </a:extLst>
          </p:cNvPr>
          <p:cNvSpPr/>
          <p:nvPr/>
        </p:nvSpPr>
        <p:spPr>
          <a:xfrm>
            <a:off x="842248" y="4545254"/>
            <a:ext cx="12945785" cy="49518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2" name="Text 22">
            <a:extLst>
              <a:ext uri="{FF2B5EF4-FFF2-40B4-BE49-F238E27FC236}">
                <a16:creationId xmlns:a16="http://schemas.microsoft.com/office/drawing/2014/main" id="{B8CBA40A-371F-1F51-146F-324CA7A8047F}"/>
              </a:ext>
            </a:extLst>
          </p:cNvPr>
          <p:cNvSpPr/>
          <p:nvPr/>
        </p:nvSpPr>
        <p:spPr>
          <a:xfrm>
            <a:off x="1030486" y="4646100"/>
            <a:ext cx="1781294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t_lite_8b</a:t>
            </a:r>
            <a:endParaRPr lang="en-US" sz="1800" dirty="0"/>
          </a:p>
        </p:txBody>
      </p:sp>
      <p:sp>
        <p:nvSpPr>
          <p:cNvPr id="123" name="Text 23">
            <a:extLst>
              <a:ext uri="{FF2B5EF4-FFF2-40B4-BE49-F238E27FC236}">
                <a16:creationId xmlns:a16="http://schemas.microsoft.com/office/drawing/2014/main" id="{3058ECA0-ED7E-6300-261F-0B3FA76F4835}"/>
              </a:ext>
            </a:extLst>
          </p:cNvPr>
          <p:cNvSpPr/>
          <p:nvPr/>
        </p:nvSpPr>
        <p:spPr>
          <a:xfrm>
            <a:off x="3194923" y="4646100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24" name="Text 24">
            <a:extLst>
              <a:ext uri="{FF2B5EF4-FFF2-40B4-BE49-F238E27FC236}">
                <a16:creationId xmlns:a16="http://schemas.microsoft.com/office/drawing/2014/main" id="{69C41B86-A039-17EA-BA7D-BEC7E70FF1D4}"/>
              </a:ext>
            </a:extLst>
          </p:cNvPr>
          <p:cNvSpPr/>
          <p:nvPr/>
        </p:nvSpPr>
        <p:spPr>
          <a:xfrm>
            <a:off x="4991695" y="4646100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25" name="Text 25">
            <a:extLst>
              <a:ext uri="{FF2B5EF4-FFF2-40B4-BE49-F238E27FC236}">
                <a16:creationId xmlns:a16="http://schemas.microsoft.com/office/drawing/2014/main" id="{59A22A6D-7994-492C-99C4-DE3F93708ABA}"/>
              </a:ext>
            </a:extLst>
          </p:cNvPr>
          <p:cNvSpPr/>
          <p:nvPr/>
        </p:nvSpPr>
        <p:spPr>
          <a:xfrm>
            <a:off x="6788468" y="4646100"/>
            <a:ext cx="964406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26" name="Text 26">
            <a:extLst>
              <a:ext uri="{FF2B5EF4-FFF2-40B4-BE49-F238E27FC236}">
                <a16:creationId xmlns:a16="http://schemas.microsoft.com/office/drawing/2014/main" id="{230DB53A-4476-22D7-3E46-47A4DD2D2D72}"/>
              </a:ext>
            </a:extLst>
          </p:cNvPr>
          <p:cNvSpPr/>
          <p:nvPr/>
        </p:nvSpPr>
        <p:spPr>
          <a:xfrm>
            <a:off x="8136017" y="4646100"/>
            <a:ext cx="1348978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27" name="Text 27">
            <a:extLst>
              <a:ext uri="{FF2B5EF4-FFF2-40B4-BE49-F238E27FC236}">
                <a16:creationId xmlns:a16="http://schemas.microsoft.com/office/drawing/2014/main" id="{5D79ACCE-1FC0-F890-47B4-6E5DD7A1D3FC}"/>
              </a:ext>
            </a:extLst>
          </p:cNvPr>
          <p:cNvSpPr/>
          <p:nvPr/>
        </p:nvSpPr>
        <p:spPr>
          <a:xfrm>
            <a:off x="9868138" y="4646100"/>
            <a:ext cx="167259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28" name="Text 28">
            <a:extLst>
              <a:ext uri="{FF2B5EF4-FFF2-40B4-BE49-F238E27FC236}">
                <a16:creationId xmlns:a16="http://schemas.microsoft.com/office/drawing/2014/main" id="{02777E0A-C9B1-6499-00DC-60D10F88A521}"/>
              </a:ext>
            </a:extLst>
          </p:cNvPr>
          <p:cNvSpPr/>
          <p:nvPr/>
        </p:nvSpPr>
        <p:spPr>
          <a:xfrm>
            <a:off x="11923871" y="4646100"/>
            <a:ext cx="167640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29" name="Shape 29">
            <a:extLst>
              <a:ext uri="{FF2B5EF4-FFF2-40B4-BE49-F238E27FC236}">
                <a16:creationId xmlns:a16="http://schemas.microsoft.com/office/drawing/2014/main" id="{FE4B6044-4032-A7DB-3D16-A2C38DA10A3F}"/>
              </a:ext>
            </a:extLst>
          </p:cNvPr>
          <p:cNvSpPr/>
          <p:nvPr/>
        </p:nvSpPr>
        <p:spPr>
          <a:xfrm>
            <a:off x="842248" y="5040435"/>
            <a:ext cx="12945785" cy="49518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0" name="Text 30">
            <a:extLst>
              <a:ext uri="{FF2B5EF4-FFF2-40B4-BE49-F238E27FC236}">
                <a16:creationId xmlns:a16="http://schemas.microsoft.com/office/drawing/2014/main" id="{03340C1B-6B2C-0DDB-A844-5D9722E1165E}"/>
              </a:ext>
            </a:extLst>
          </p:cNvPr>
          <p:cNvSpPr/>
          <p:nvPr/>
        </p:nvSpPr>
        <p:spPr>
          <a:xfrm>
            <a:off x="1030486" y="5141281"/>
            <a:ext cx="1781294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vikhr_12b</a:t>
            </a:r>
            <a:endParaRPr lang="en-US" sz="1800" dirty="0"/>
          </a:p>
        </p:txBody>
      </p:sp>
      <p:sp>
        <p:nvSpPr>
          <p:cNvPr id="131" name="Text 31">
            <a:extLst>
              <a:ext uri="{FF2B5EF4-FFF2-40B4-BE49-F238E27FC236}">
                <a16:creationId xmlns:a16="http://schemas.microsoft.com/office/drawing/2014/main" id="{69E2F90F-2C04-8C70-DA29-BB840C52B7F7}"/>
              </a:ext>
            </a:extLst>
          </p:cNvPr>
          <p:cNvSpPr/>
          <p:nvPr/>
        </p:nvSpPr>
        <p:spPr>
          <a:xfrm>
            <a:off x="3194923" y="5141281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32" name="Text 32">
            <a:extLst>
              <a:ext uri="{FF2B5EF4-FFF2-40B4-BE49-F238E27FC236}">
                <a16:creationId xmlns:a16="http://schemas.microsoft.com/office/drawing/2014/main" id="{8B14E819-F7AA-3037-55C6-930E60EF7D91}"/>
              </a:ext>
            </a:extLst>
          </p:cNvPr>
          <p:cNvSpPr/>
          <p:nvPr/>
        </p:nvSpPr>
        <p:spPr>
          <a:xfrm>
            <a:off x="4991695" y="5141281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33" name="Text 33">
            <a:extLst>
              <a:ext uri="{FF2B5EF4-FFF2-40B4-BE49-F238E27FC236}">
                <a16:creationId xmlns:a16="http://schemas.microsoft.com/office/drawing/2014/main" id="{5F29BABC-1337-4A8D-6841-3669F55C4667}"/>
              </a:ext>
            </a:extLst>
          </p:cNvPr>
          <p:cNvSpPr/>
          <p:nvPr/>
        </p:nvSpPr>
        <p:spPr>
          <a:xfrm>
            <a:off x="6788468" y="5141281"/>
            <a:ext cx="964406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34" name="Text 34">
            <a:extLst>
              <a:ext uri="{FF2B5EF4-FFF2-40B4-BE49-F238E27FC236}">
                <a16:creationId xmlns:a16="http://schemas.microsoft.com/office/drawing/2014/main" id="{720C86DA-48B8-D506-0A09-E14864104187}"/>
              </a:ext>
            </a:extLst>
          </p:cNvPr>
          <p:cNvSpPr/>
          <p:nvPr/>
        </p:nvSpPr>
        <p:spPr>
          <a:xfrm>
            <a:off x="8136017" y="5141281"/>
            <a:ext cx="1348978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35" name="Text 35">
            <a:extLst>
              <a:ext uri="{FF2B5EF4-FFF2-40B4-BE49-F238E27FC236}">
                <a16:creationId xmlns:a16="http://schemas.microsoft.com/office/drawing/2014/main" id="{D39E4D75-3A34-5F68-B85F-BEEDAEA836B8}"/>
              </a:ext>
            </a:extLst>
          </p:cNvPr>
          <p:cNvSpPr/>
          <p:nvPr/>
        </p:nvSpPr>
        <p:spPr>
          <a:xfrm>
            <a:off x="9868138" y="5141281"/>
            <a:ext cx="167259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36" name="Text 36">
            <a:extLst>
              <a:ext uri="{FF2B5EF4-FFF2-40B4-BE49-F238E27FC236}">
                <a16:creationId xmlns:a16="http://schemas.microsoft.com/office/drawing/2014/main" id="{B37B0125-FCC7-B6AC-44CC-20652F0A5F50}"/>
              </a:ext>
            </a:extLst>
          </p:cNvPr>
          <p:cNvSpPr/>
          <p:nvPr/>
        </p:nvSpPr>
        <p:spPr>
          <a:xfrm>
            <a:off x="11923871" y="5141281"/>
            <a:ext cx="167640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37" name="Shape 37">
            <a:extLst>
              <a:ext uri="{FF2B5EF4-FFF2-40B4-BE49-F238E27FC236}">
                <a16:creationId xmlns:a16="http://schemas.microsoft.com/office/drawing/2014/main" id="{A00B1153-DAEC-DEF8-022C-F1A82A572CA6}"/>
              </a:ext>
            </a:extLst>
          </p:cNvPr>
          <p:cNvSpPr/>
          <p:nvPr/>
        </p:nvSpPr>
        <p:spPr>
          <a:xfrm>
            <a:off x="842248" y="5535616"/>
            <a:ext cx="12945785" cy="49518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8" name="Text 38">
            <a:extLst>
              <a:ext uri="{FF2B5EF4-FFF2-40B4-BE49-F238E27FC236}">
                <a16:creationId xmlns:a16="http://schemas.microsoft.com/office/drawing/2014/main" id="{B15A35BE-F225-FCD5-7B1A-7127772B53B8}"/>
              </a:ext>
            </a:extLst>
          </p:cNvPr>
          <p:cNvSpPr/>
          <p:nvPr/>
        </p:nvSpPr>
        <p:spPr>
          <a:xfrm>
            <a:off x="1030486" y="5636462"/>
            <a:ext cx="1781294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qwen_14b</a:t>
            </a:r>
            <a:endParaRPr lang="en-US" sz="1800" dirty="0"/>
          </a:p>
        </p:txBody>
      </p:sp>
      <p:sp>
        <p:nvSpPr>
          <p:cNvPr id="139" name="Text 39">
            <a:extLst>
              <a:ext uri="{FF2B5EF4-FFF2-40B4-BE49-F238E27FC236}">
                <a16:creationId xmlns:a16="http://schemas.microsoft.com/office/drawing/2014/main" id="{4B25A4CE-778B-ED1D-455F-93848F649149}"/>
              </a:ext>
            </a:extLst>
          </p:cNvPr>
          <p:cNvSpPr/>
          <p:nvPr/>
        </p:nvSpPr>
        <p:spPr>
          <a:xfrm>
            <a:off x="3194923" y="5636462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40" name="Text 40">
            <a:extLst>
              <a:ext uri="{FF2B5EF4-FFF2-40B4-BE49-F238E27FC236}">
                <a16:creationId xmlns:a16="http://schemas.microsoft.com/office/drawing/2014/main" id="{6D1B4892-B77C-61AB-4E77-BBAF5607A136}"/>
              </a:ext>
            </a:extLst>
          </p:cNvPr>
          <p:cNvSpPr/>
          <p:nvPr/>
        </p:nvSpPr>
        <p:spPr>
          <a:xfrm>
            <a:off x="4991695" y="5636462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41" name="Text 41">
            <a:extLst>
              <a:ext uri="{FF2B5EF4-FFF2-40B4-BE49-F238E27FC236}">
                <a16:creationId xmlns:a16="http://schemas.microsoft.com/office/drawing/2014/main" id="{2ED2A6FA-2119-A729-392A-314983BD3FC7}"/>
              </a:ext>
            </a:extLst>
          </p:cNvPr>
          <p:cNvSpPr/>
          <p:nvPr/>
        </p:nvSpPr>
        <p:spPr>
          <a:xfrm>
            <a:off x="6788468" y="5636462"/>
            <a:ext cx="964406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42" name="Text 42">
            <a:extLst>
              <a:ext uri="{FF2B5EF4-FFF2-40B4-BE49-F238E27FC236}">
                <a16:creationId xmlns:a16="http://schemas.microsoft.com/office/drawing/2014/main" id="{E4218944-E569-2B7C-3018-9C4F4BE32215}"/>
              </a:ext>
            </a:extLst>
          </p:cNvPr>
          <p:cNvSpPr/>
          <p:nvPr/>
        </p:nvSpPr>
        <p:spPr>
          <a:xfrm>
            <a:off x="8136017" y="5636462"/>
            <a:ext cx="1348978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43" name="Text 43">
            <a:extLst>
              <a:ext uri="{FF2B5EF4-FFF2-40B4-BE49-F238E27FC236}">
                <a16:creationId xmlns:a16="http://schemas.microsoft.com/office/drawing/2014/main" id="{37970F95-31D1-E12F-A3DB-40699E1534AE}"/>
              </a:ext>
            </a:extLst>
          </p:cNvPr>
          <p:cNvSpPr/>
          <p:nvPr/>
        </p:nvSpPr>
        <p:spPr>
          <a:xfrm>
            <a:off x="9868138" y="5636462"/>
            <a:ext cx="167259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44" name="Text 44">
            <a:extLst>
              <a:ext uri="{FF2B5EF4-FFF2-40B4-BE49-F238E27FC236}">
                <a16:creationId xmlns:a16="http://schemas.microsoft.com/office/drawing/2014/main" id="{9284EF08-6E82-793A-F67A-C6DD97182003}"/>
              </a:ext>
            </a:extLst>
          </p:cNvPr>
          <p:cNvSpPr/>
          <p:nvPr/>
        </p:nvSpPr>
        <p:spPr>
          <a:xfrm>
            <a:off x="11923871" y="5636462"/>
            <a:ext cx="167640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45" name="Shape 45">
            <a:extLst>
              <a:ext uri="{FF2B5EF4-FFF2-40B4-BE49-F238E27FC236}">
                <a16:creationId xmlns:a16="http://schemas.microsoft.com/office/drawing/2014/main" id="{FF357C45-3D0B-41C3-1769-DB0900184818}"/>
              </a:ext>
            </a:extLst>
          </p:cNvPr>
          <p:cNvSpPr/>
          <p:nvPr/>
        </p:nvSpPr>
        <p:spPr>
          <a:xfrm>
            <a:off x="842248" y="6030797"/>
            <a:ext cx="12945785" cy="49518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6" name="Text 46">
            <a:extLst>
              <a:ext uri="{FF2B5EF4-FFF2-40B4-BE49-F238E27FC236}">
                <a16:creationId xmlns:a16="http://schemas.microsoft.com/office/drawing/2014/main" id="{0000D414-CDAA-EA9F-A0B9-7B7B961D3E46}"/>
              </a:ext>
            </a:extLst>
          </p:cNvPr>
          <p:cNvSpPr/>
          <p:nvPr/>
        </p:nvSpPr>
        <p:spPr>
          <a:xfrm>
            <a:off x="1030486" y="6131643"/>
            <a:ext cx="1781294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qwen_32b</a:t>
            </a:r>
            <a:endParaRPr lang="en-US" sz="1800" dirty="0"/>
          </a:p>
        </p:txBody>
      </p:sp>
      <p:sp>
        <p:nvSpPr>
          <p:cNvPr id="147" name="Text 47">
            <a:extLst>
              <a:ext uri="{FF2B5EF4-FFF2-40B4-BE49-F238E27FC236}">
                <a16:creationId xmlns:a16="http://schemas.microsoft.com/office/drawing/2014/main" id="{1689AD52-25F0-B9FA-701B-0AA3A0070AB2}"/>
              </a:ext>
            </a:extLst>
          </p:cNvPr>
          <p:cNvSpPr/>
          <p:nvPr/>
        </p:nvSpPr>
        <p:spPr>
          <a:xfrm>
            <a:off x="3194923" y="6131643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48" name="Text 48">
            <a:extLst>
              <a:ext uri="{FF2B5EF4-FFF2-40B4-BE49-F238E27FC236}">
                <a16:creationId xmlns:a16="http://schemas.microsoft.com/office/drawing/2014/main" id="{BA8A87F6-57F0-EEBB-24E1-94BA060CC2A4}"/>
              </a:ext>
            </a:extLst>
          </p:cNvPr>
          <p:cNvSpPr/>
          <p:nvPr/>
        </p:nvSpPr>
        <p:spPr>
          <a:xfrm>
            <a:off x="4991695" y="6131643"/>
            <a:ext cx="141362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49" name="Text 49">
            <a:extLst>
              <a:ext uri="{FF2B5EF4-FFF2-40B4-BE49-F238E27FC236}">
                <a16:creationId xmlns:a16="http://schemas.microsoft.com/office/drawing/2014/main" id="{A5C55D16-BC46-4B27-2E89-19ED284D0BF7}"/>
              </a:ext>
            </a:extLst>
          </p:cNvPr>
          <p:cNvSpPr/>
          <p:nvPr/>
        </p:nvSpPr>
        <p:spPr>
          <a:xfrm>
            <a:off x="6788468" y="6131643"/>
            <a:ext cx="964406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50" name="Text 50">
            <a:extLst>
              <a:ext uri="{FF2B5EF4-FFF2-40B4-BE49-F238E27FC236}">
                <a16:creationId xmlns:a16="http://schemas.microsoft.com/office/drawing/2014/main" id="{576EB646-6974-DE26-2F3E-4982FE888F45}"/>
              </a:ext>
            </a:extLst>
          </p:cNvPr>
          <p:cNvSpPr/>
          <p:nvPr/>
        </p:nvSpPr>
        <p:spPr>
          <a:xfrm>
            <a:off x="8136017" y="6131643"/>
            <a:ext cx="1348978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51" name="Text 51">
            <a:extLst>
              <a:ext uri="{FF2B5EF4-FFF2-40B4-BE49-F238E27FC236}">
                <a16:creationId xmlns:a16="http://schemas.microsoft.com/office/drawing/2014/main" id="{0F1F3764-50C6-633C-8BA3-272FF9584816}"/>
              </a:ext>
            </a:extLst>
          </p:cNvPr>
          <p:cNvSpPr/>
          <p:nvPr/>
        </p:nvSpPr>
        <p:spPr>
          <a:xfrm>
            <a:off x="9868138" y="6131643"/>
            <a:ext cx="167259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52" name="Text 52">
            <a:extLst>
              <a:ext uri="{FF2B5EF4-FFF2-40B4-BE49-F238E27FC236}">
                <a16:creationId xmlns:a16="http://schemas.microsoft.com/office/drawing/2014/main" id="{4A4FF74A-E626-6F81-3347-DFE7B2FB4B1A}"/>
              </a:ext>
            </a:extLst>
          </p:cNvPr>
          <p:cNvSpPr/>
          <p:nvPr/>
        </p:nvSpPr>
        <p:spPr>
          <a:xfrm>
            <a:off x="11923871" y="6131643"/>
            <a:ext cx="1676400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✓</a:t>
            </a:r>
            <a:endParaRPr lang="en-US" sz="1450" dirty="0"/>
          </a:p>
        </p:txBody>
      </p:sp>
      <p:sp>
        <p:nvSpPr>
          <p:cNvPr id="153" name="Text 53">
            <a:extLst>
              <a:ext uri="{FF2B5EF4-FFF2-40B4-BE49-F238E27FC236}">
                <a16:creationId xmlns:a16="http://schemas.microsoft.com/office/drawing/2014/main" id="{8B4E8199-85D8-26EB-7662-0EFEEF777E66}"/>
              </a:ext>
            </a:extLst>
          </p:cNvPr>
          <p:cNvSpPr/>
          <p:nvPr/>
        </p:nvSpPr>
        <p:spPr>
          <a:xfrm>
            <a:off x="834628" y="6708500"/>
            <a:ext cx="12961025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Saiga-8B — только 2 режима из-за ограниченного контекстного окна. </a:t>
            </a:r>
            <a:endParaRPr lang="en-US" sz="1450" dirty="0"/>
          </a:p>
        </p:txBody>
      </p:sp>
      <p:sp>
        <p:nvSpPr>
          <p:cNvPr id="154" name="Text 54">
            <a:extLst>
              <a:ext uri="{FF2B5EF4-FFF2-40B4-BE49-F238E27FC236}">
                <a16:creationId xmlns:a16="http://schemas.microsoft.com/office/drawing/2014/main" id="{493B32B6-2F66-6147-D924-9C9F4A08E608}"/>
              </a:ext>
            </a:extLst>
          </p:cNvPr>
          <p:cNvSpPr/>
          <p:nvPr/>
        </p:nvSpPr>
        <p:spPr>
          <a:xfrm>
            <a:off x="834628" y="7158080"/>
            <a:ext cx="12961025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 нехватке оригиналов в few-shot подмешивались аугментированные примеры.</a:t>
            </a:r>
            <a:endParaRPr lang="en-US" sz="145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A9F1881-FFC3-9C59-B78E-AFD05D5448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209" y="1374099"/>
            <a:ext cx="665024" cy="665024"/>
          </a:xfrm>
          <a:prstGeom prst="rect">
            <a:avLst/>
          </a:prstGeom>
        </p:spPr>
      </p:pic>
      <p:sp>
        <p:nvSpPr>
          <p:cNvPr id="6" name="Прямоугольник: скругленные углы 3">
            <a:extLst>
              <a:ext uri="{FF2B5EF4-FFF2-40B4-BE49-F238E27FC236}">
                <a16:creationId xmlns:a16="http://schemas.microsoft.com/office/drawing/2014/main" id="{B30FF2CB-89D1-0647-40D5-58C257853FDC}"/>
              </a:ext>
            </a:extLst>
          </p:cNvPr>
          <p:cNvSpPr/>
          <p:nvPr/>
        </p:nvSpPr>
        <p:spPr>
          <a:xfrm>
            <a:off x="1353233" y="1211951"/>
            <a:ext cx="12799282" cy="1010199"/>
          </a:xfrm>
          <a:prstGeom prst="roundRect">
            <a:avLst/>
          </a:prstGeom>
          <a:solidFill>
            <a:srgbClr val="CF4C5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F98EB8B5-10E0-86D8-B82C-5EA27B0102B2}"/>
              </a:ext>
            </a:extLst>
          </p:cNvPr>
          <p:cNvSpPr/>
          <p:nvPr/>
        </p:nvSpPr>
        <p:spPr>
          <a:xfrm>
            <a:off x="1507272" y="1327993"/>
            <a:ext cx="12961025" cy="814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</a:t>
            </a:r>
            <a:r>
              <a:rPr lang="ru-RU" sz="14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выбранных </a:t>
            </a:r>
            <a:r>
              <a:rPr lang="en-US" sz="1450" dirty="0" err="1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моделей</a:t>
            </a:r>
            <a:r>
              <a:rPr lang="en-US" sz="14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ru-RU" sz="14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r>
              <a:rPr lang="en-US" sz="14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50" dirty="0" err="1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режим</a:t>
            </a:r>
            <a:r>
              <a:rPr lang="ru-RU" sz="1450" dirty="0" err="1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ов</a:t>
            </a:r>
            <a:r>
              <a:rPr lang="en-US" sz="14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few-shot.</a:t>
            </a:r>
            <a:endParaRPr lang="ru-RU" sz="1450" dirty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150"/>
              </a:lnSpc>
              <a:buNone/>
            </a:pPr>
            <a:r>
              <a:rPr lang="en-US" sz="1450" dirty="0" err="1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Для</a:t>
            </a:r>
            <a:r>
              <a:rPr lang="en-US" sz="14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каждого из 36 классов — автоматически сгенерированное описание. </a:t>
            </a:r>
            <a:endParaRPr lang="ru-RU" sz="1450" dirty="0">
              <a:solidFill>
                <a:schemeClr val="bg1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150"/>
              </a:lnSpc>
              <a:buNone/>
            </a:pPr>
            <a:r>
              <a:rPr lang="en-US" sz="1450" dirty="0" err="1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Реализован</a:t>
            </a:r>
            <a:r>
              <a:rPr lang="en-US" sz="14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50" b="1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5-уровневый парсер ответов</a:t>
            </a:r>
            <a:r>
              <a:rPr lang="en-US" sz="14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для моделей, генерирующих пояснения вместо метки.</a:t>
            </a:r>
            <a:endParaRPr lang="en-US" sz="1450" dirty="0">
              <a:solidFill>
                <a:schemeClr val="bg1"/>
              </a:solidFill>
            </a:endParaRPr>
          </a:p>
        </p:txBody>
      </p:sp>
      <p:sp>
        <p:nvSpPr>
          <p:cNvPr id="2" name="Text 7">
            <a:extLst>
              <a:ext uri="{FF2B5EF4-FFF2-40B4-BE49-F238E27FC236}">
                <a16:creationId xmlns:a16="http://schemas.microsoft.com/office/drawing/2014/main" id="{C5665599-6C0B-ED3B-5F43-7AAF0513ABB4}"/>
              </a:ext>
            </a:extLst>
          </p:cNvPr>
          <p:cNvSpPr/>
          <p:nvPr/>
        </p:nvSpPr>
        <p:spPr>
          <a:xfrm>
            <a:off x="14337506" y="7924864"/>
            <a:ext cx="292894" cy="304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ru-RU" sz="1850" dirty="0">
                <a:latin typeface="Roboto Slab" pitchFamily="34" charset="0"/>
                <a:ea typeface="Roboto Slab" pitchFamily="34" charset="-122"/>
              </a:rPr>
              <a:t>9</a:t>
            </a:r>
            <a:endParaRPr lang="en-US" sz="1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97FF695-D0EF-80DC-B9DC-708D25D3B9B8}"/>
              </a:ext>
            </a:extLst>
          </p:cNvPr>
          <p:cNvSpPr/>
          <p:nvPr/>
        </p:nvSpPr>
        <p:spPr>
          <a:xfrm>
            <a:off x="706993" y="872133"/>
            <a:ext cx="13059608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Результаты prompt-based vs. классические методы</a:t>
            </a:r>
            <a:endParaRPr lang="en-US" sz="39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3D4065D-F453-4D39-0EDB-4699800C2673}"/>
              </a:ext>
            </a:extLst>
          </p:cNvPr>
          <p:cNvSpPr/>
          <p:nvPr/>
        </p:nvSpPr>
        <p:spPr>
          <a:xfrm>
            <a:off x="706993" y="1863209"/>
            <a:ext cx="13216414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Лучший результат среди prompt-based — </a:t>
            </a: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Qwen 32B, K=3: Balanced Accuracy 0.38, Macro F1 0.26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Классические методы устойчиво выигрывают. Vikhr и T-lite деградируют при увеличении числа примеров.</a:t>
            </a:r>
            <a:endParaRPr lang="en-US" sz="155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ADB7905E-3A24-7B1C-7FA6-618B1508E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62" y="2941913"/>
            <a:ext cx="6354129" cy="4890326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B93F5C57-8A82-B910-490E-84F646691D67}"/>
              </a:ext>
            </a:extLst>
          </p:cNvPr>
          <p:cNvSpPr/>
          <p:nvPr/>
        </p:nvSpPr>
        <p:spPr>
          <a:xfrm>
            <a:off x="6207163" y="3374587"/>
            <a:ext cx="484094" cy="89375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strument Sans" pitchFamily="2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0.52</a:t>
            </a:r>
            <a:endParaRPr lang="en-US" sz="1400" dirty="0">
              <a:latin typeface="Instrument Sans" pitchFamily="2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38E5968-A345-0628-99EF-2C99C09F7908}"/>
              </a:ext>
            </a:extLst>
          </p:cNvPr>
          <p:cNvSpPr/>
          <p:nvPr/>
        </p:nvSpPr>
        <p:spPr>
          <a:xfrm>
            <a:off x="4874499" y="3912837"/>
            <a:ext cx="740993" cy="14478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strument Sans" pitchFamily="2" charset="0"/>
                <a:ea typeface="-apple-system, BlinkMacSystemFont, Segoe UI, Roboto, Helvetica Neue, Arial, sans-serif Medium" pitchFamily="34" charset="-122"/>
              </a:rPr>
              <a:t>0.38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9B0F9D6-2DF0-84D7-8248-27271AF5DE1D}"/>
              </a:ext>
            </a:extLst>
          </p:cNvPr>
          <p:cNvSpPr/>
          <p:nvPr/>
        </p:nvSpPr>
        <p:spPr>
          <a:xfrm>
            <a:off x="7569279" y="2856547"/>
            <a:ext cx="304835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Ключевые наблюдения</a:t>
            </a:r>
            <a:endParaRPr lang="en-US" sz="1950" dirty="0"/>
          </a:p>
        </p:txBody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D995A83D-A178-697E-CA98-9F8346D97D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5003" y="3384649"/>
            <a:ext cx="303014" cy="303014"/>
          </a:xfrm>
          <a:prstGeom prst="rect">
            <a:avLst/>
          </a:prstGeom>
        </p:spPr>
      </p:pic>
      <p:sp>
        <p:nvSpPr>
          <p:cNvPr id="15" name="Text 11">
            <a:extLst>
              <a:ext uri="{FF2B5EF4-FFF2-40B4-BE49-F238E27FC236}">
                <a16:creationId xmlns:a16="http://schemas.microsoft.com/office/drawing/2014/main" id="{D3886BCE-A5EC-A92E-59AD-4190512ED5F0}"/>
              </a:ext>
            </a:extLst>
          </p:cNvPr>
          <p:cNvSpPr/>
          <p:nvPr/>
        </p:nvSpPr>
        <p:spPr>
          <a:xfrm>
            <a:off x="8225671" y="3374588"/>
            <a:ext cx="5705356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Qwen 32B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лидер среди prompt-based, но отстаёт от rubert-base на </a:t>
            </a: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~14 п.п.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по Balanced Accuracy</a:t>
            </a:r>
            <a:endParaRPr lang="en-US" sz="1550" dirty="0"/>
          </a:p>
        </p:txBody>
      </p:sp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117CDB41-1255-0295-478F-9E7DB8C2C1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5003" y="4360485"/>
            <a:ext cx="303014" cy="303014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FCFEF676-3893-9EA0-3BCA-C70C59A45772}"/>
              </a:ext>
            </a:extLst>
          </p:cNvPr>
          <p:cNvSpPr/>
          <p:nvPr/>
        </p:nvSpPr>
        <p:spPr>
          <a:xfrm>
            <a:off x="8225671" y="4350425"/>
            <a:ext cx="5705356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Vikhr и T-lite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резко деградируют при K≥3 — модели игнорируют метку и генерируют объяснения</a:t>
            </a:r>
            <a:endParaRPr lang="en-US" sz="1550" dirty="0"/>
          </a:p>
        </p:txBody>
      </p:sp>
      <p:pic>
        <p:nvPicPr>
          <p:cNvPr id="18" name="Image 3" descr="preencoded.png">
            <a:extLst>
              <a:ext uri="{FF2B5EF4-FFF2-40B4-BE49-F238E27FC236}">
                <a16:creationId xmlns:a16="http://schemas.microsoft.com/office/drawing/2014/main" id="{F9DF8E98-191F-518A-46B7-51FE69EC49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5003" y="5336322"/>
            <a:ext cx="303014" cy="303014"/>
          </a:xfrm>
          <a:prstGeom prst="rect">
            <a:avLst/>
          </a:prstGeom>
        </p:spPr>
      </p:pic>
      <p:sp>
        <p:nvSpPr>
          <p:cNvPr id="19" name="Text 13">
            <a:extLst>
              <a:ext uri="{FF2B5EF4-FFF2-40B4-BE49-F238E27FC236}">
                <a16:creationId xmlns:a16="http://schemas.microsoft.com/office/drawing/2014/main" id="{6CCB1714-A98B-ABD2-059E-BAA8A436FEB3}"/>
              </a:ext>
            </a:extLst>
          </p:cNvPr>
          <p:cNvSpPr/>
          <p:nvPr/>
        </p:nvSpPr>
        <p:spPr>
          <a:xfrm>
            <a:off x="8225671" y="5326261"/>
            <a:ext cx="5705356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Описания классов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помогают Qwen, но вредят Vikhr (режим 3s-nd хуже 3s)</a:t>
            </a:r>
            <a:endParaRPr lang="en-US" sz="1550" dirty="0"/>
          </a:p>
        </p:txBody>
      </p:sp>
      <p:pic>
        <p:nvPicPr>
          <p:cNvPr id="20" name="Image 4" descr="preencoded.png">
            <a:extLst>
              <a:ext uri="{FF2B5EF4-FFF2-40B4-BE49-F238E27FC236}">
                <a16:creationId xmlns:a16="http://schemas.microsoft.com/office/drawing/2014/main" id="{87AB10F6-4DDB-061A-14AC-31529C1C1D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45003" y="6312158"/>
            <a:ext cx="303014" cy="303014"/>
          </a:xfrm>
          <a:prstGeom prst="rect">
            <a:avLst/>
          </a:prstGeom>
        </p:spPr>
      </p:pic>
      <p:sp>
        <p:nvSpPr>
          <p:cNvPr id="21" name="Text 14">
            <a:extLst>
              <a:ext uri="{FF2B5EF4-FFF2-40B4-BE49-F238E27FC236}">
                <a16:creationId xmlns:a16="http://schemas.microsoft.com/office/drawing/2014/main" id="{2D56AFF5-9976-360D-F967-E2FCD4C0B5B0}"/>
              </a:ext>
            </a:extLst>
          </p:cNvPr>
          <p:cNvSpPr/>
          <p:nvPr/>
        </p:nvSpPr>
        <p:spPr>
          <a:xfrm>
            <a:off x="8225671" y="6302097"/>
            <a:ext cx="5705356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Prompt-based — </a:t>
            </a: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нежизнеспособная замена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дообучению на данном корпусе</a:t>
            </a:r>
            <a:endParaRPr lang="en-US" sz="1550" dirty="0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240CF8F2-942B-024D-39AA-293A4E75D16F}"/>
              </a:ext>
            </a:extLst>
          </p:cNvPr>
          <p:cNvSpPr/>
          <p:nvPr/>
        </p:nvSpPr>
        <p:spPr>
          <a:xfrm>
            <a:off x="4683038" y="4479428"/>
            <a:ext cx="629660" cy="184071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strument Sans" pitchFamily="2" charset="0"/>
                <a:ea typeface="-apple-system, BlinkMacSystemFont, Segoe UI, Roboto, Helvetica Neue, Arial, sans-serif Medium" pitchFamily="34" charset="-122"/>
              </a:rPr>
              <a:t>0.36</a:t>
            </a:r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97A2F55A-E7DB-0466-586F-C454D7D8A7B6}"/>
              </a:ext>
            </a:extLst>
          </p:cNvPr>
          <p:cNvSpPr/>
          <p:nvPr/>
        </p:nvSpPr>
        <p:spPr>
          <a:xfrm>
            <a:off x="4683038" y="5052023"/>
            <a:ext cx="629660" cy="184071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strument Sans" pitchFamily="2" charset="0"/>
                <a:ea typeface="-apple-system, BlinkMacSystemFont, Segoe UI, Roboto, Helvetica Neue, Arial, sans-serif Medium" pitchFamily="34" charset="-122"/>
              </a:rPr>
              <a:t>0.36</a:t>
            </a:r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9EE57531-9D0D-7C18-8FAE-D122BE259E4C}"/>
              </a:ext>
            </a:extLst>
          </p:cNvPr>
          <p:cNvSpPr/>
          <p:nvPr/>
        </p:nvSpPr>
        <p:spPr>
          <a:xfrm>
            <a:off x="4244839" y="5595132"/>
            <a:ext cx="629660" cy="184071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strument Sans" pitchFamily="2" charset="0"/>
                <a:ea typeface="-apple-system, BlinkMacSystemFont, Segoe UI, Roboto, Helvetica Neue, Arial, sans-serif Medium" pitchFamily="34" charset="-122"/>
              </a:rPr>
              <a:t>0.32</a:t>
            </a:r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304F13EC-46B5-C5F6-1D81-FA8BCE973EB6}"/>
              </a:ext>
            </a:extLst>
          </p:cNvPr>
          <p:cNvSpPr/>
          <p:nvPr/>
        </p:nvSpPr>
        <p:spPr>
          <a:xfrm>
            <a:off x="3313384" y="6118026"/>
            <a:ext cx="629660" cy="184071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1400" dirty="0">
                <a:latin typeface="Instrument Sans" pitchFamily="2" charset="0"/>
                <a:ea typeface="-apple-system, BlinkMacSystemFont, Segoe UI, Roboto, Helvetica Neue, Arial, sans-serif Medium" pitchFamily="34" charset="-122"/>
              </a:rPr>
              <a:t>0.22</a:t>
            </a:r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FC0D863D-08AF-3438-E82D-90113F5954C1}"/>
              </a:ext>
            </a:extLst>
          </p:cNvPr>
          <p:cNvSpPr/>
          <p:nvPr/>
        </p:nvSpPr>
        <p:spPr>
          <a:xfrm>
            <a:off x="2940622" y="6677736"/>
            <a:ext cx="629660" cy="184071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1400" dirty="0">
                <a:latin typeface="Instrument Sans" pitchFamily="2" charset="0"/>
                <a:ea typeface="-apple-system, BlinkMacSystemFont, Segoe UI, Roboto, Helvetica Neue, Arial, sans-serif Medium" pitchFamily="34" charset="-122"/>
              </a:rPr>
              <a:t>0.18</a:t>
            </a:r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A2137526-E67B-4325-AA21-E4EFD9225E5E}"/>
              </a:ext>
            </a:extLst>
          </p:cNvPr>
          <p:cNvSpPr/>
          <p:nvPr/>
        </p:nvSpPr>
        <p:spPr>
          <a:xfrm>
            <a:off x="2292774" y="7221896"/>
            <a:ext cx="629660" cy="184071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1400" dirty="0">
                <a:latin typeface="Instrument Sans" pitchFamily="2" charset="0"/>
                <a:ea typeface="-apple-system, BlinkMacSystemFont, Segoe UI, Roboto, Helvetica Neue, Arial, sans-serif Medium" pitchFamily="34" charset="-122"/>
              </a:rPr>
              <a:t>0.11</a:t>
            </a: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04CA0ED5-2198-75FC-3D22-4681739A9834}"/>
              </a:ext>
            </a:extLst>
          </p:cNvPr>
          <p:cNvSpPr/>
          <p:nvPr/>
        </p:nvSpPr>
        <p:spPr>
          <a:xfrm>
            <a:off x="14337506" y="7924864"/>
            <a:ext cx="292894" cy="304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ru-RU" sz="1850" dirty="0">
                <a:latin typeface="Roboto Slab" pitchFamily="34" charset="0"/>
                <a:ea typeface="Roboto Slab" pitchFamily="34" charset="-122"/>
              </a:rPr>
              <a:t>10</a:t>
            </a:r>
            <a:endParaRPr lang="en-US" sz="1850" dirty="0"/>
          </a:p>
        </p:txBody>
      </p:sp>
    </p:spTree>
    <p:extLst>
      <p:ext uri="{BB962C8B-B14F-4D97-AF65-F5344CB8AC3E}">
        <p14:creationId xmlns:p14="http://schemas.microsoft.com/office/powerpoint/2010/main" val="3261285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2948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7986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020B65CF-CB7D-9B1D-02CF-0363E75B745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10760232" y="3663825"/>
            <a:ext cx="3323629" cy="1595008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8654264-639B-9B6A-77D4-55271A24A0E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rcRect t="5754"/>
          <a:stretch>
            <a:fillRect/>
          </a:stretch>
        </p:blipFill>
        <p:spPr>
          <a:xfrm>
            <a:off x="4909691" y="5695344"/>
            <a:ext cx="2789816" cy="1518105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B5823A4E-E145-06D8-12A7-18194A9E0FA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40000"/>
          </a:blip>
          <a:stretch>
            <a:fillRect/>
          </a:stretch>
        </p:blipFill>
        <p:spPr>
          <a:xfrm>
            <a:off x="4326912" y="1270304"/>
            <a:ext cx="3511941" cy="4244330"/>
          </a:xfrm>
          <a:prstGeom prst="rect">
            <a:avLst/>
          </a:prstGeom>
          <a:solidFill>
            <a:schemeClr val="bg1"/>
          </a:solidFill>
          <a:ln>
            <a:noFill/>
          </a:ln>
        </p:spPr>
      </p:pic>
      <p:sp>
        <p:nvSpPr>
          <p:cNvPr id="2" name="Text 0"/>
          <p:cNvSpPr/>
          <p:nvPr/>
        </p:nvSpPr>
        <p:spPr>
          <a:xfrm>
            <a:off x="888866" y="174898"/>
            <a:ext cx="842391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Инфраструктурные решения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296391"/>
            <a:ext cx="30290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Система чекпоинтов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1" y="5786816"/>
            <a:ext cx="4402154" cy="1785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ru-RU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Сохранение в 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CSV-</a:t>
            </a:r>
            <a:r>
              <a:rPr lang="en-US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файл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после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каждо</a:t>
            </a:r>
            <a:r>
              <a:rPr lang="ru-RU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й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ru-RU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итерации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При </a:t>
            </a:r>
            <a:r>
              <a:rPr lang="en-US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перезапуске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→ </a:t>
            </a:r>
            <a:r>
              <a:rPr lang="en-US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откат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к последнему этапу. Критично при работе </a:t>
            </a:r>
            <a:r>
              <a:rPr lang="en-US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ru-RU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удаленных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GPU </a:t>
            </a:r>
            <a:r>
              <a:rPr lang="ru-RU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и </a:t>
            </a:r>
            <a:r>
              <a:rPr lang="en-US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</a:t>
            </a:r>
            <a:r>
              <a:rPr lang="en-US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ограниченным временем сессии.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8481763" y="53182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GPU-</a:t>
            </a:r>
            <a:r>
              <a:rPr lang="en-US" sz="2200" dirty="0" err="1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профили</a:t>
            </a:r>
            <a:r>
              <a:rPr lang="ru-RU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и этапы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486586" y="5719860"/>
            <a:ext cx="4224579" cy="2026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888866" y="2069270"/>
            <a:ext cx="39099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Модульная</a:t>
            </a:r>
            <a:r>
              <a:rPr lang="en-US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архитектура</a:t>
            </a:r>
            <a:endParaRPr lang="en-US" sz="2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81763" y="1306954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486586" y="20707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err="1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Конфигураци</a:t>
            </a:r>
            <a:r>
              <a:rPr lang="ru-RU" sz="22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и</a:t>
            </a:r>
            <a:endParaRPr lang="en-US" sz="220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6E90BE68-2F39-BD76-715C-8511C5F5AE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0608" y="1270304"/>
            <a:ext cx="647590" cy="603626"/>
          </a:xfrm>
          <a:prstGeom prst="rect">
            <a:avLst/>
          </a:prstGeom>
        </p:spPr>
      </p:pic>
      <p:sp>
        <p:nvSpPr>
          <p:cNvPr id="21" name="Rectangle 1">
            <a:extLst>
              <a:ext uri="{FF2B5EF4-FFF2-40B4-BE49-F238E27FC236}">
                <a16:creationId xmlns:a16="http://schemas.microsoft.com/office/drawing/2014/main" id="{2BA78411-D547-8936-377D-4BF97974B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90" y="2388178"/>
            <a:ext cx="4294577" cy="19149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lnSpc>
                <a:spcPts val="285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Модульная архитектура — каждый компонент реализован как самостоятельный Python-модуль, который легко импортировать в общий пайплайн. </a:t>
            </a:r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672690B5-2503-B6A9-F238-AE82281AC6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9163" y="4622034"/>
            <a:ext cx="566977" cy="566977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2FE62A62-443F-2E55-D232-B27601FF18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35790" y="4561809"/>
            <a:ext cx="761717" cy="761717"/>
          </a:xfrm>
          <a:prstGeom prst="rect">
            <a:avLst/>
          </a:prstGeom>
        </p:spPr>
      </p:pic>
      <p:sp>
        <p:nvSpPr>
          <p:cNvPr id="35" name="Rectangle 3">
            <a:extLst>
              <a:ext uri="{FF2B5EF4-FFF2-40B4-BE49-F238E27FC236}">
                <a16:creationId xmlns:a16="http://schemas.microsoft.com/office/drawing/2014/main" id="{920AA884-4CDB-D3AF-1785-190F83F5BA9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8356639" y="2522830"/>
            <a:ext cx="3435967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отдельный JSON на каждую модель: имя на </a:t>
            </a:r>
            <a:r>
              <a:rPr lang="ru-RU" altLang="ru-RU" sz="175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HuggingFace</a:t>
            </a:r>
            <a:r>
              <a:rPr lang="ru-RU" altLang="ru-RU" sz="17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параметры генерации и шаблоны промптов</a:t>
            </a:r>
          </a:p>
        </p:txBody>
      </p:sp>
      <p:sp>
        <p:nvSpPr>
          <p:cNvPr id="39" name="Rectangle 4">
            <a:extLst>
              <a:ext uri="{FF2B5EF4-FFF2-40B4-BE49-F238E27FC236}">
                <a16:creationId xmlns:a16="http://schemas.microsoft.com/office/drawing/2014/main" id="{CE8D0F0B-4A5E-28A5-C25C-057F0764C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5790" y="5956564"/>
            <a:ext cx="350396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750" dirty="0" err="1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cs typeface="Consolas" pitchFamily="34" charset="-120"/>
              </a:rPr>
              <a:t>pipeline_config.json</a:t>
            </a:r>
            <a:r>
              <a:rPr lang="ru-RU" altLang="ru-RU" sz="1750" dirty="0">
                <a:solidFill>
                  <a:srgbClr val="15213F"/>
                </a:solidFill>
                <a:highlight>
                  <a:srgbClr val="EEEFF1"/>
                </a:highlight>
                <a:latin typeface="Consolas" pitchFamily="34" charset="0"/>
                <a:cs typeface="Consolas" pitchFamily="34" charset="-120"/>
              </a:rPr>
              <a:t> 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— централизованная конфигурация: профили GPU (T4 → H100), параметры этапов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пайплайна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, пороги валидации и обучения.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5855</TotalTime>
  <Words>1101</Words>
  <Application>Microsoft Macintosh PowerPoint</Application>
  <PresentationFormat>Произвольный</PresentationFormat>
  <Paragraphs>258</Paragraphs>
  <Slides>14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4" baseType="lpstr">
      <vt:lpstr>Montserrat</vt:lpstr>
      <vt:lpstr>-webkit-standard</vt:lpstr>
      <vt:lpstr>Candara</vt:lpstr>
      <vt:lpstr>Roboto</vt:lpstr>
      <vt:lpstr>Instrument Sans</vt:lpstr>
      <vt:lpstr>Consolas</vt:lpstr>
      <vt:lpstr>Roboto Slab</vt:lpstr>
      <vt:lpstr>-apple-system, BlinkMacSystemFont, Segoe UI, Roboto, Helvetica Neue, Arial, sans-serif Medium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Константин Тураносов</cp:lastModifiedBy>
  <cp:revision>38</cp:revision>
  <dcterms:created xsi:type="dcterms:W3CDTF">2026-04-13T10:36:46Z</dcterms:created>
  <dcterms:modified xsi:type="dcterms:W3CDTF">2026-05-25T15:32:36Z</dcterms:modified>
</cp:coreProperties>
</file>