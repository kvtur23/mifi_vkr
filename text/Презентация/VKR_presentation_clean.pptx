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4630400" cy="8229600"/>
  <p:notesSz cx="8229600" cy="14630400"/>
  <p:embeddedFontLst>
    <p:embeddedFont>
      <p:font typeface="Candara" panose="020E0502030303020204" pitchFamily="34" charset="0"/>
      <p:regular r:id="rId14"/>
      <p:bold r:id="rId15"/>
      <p:italic r:id="rId16"/>
      <p:boldItalic r:id="rId17"/>
    </p:embeddedFont>
    <p:embeddedFont>
      <p:font typeface="Consolas" panose="020B0609020204030204" pitchFamily="49" charset="0"/>
      <p:regular r:id="rId18"/>
      <p:bold r:id="rId19"/>
      <p:italic r:id="rId20"/>
      <p:boldItalic r:id="rId21"/>
    </p:embeddedFont>
    <p:embeddedFont>
      <p:font typeface="Instrument Sans" pitchFamily="2" charset="0"/>
      <p:regular r:id="rId22"/>
      <p:bold r:id="rId23"/>
      <p:italic r:id="rId24"/>
    </p:embeddedFont>
    <p:embeddedFont>
      <p:font typeface="Roboto" panose="02000000000000000000" pitchFamily="2" charset="0"/>
      <p:regular r:id="rId25"/>
      <p:bold r:id="rId26"/>
      <p:italic r:id="rId27"/>
      <p:boldItalic r:id="rId28"/>
    </p:embeddedFont>
    <p:embeddedFont>
      <p:font typeface="Roboto Slab" pitchFamily="2" charset="0"/>
      <p:regular r:id="rId29"/>
      <p:bold r:id="rId30"/>
    </p:embeddedFont>
    <p:embeddedFont>
      <p:font typeface="Roboto Slab Light"/>
      <p:regular r:id="rId3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25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248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font" Target="fonts/font1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font" Target="fonts/font17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2539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44584" y="2441615"/>
            <a:ext cx="4141232" cy="426244"/>
          </a:xfrm>
          <a:prstGeom prst="roundRect">
            <a:avLst>
              <a:gd name="adj" fmla="val 6386"/>
            </a:avLst>
          </a:prstGeom>
          <a:solidFill>
            <a:srgbClr val="D7DFF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5380673" y="2509599"/>
            <a:ext cx="3869055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ВЫПУСКНАЯ КВАЛИФИКАЦИОННАЯ РАБОТА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93790" y="2958584"/>
            <a:ext cx="130428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Методы классификации текстовых документов на основе дообучения большой языковой модели</a:t>
            </a:r>
            <a:endParaRPr lang="en-US" sz="4450" dirty="0"/>
          </a:p>
        </p:txBody>
      </p:sp>
      <p:sp>
        <p:nvSpPr>
          <p:cNvPr id="5" name="Text 3"/>
          <p:cNvSpPr/>
          <p:nvPr/>
        </p:nvSpPr>
        <p:spPr>
          <a:xfrm>
            <a:off x="793790" y="542508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Научный руководитель: _____ · Исполнитель: _____ · 2025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676751"/>
            <a:ext cx="713779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Актуальность и цель работы</a:t>
            </a:r>
            <a:endParaRPr lang="en-US" sz="3750" dirty="0"/>
          </a:p>
        </p:txBody>
      </p:sp>
      <p:sp>
        <p:nvSpPr>
          <p:cNvPr id="4" name="Text 1"/>
          <p:cNvSpPr/>
          <p:nvPr/>
        </p:nvSpPr>
        <p:spPr>
          <a:xfrm>
            <a:off x="6280190" y="1688783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Проблема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280190" y="2153841"/>
            <a:ext cx="3543062" cy="1426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Крупные компании ежедневно получают тысячи писем. Ручная маршрутизация по подразделениям — трудоёмка, приводит к потерям корреспонденции и задержкам.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280190" y="3744039"/>
            <a:ext cx="3543062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Почему не классические методы NLP?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6280190" y="4510326"/>
            <a:ext cx="3543062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Не учитывают контекст, требуют больших объёмов размеченных данных для достижения приемлемого качества.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301168" y="1688783"/>
            <a:ext cx="2993112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Почему LLM fine-tuning?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10301168" y="2153841"/>
            <a:ext cx="3543062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Предобученное языковое понимание обеспечивает высокое качество при значительно меньшем объёме размеченных данных.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301168" y="3458766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Специфика задачи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10301168" y="3923824"/>
            <a:ext cx="3543062" cy="1711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Русский язык морфологически богаче английского и недостаточно представлен в обучающих данных большинства LLM. Данные — реальная нефтедобывающая компания.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301168" y="5799296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Цель работы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10301168" y="6264354"/>
            <a:ext cx="3543062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Сравнительный анализ и апробация методов дообучения LLM для автоматической классификации входящей корреспонденции.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>
            <a:extLst>
              <a:ext uri="{FF2B5EF4-FFF2-40B4-BE49-F238E27FC236}">
                <a16:creationId xmlns:a16="http://schemas.microsoft.com/office/drawing/2014/main" id="{09A4F964-D1BB-AACA-7295-6B3363B89660}"/>
              </a:ext>
            </a:extLst>
          </p:cNvPr>
          <p:cNvSpPr/>
          <p:nvPr/>
        </p:nvSpPr>
        <p:spPr>
          <a:xfrm>
            <a:off x="1079183" y="540425"/>
            <a:ext cx="8401288" cy="564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Исходный корпус и очистка данных</a:t>
            </a:r>
            <a:endParaRPr lang="en-US" sz="35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812E55CA-A358-89D2-3122-72A02DAA916B}"/>
              </a:ext>
            </a:extLst>
          </p:cNvPr>
          <p:cNvSpPr/>
          <p:nvPr/>
        </p:nvSpPr>
        <p:spPr>
          <a:xfrm>
            <a:off x="1079183" y="1450657"/>
            <a:ext cx="4465796" cy="259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Корпус: </a:t>
            </a: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1 774 письма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36 блоков компании. </a:t>
            </a:r>
            <a:endParaRPr lang="en-US" sz="140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BDA6E7B7-BB6E-B2DA-714C-88F22C1AC8ED}"/>
              </a:ext>
            </a:extLst>
          </p:cNvPr>
          <p:cNvSpPr/>
          <p:nvPr/>
        </p:nvSpPr>
        <p:spPr>
          <a:xfrm>
            <a:off x="1079183" y="1839992"/>
            <a:ext cx="4465796" cy="519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Персональные данные заменены плейсхолдерами — имена, организации, даты.</a:t>
            </a:r>
            <a:endParaRPr lang="en-US" sz="1400" dirty="0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15D3684D-71C0-CEAC-F7B5-03533097C6C1}"/>
              </a:ext>
            </a:extLst>
          </p:cNvPr>
          <p:cNvSpPr/>
          <p:nvPr/>
        </p:nvSpPr>
        <p:spPr>
          <a:xfrm>
            <a:off x="1079183" y="2503527"/>
            <a:ext cx="2750225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Выявленные проблемы</a:t>
            </a:r>
            <a:endParaRPr lang="en-US" sz="1750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DC99010A-493C-1A43-826B-6214590BB863}"/>
              </a:ext>
            </a:extLst>
          </p:cNvPr>
          <p:cNvSpPr/>
          <p:nvPr/>
        </p:nvSpPr>
        <p:spPr>
          <a:xfrm>
            <a:off x="1079183" y="2947868"/>
            <a:ext cx="4465796" cy="1353145"/>
          </a:xfrm>
          <a:prstGeom prst="roundRect">
            <a:avLst>
              <a:gd name="adj" fmla="val 8109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</p:sp>
      <p:pic>
        <p:nvPicPr>
          <p:cNvPr id="21" name="Image 0" descr="preencoded.png">
            <a:extLst>
              <a:ext uri="{FF2B5EF4-FFF2-40B4-BE49-F238E27FC236}">
                <a16:creationId xmlns:a16="http://schemas.microsoft.com/office/drawing/2014/main" id="{97E56537-4D1C-994A-137C-5D0BD9B75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323" y="2947868"/>
            <a:ext cx="91440" cy="1353145"/>
          </a:xfrm>
          <a:prstGeom prst="rect">
            <a:avLst/>
          </a:prstGeom>
        </p:spPr>
      </p:pic>
      <p:sp>
        <p:nvSpPr>
          <p:cNvPr id="22" name="Text 5">
            <a:extLst>
              <a:ext uri="{FF2B5EF4-FFF2-40B4-BE49-F238E27FC236}">
                <a16:creationId xmlns:a16="http://schemas.microsoft.com/office/drawing/2014/main" id="{4DDD3724-8661-A2B6-D930-E5BE86B4C29F}"/>
              </a:ext>
            </a:extLst>
          </p:cNvPr>
          <p:cNvSpPr/>
          <p:nvPr/>
        </p:nvSpPr>
        <p:spPr>
          <a:xfrm>
            <a:off x="1351359" y="3151465"/>
            <a:ext cx="2259330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5 дубликатов</a:t>
            </a:r>
            <a:endParaRPr lang="en-US" sz="1750" dirty="0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03569F4C-1D68-638F-CD6E-92CE791D3A51}"/>
              </a:ext>
            </a:extLst>
          </p:cNvPr>
          <p:cNvSpPr/>
          <p:nvPr/>
        </p:nvSpPr>
        <p:spPr>
          <a:xfrm>
            <a:off x="1351359" y="3577828"/>
            <a:ext cx="3990023" cy="519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полных + 1 пересекающийся между двумя блоками</a:t>
            </a:r>
            <a:endParaRPr lang="en-US" sz="1400" dirty="0"/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CAD36D80-B216-F2B2-F3BD-C48FE263A3D0}"/>
              </a:ext>
            </a:extLst>
          </p:cNvPr>
          <p:cNvSpPr/>
          <p:nvPr/>
        </p:nvSpPr>
        <p:spPr>
          <a:xfrm>
            <a:off x="1079183" y="4444960"/>
            <a:ext cx="4465796" cy="1353145"/>
          </a:xfrm>
          <a:prstGeom prst="roundRect">
            <a:avLst>
              <a:gd name="adj" fmla="val 8109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</p:sp>
      <p:pic>
        <p:nvPicPr>
          <p:cNvPr id="25" name="Image 1" descr="preencoded.png">
            <a:extLst>
              <a:ext uri="{FF2B5EF4-FFF2-40B4-BE49-F238E27FC236}">
                <a16:creationId xmlns:a16="http://schemas.microsoft.com/office/drawing/2014/main" id="{D23EDAB2-93EB-34C1-2D79-57F68E9CB7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323" y="4444960"/>
            <a:ext cx="91440" cy="1353145"/>
          </a:xfrm>
          <a:prstGeom prst="rect">
            <a:avLst/>
          </a:prstGeom>
        </p:spPr>
      </p:pic>
      <p:sp>
        <p:nvSpPr>
          <p:cNvPr id="26" name="Text 8">
            <a:extLst>
              <a:ext uri="{FF2B5EF4-FFF2-40B4-BE49-F238E27FC236}">
                <a16:creationId xmlns:a16="http://schemas.microsoft.com/office/drawing/2014/main" id="{CE21F5A8-D8C3-44FB-FDD8-FB04B7CB87E5}"/>
              </a:ext>
            </a:extLst>
          </p:cNvPr>
          <p:cNvSpPr/>
          <p:nvPr/>
        </p:nvSpPr>
        <p:spPr>
          <a:xfrm>
            <a:off x="1351359" y="4648557"/>
            <a:ext cx="2259330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19 аномалий</a:t>
            </a:r>
            <a:endParaRPr lang="en-US" sz="1750" dirty="0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80D67959-1FA8-2B60-BBF1-C5CB5695ED62}"/>
              </a:ext>
            </a:extLst>
          </p:cNvPr>
          <p:cNvSpPr/>
          <p:nvPr/>
        </p:nvSpPr>
        <p:spPr>
          <a:xfrm>
            <a:off x="1351359" y="5074920"/>
            <a:ext cx="3990023" cy="519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Тысячи слов, менее 50 уникальных — циклические повторения фраз</a:t>
            </a:r>
            <a:endParaRPr lang="en-US" sz="1400" dirty="0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07590D2B-7082-9E28-7849-4001F0EC3298}"/>
              </a:ext>
            </a:extLst>
          </p:cNvPr>
          <p:cNvSpPr/>
          <p:nvPr/>
        </p:nvSpPr>
        <p:spPr>
          <a:xfrm>
            <a:off x="5993606" y="1465064"/>
            <a:ext cx="3462457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Дисбаланс классов по блокам</a:t>
            </a:r>
            <a:endParaRPr lang="en-US" sz="1750" dirty="0"/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3A683FAE-664F-EE79-0FDF-73A121A1756D}"/>
              </a:ext>
            </a:extLst>
          </p:cNvPr>
          <p:cNvSpPr/>
          <p:nvPr/>
        </p:nvSpPr>
        <p:spPr>
          <a:xfrm>
            <a:off x="10666179" y="2421469"/>
            <a:ext cx="93464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6</a:t>
            </a:r>
            <a:endParaRPr lang="en-US" sz="650" dirty="0"/>
          </a:p>
        </p:txBody>
      </p:sp>
      <p:sp>
        <p:nvSpPr>
          <p:cNvPr id="31" name="Text 12">
            <a:extLst>
              <a:ext uri="{FF2B5EF4-FFF2-40B4-BE49-F238E27FC236}">
                <a16:creationId xmlns:a16="http://schemas.microsoft.com/office/drawing/2014/main" id="{46A4C2D9-D9A9-A6FE-08D7-0C5A282D1268}"/>
              </a:ext>
            </a:extLst>
          </p:cNvPr>
          <p:cNvSpPr/>
          <p:nvPr/>
        </p:nvSpPr>
        <p:spPr>
          <a:xfrm>
            <a:off x="10666179" y="3308437"/>
            <a:ext cx="93464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6</a:t>
            </a:r>
            <a:endParaRPr lang="en-US" sz="650" dirty="0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0B1CEC40-51CA-4AE1-8221-14833EB53437}"/>
              </a:ext>
            </a:extLst>
          </p:cNvPr>
          <p:cNvSpPr/>
          <p:nvPr/>
        </p:nvSpPr>
        <p:spPr>
          <a:xfrm>
            <a:off x="12004251" y="4195405"/>
            <a:ext cx="93464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8</a:t>
            </a:r>
            <a:endParaRPr lang="en-US" sz="650" dirty="0"/>
          </a:p>
        </p:txBody>
      </p:sp>
      <p:sp>
        <p:nvSpPr>
          <p:cNvPr id="33" name="Text 14">
            <a:extLst>
              <a:ext uri="{FF2B5EF4-FFF2-40B4-BE49-F238E27FC236}">
                <a16:creationId xmlns:a16="http://schemas.microsoft.com/office/drawing/2014/main" id="{DD19A796-E6A7-844E-C988-431F9B876953}"/>
              </a:ext>
            </a:extLst>
          </p:cNvPr>
          <p:cNvSpPr/>
          <p:nvPr/>
        </p:nvSpPr>
        <p:spPr>
          <a:xfrm>
            <a:off x="10666179" y="5082373"/>
            <a:ext cx="93464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6</a:t>
            </a:r>
            <a:endParaRPr lang="en-US" sz="650" dirty="0"/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70310C40-83C9-6412-5B01-357C2B219B44}"/>
              </a:ext>
            </a:extLst>
          </p:cNvPr>
          <p:cNvSpPr/>
          <p:nvPr/>
        </p:nvSpPr>
        <p:spPr>
          <a:xfrm>
            <a:off x="13300412" y="5969341"/>
            <a:ext cx="141089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10</a:t>
            </a:r>
            <a:endParaRPr lang="en-US" sz="650" dirty="0"/>
          </a:p>
        </p:txBody>
      </p:sp>
      <p:sp>
        <p:nvSpPr>
          <p:cNvPr id="36" name="Text 17">
            <a:extLst>
              <a:ext uri="{FF2B5EF4-FFF2-40B4-BE49-F238E27FC236}">
                <a16:creationId xmlns:a16="http://schemas.microsoft.com/office/drawing/2014/main" id="{032D4F9F-6AA0-7CF1-DD1C-0DDD64827872}"/>
              </a:ext>
            </a:extLst>
          </p:cNvPr>
          <p:cNvSpPr/>
          <p:nvPr/>
        </p:nvSpPr>
        <p:spPr>
          <a:xfrm>
            <a:off x="6565583" y="6494978"/>
            <a:ext cx="2268498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Конвейер </a:t>
            </a:r>
            <a:r>
              <a:rPr lang="en-US" sz="1750" i="1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clean_text</a:t>
            </a:r>
            <a:endParaRPr lang="en-US" sz="1750" dirty="0"/>
          </a:p>
        </p:txBody>
      </p:sp>
      <p:sp>
        <p:nvSpPr>
          <p:cNvPr id="37" name="Text 18">
            <a:extLst>
              <a:ext uri="{FF2B5EF4-FFF2-40B4-BE49-F238E27FC236}">
                <a16:creationId xmlns:a16="http://schemas.microsoft.com/office/drawing/2014/main" id="{B2662F63-9478-DF75-E84E-1B73A2CDE643}"/>
              </a:ext>
            </a:extLst>
          </p:cNvPr>
          <p:cNvSpPr/>
          <p:nvPr/>
        </p:nvSpPr>
        <p:spPr>
          <a:xfrm>
            <a:off x="6542723" y="6766233"/>
            <a:ext cx="9114473" cy="259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Удаляет повторы слов, фраз, цепочки «слово-число», сохраняя информативные письма</a:t>
            </a:r>
            <a:endParaRPr lang="en-US" sz="1400" dirty="0"/>
          </a:p>
        </p:txBody>
      </p:sp>
      <p:pic>
        <p:nvPicPr>
          <p:cNvPr id="3" name="Рисунок 2" descr="Изображение выглядит как текст, снимок экрана, линия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C26D4E3-19D3-FCE3-5270-A0625499AC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606" y="2195508"/>
            <a:ext cx="7772400" cy="3974870"/>
          </a:xfrm>
          <a:prstGeom prst="rect">
            <a:avLst/>
          </a:prstGeom>
        </p:spPr>
      </p:pic>
      <p:sp>
        <p:nvSpPr>
          <p:cNvPr id="4" name="Shape 7">
            <a:extLst>
              <a:ext uri="{FF2B5EF4-FFF2-40B4-BE49-F238E27FC236}">
                <a16:creationId xmlns:a16="http://schemas.microsoft.com/office/drawing/2014/main" id="{BC49932F-FCFD-D655-2F86-CCBEF6BBB20C}"/>
              </a:ext>
            </a:extLst>
          </p:cNvPr>
          <p:cNvSpPr/>
          <p:nvPr/>
        </p:nvSpPr>
        <p:spPr>
          <a:xfrm>
            <a:off x="1124903" y="5954050"/>
            <a:ext cx="4465796" cy="1353145"/>
          </a:xfrm>
          <a:prstGeom prst="roundRect">
            <a:avLst>
              <a:gd name="adj" fmla="val 8109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CB6A212-B300-E169-18B2-5FA7323E1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323" y="5954049"/>
            <a:ext cx="91440" cy="1353145"/>
          </a:xfrm>
          <a:prstGeom prst="rect">
            <a:avLst/>
          </a:prstGeom>
        </p:spPr>
      </p:pic>
      <p:sp>
        <p:nvSpPr>
          <p:cNvPr id="7" name="Text 16">
            <a:extLst>
              <a:ext uri="{FF2B5EF4-FFF2-40B4-BE49-F238E27FC236}">
                <a16:creationId xmlns:a16="http://schemas.microsoft.com/office/drawing/2014/main" id="{10FFE2A7-1399-4B0B-C3D6-91642E77E011}"/>
              </a:ext>
            </a:extLst>
          </p:cNvPr>
          <p:cNvSpPr/>
          <p:nvPr/>
        </p:nvSpPr>
        <p:spPr>
          <a:xfrm>
            <a:off x="1293148" y="6087970"/>
            <a:ext cx="4366131" cy="108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10 </a:t>
            </a:r>
            <a:r>
              <a:rPr lang="en-US" sz="1750" dirty="0" err="1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блоков</a:t>
            </a: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  <a:endParaRPr lang="ru-RU" sz="1750" dirty="0">
              <a:solidFill>
                <a:srgbClr val="15213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содержат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менее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10 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примеров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Крупнейший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блок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</a:t>
            </a: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249 </a:t>
            </a:r>
            <a:r>
              <a:rPr lang="en-US" sz="1400" b="1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писем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</a:t>
            </a:r>
            <a:endParaRPr lang="ru-RU" sz="1400" dirty="0">
              <a:solidFill>
                <a:srgbClr val="15213F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Минимум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</a:t>
            </a:r>
            <a:r>
              <a:rPr lang="en-US" sz="14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</a:t>
            </a:r>
            <a:r>
              <a:rPr lang="en-US" sz="1400" b="1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письма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D2CA7F-ADB7-66D1-10D2-AD4E7BBFE4D6}"/>
              </a:ext>
            </a:extLst>
          </p:cNvPr>
          <p:cNvSpPr txBox="1"/>
          <p:nvPr/>
        </p:nvSpPr>
        <p:spPr>
          <a:xfrm>
            <a:off x="10578098" y="2746855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Candara" panose="020E0502030303020204" pitchFamily="34" charset="0"/>
              </a:rPr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2E438A-5342-AB26-7CF4-98AC82DAA7CE}"/>
              </a:ext>
            </a:extLst>
          </p:cNvPr>
          <p:cNvSpPr txBox="1"/>
          <p:nvPr/>
        </p:nvSpPr>
        <p:spPr>
          <a:xfrm>
            <a:off x="10607401" y="333338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Candara" panose="020E0502030303020204" pitchFamily="34" charset="0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717BCF-AAD3-D205-9325-DB24BD2F0C73}"/>
              </a:ext>
            </a:extLst>
          </p:cNvPr>
          <p:cNvSpPr txBox="1"/>
          <p:nvPr/>
        </p:nvSpPr>
        <p:spPr>
          <a:xfrm>
            <a:off x="11719703" y="3958917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Candara" panose="020E0502030303020204" pitchFamily="34" charset="0"/>
              </a:rPr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4B729B-C2D9-6155-EE66-D348D0387583}"/>
              </a:ext>
            </a:extLst>
          </p:cNvPr>
          <p:cNvSpPr txBox="1"/>
          <p:nvPr/>
        </p:nvSpPr>
        <p:spPr>
          <a:xfrm>
            <a:off x="10624830" y="4591091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Candara" panose="020E0502030303020204" pitchFamily="34" charset="0"/>
              </a:rPr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0314DE-BC45-5982-44B6-E2ACC0C9472A}"/>
              </a:ext>
            </a:extLst>
          </p:cNvPr>
          <p:cNvSpPr txBox="1"/>
          <p:nvPr/>
        </p:nvSpPr>
        <p:spPr>
          <a:xfrm>
            <a:off x="12789028" y="5196214"/>
            <a:ext cx="32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solidFill>
                  <a:schemeClr val="bg1"/>
                </a:solidFill>
                <a:latin typeface="Candara" panose="020E0502030303020204" pitchFamily="34" charset="0"/>
              </a:rPr>
              <a:t>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1407" y="641152"/>
            <a:ext cx="10826948" cy="488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30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Семантический </a:t>
            </a:r>
            <a:r>
              <a:rPr lang="en-US" sz="305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анализ</a:t>
            </a:r>
            <a:r>
              <a:rPr lang="ru-RU" sz="30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.</a:t>
            </a:r>
            <a:endParaRPr lang="en-US" sz="3050" dirty="0"/>
          </a:p>
        </p:txBody>
      </p:sp>
      <p:sp>
        <p:nvSpPr>
          <p:cNvPr id="6" name="Shape 3"/>
          <p:cNvSpPr/>
          <p:nvPr/>
        </p:nvSpPr>
        <p:spPr>
          <a:xfrm>
            <a:off x="9530715" y="1412081"/>
            <a:ext cx="4325779" cy="1587818"/>
          </a:xfrm>
          <a:prstGeom prst="roundRect">
            <a:avLst>
              <a:gd name="adj" fmla="val 6911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7855" y="1412081"/>
            <a:ext cx="91440" cy="158781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778365" y="1591151"/>
            <a:ext cx="3899059" cy="488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Текстовые метрики (TTR, RTTR, hapax ratio)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9778365" y="2187178"/>
            <a:ext cx="3899059" cy="633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Выделяют лишь крайние группы. ~25 блоков неразличимы — шаблонная деловая лексика выравнивает показатели.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530715" y="3107531"/>
            <a:ext cx="4325779" cy="1587818"/>
          </a:xfrm>
          <a:prstGeom prst="roundRect">
            <a:avLst>
              <a:gd name="adj" fmla="val 6911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7855" y="3107531"/>
            <a:ext cx="91440" cy="158781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778365" y="3286601"/>
            <a:ext cx="3899059" cy="488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Тематическое моделирование (LDA, 30 тем)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9778365" y="3882628"/>
            <a:ext cx="3899059" cy="633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Темы пересекаются: «договор», «работа», «объект» — во всех классах. Чёткое разграничение невозможно.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9530715" y="4802981"/>
            <a:ext cx="4325779" cy="1587818"/>
          </a:xfrm>
          <a:prstGeom prst="roundRect">
            <a:avLst>
              <a:gd name="adj" fmla="val 6911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7855" y="4802981"/>
            <a:ext cx="91440" cy="158781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778365" y="4982051"/>
            <a:ext cx="3899059" cy="488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Кластеризация (SBERT → UMAP → HDBSCAN)</a:t>
            </a:r>
            <a:endParaRPr lang="en-US" sz="1500" dirty="0"/>
          </a:p>
        </p:txBody>
      </p:sp>
      <p:sp>
        <p:nvSpPr>
          <p:cNvPr id="17" name="Text 11"/>
          <p:cNvSpPr/>
          <p:nvPr/>
        </p:nvSpPr>
        <p:spPr>
          <a:xfrm>
            <a:off x="9778365" y="5578078"/>
            <a:ext cx="3899059" cy="633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83,6% писем</a:t>
            </a:r>
            <a:r>
              <a:rPr lang="en-US" sz="12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(1 468 из 1 755) — единый диффузный кластер. Только 6 малых кластеров имеют выраженную специфику.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9530715" y="6511885"/>
            <a:ext cx="4325779" cy="955358"/>
          </a:xfrm>
          <a:prstGeom prst="roundRect">
            <a:avLst>
              <a:gd name="adj" fmla="val 2454"/>
            </a:avLst>
          </a:prstGeom>
          <a:solidFill>
            <a:srgbClr val="C3CFE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6925" y="6722864"/>
            <a:ext cx="195263" cy="15621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038398" y="6658570"/>
            <a:ext cx="3661886" cy="633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Вывод:</a:t>
            </a:r>
            <a:r>
              <a:rPr lang="en-US" sz="12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классы семантически неразделимы на уровне эмбеддингов → необходимы аугментация и дообучение.</a:t>
            </a:r>
            <a:endParaRPr lang="en-US" sz="1200" dirty="0"/>
          </a:p>
        </p:txBody>
      </p:sp>
      <p:pic>
        <p:nvPicPr>
          <p:cNvPr id="26" name="Рисунок 25" descr="Изображение выглядит как Красочность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3466509-C24C-D769-9071-F0AC585583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869"/>
          <a:stretch>
            <a:fillRect/>
          </a:stretch>
        </p:blipFill>
        <p:spPr>
          <a:xfrm>
            <a:off x="275897" y="1109746"/>
            <a:ext cx="8146208" cy="68130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7"/>
          <p:cNvSpPr/>
          <p:nvPr/>
        </p:nvSpPr>
        <p:spPr>
          <a:xfrm>
            <a:off x="793790" y="6186726"/>
            <a:ext cx="3515320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Этап 1: LLM-генерация (&lt;15 примеров)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93790" y="6512838"/>
            <a:ext cx="4107418" cy="77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Модель Qwen2.5-32B-AWQ, инференс через vLLM. Стохастичность промптов: 5 случайных примеров на каждый запрос. Oversample 5× с последующей фильтрацией.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268397" y="6186726"/>
            <a:ext cx="3114794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Этап 2: Парафраз (15–34 примера)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268397" y="6512838"/>
            <a:ext cx="4107418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LLM-переформулировка. Циклический выбор источников — равномерное использование оригиналов.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743003" y="6186726"/>
            <a:ext cx="3135630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Этап 3: Обратный перевод (35–49)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9743003" y="6512838"/>
            <a:ext cx="4107418" cy="59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NLLB-200-3.3B: рус → англ → рус. NER-плейсхолдеры маскируются тегами </a:t>
            </a:r>
            <a:r>
              <a:rPr lang="en-US" sz="115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&lt;0&gt;</a:t>
            </a:r>
            <a:r>
              <a:rPr lang="en-US" sz="11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</a:t>
            </a:r>
            <a:r>
              <a:rPr lang="en-US" sz="115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&lt;1&gt;</a:t>
            </a:r>
            <a:r>
              <a:rPr lang="en-US" sz="11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и восстанавливаются после перевода.</a:t>
            </a:r>
            <a:endParaRPr lang="en-US" sz="1150" dirty="0"/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4AEA2B35-A665-2EBB-EBCF-C07EEFFF584E}"/>
              </a:ext>
            </a:extLst>
          </p:cNvPr>
          <p:cNvSpPr/>
          <p:nvPr/>
        </p:nvSpPr>
        <p:spPr>
          <a:xfrm>
            <a:off x="1387506" y="389637"/>
            <a:ext cx="7637849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Трёхэтапная аугментация данных</a:t>
            </a:r>
            <a:endParaRPr lang="en-US" sz="330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006BE90E-418E-76C2-7115-91BA4D143EDD}"/>
              </a:ext>
            </a:extLst>
          </p:cNvPr>
          <p:cNvSpPr/>
          <p:nvPr/>
        </p:nvSpPr>
        <p:spPr>
          <a:xfrm>
            <a:off x="1355368" y="972209"/>
            <a:ext cx="11828959" cy="531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Цель — довести каждый класс до </a:t>
            </a:r>
            <a:r>
              <a:rPr lang="en-US" sz="1650" b="1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минимум 50 примеров</a:t>
            </a:r>
            <a:r>
              <a:rPr lang="en-US" sz="16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. После каждого этапа группы пересчитываются и перераспределяются.</a:t>
            </a:r>
            <a:endParaRPr lang="en-US" sz="1650" dirty="0"/>
          </a:p>
        </p:txBody>
      </p:sp>
      <p:pic>
        <p:nvPicPr>
          <p:cNvPr id="18" name="Image 0" descr="preencoded.png">
            <a:extLst>
              <a:ext uri="{FF2B5EF4-FFF2-40B4-BE49-F238E27FC236}">
                <a16:creationId xmlns:a16="http://schemas.microsoft.com/office/drawing/2014/main" id="{B565EBDB-51CE-BB8F-963D-C1857393D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115" y="1779985"/>
            <a:ext cx="10266947" cy="4406741"/>
          </a:xfrm>
          <a:prstGeom prst="rect">
            <a:avLst/>
          </a:prstGeom>
        </p:spPr>
      </p:pic>
      <p:sp>
        <p:nvSpPr>
          <p:cNvPr id="19" name="Text 2">
            <a:extLst>
              <a:ext uri="{FF2B5EF4-FFF2-40B4-BE49-F238E27FC236}">
                <a16:creationId xmlns:a16="http://schemas.microsoft.com/office/drawing/2014/main" id="{315F264E-932A-1414-265D-71D9DB9A451F}"/>
              </a:ext>
            </a:extLst>
          </p:cNvPr>
          <p:cNvSpPr/>
          <p:nvPr/>
        </p:nvSpPr>
        <p:spPr>
          <a:xfrm>
            <a:off x="3530473" y="3792707"/>
            <a:ext cx="1937096" cy="632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Генерация с помощью LLM</a:t>
            </a:r>
            <a:endParaRPr lang="en-US" sz="1950" dirty="0"/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D0FA460B-B9C1-BBBC-DCFF-6CA787A821C5}"/>
              </a:ext>
            </a:extLst>
          </p:cNvPr>
          <p:cNvSpPr/>
          <p:nvPr/>
        </p:nvSpPr>
        <p:spPr>
          <a:xfrm>
            <a:off x="6373867" y="4108144"/>
            <a:ext cx="1937097" cy="316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Парафраз</a:t>
            </a:r>
            <a:endParaRPr lang="en-US" sz="1950" dirty="0"/>
          </a:p>
        </p:txBody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3CD1A68D-255F-7B82-8A9B-932142499C8C}"/>
              </a:ext>
            </a:extLst>
          </p:cNvPr>
          <p:cNvSpPr/>
          <p:nvPr/>
        </p:nvSpPr>
        <p:spPr>
          <a:xfrm>
            <a:off x="9217262" y="4393266"/>
            <a:ext cx="1937096" cy="632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Обратный перевод</a:t>
            </a:r>
            <a:endParaRPr lang="en-US" sz="19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B553535-E124-897E-D3A6-96C537AFC193}"/>
              </a:ext>
            </a:extLst>
          </p:cNvPr>
          <p:cNvSpPr txBox="1"/>
          <p:nvPr/>
        </p:nvSpPr>
        <p:spPr>
          <a:xfrm>
            <a:off x="5361283" y="2972573"/>
            <a:ext cx="446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"/>
              </a:rPr>
              <a:t>15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5910A1-388A-809A-0D52-0EA6A3FCBA9F}"/>
              </a:ext>
            </a:extLst>
          </p:cNvPr>
          <p:cNvSpPr txBox="1"/>
          <p:nvPr/>
        </p:nvSpPr>
        <p:spPr>
          <a:xfrm>
            <a:off x="8158735" y="2964341"/>
            <a:ext cx="446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"/>
              </a:rPr>
              <a:t>35</a:t>
            </a:r>
            <a:endParaRPr lang="ru-RU" dirty="0">
              <a:solidFill>
                <a:schemeClr val="bg1"/>
              </a:solidFill>
              <a:latin typeface="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BAB388-7B0C-7476-767C-50D52A510482}"/>
              </a:ext>
            </a:extLst>
          </p:cNvPr>
          <p:cNvSpPr txBox="1"/>
          <p:nvPr/>
        </p:nvSpPr>
        <p:spPr>
          <a:xfrm>
            <a:off x="10956187" y="2964341"/>
            <a:ext cx="446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"/>
              </a:rPr>
              <a:t>50</a:t>
            </a:r>
            <a:endParaRPr lang="ru-RU" dirty="0">
              <a:solidFill>
                <a:schemeClr val="bg1"/>
              </a:solidFill>
              <a:latin typeface="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71512"/>
            <a:ext cx="6714649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Система валидации и LLM-судья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93790" y="1445419"/>
            <a:ext cx="575024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Уровень 1 — цепочка из 7 детерминированных фильтров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793790" y="1818442"/>
            <a:ext cx="317540" cy="198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01</a:t>
            </a:r>
            <a:endParaRPr lang="en-US" sz="1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065258"/>
            <a:ext cx="6327815" cy="228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3790" y="2190274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Точные дубликаты (O(1))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93790" y="2636401"/>
            <a:ext cx="317540" cy="198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02</a:t>
            </a:r>
            <a:endParaRPr lang="en-US" sz="12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867382"/>
            <a:ext cx="6327815" cy="228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93790" y="3008233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Минимальная длина 500 символов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93790" y="3454360"/>
            <a:ext cx="317540" cy="198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03</a:t>
            </a:r>
            <a:endParaRPr lang="en-US" sz="12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669506"/>
            <a:ext cx="6327815" cy="228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93790" y="3826193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Определение языка (langdetect)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793790" y="4272320"/>
            <a:ext cx="317540" cy="198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04</a:t>
            </a:r>
            <a:endParaRPr lang="en-US" sz="12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4471630"/>
            <a:ext cx="6327815" cy="228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93790" y="4644152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Вырожденные тексты (unique ratio &lt;20%)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793790" y="5090279"/>
            <a:ext cx="317540" cy="198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05</a:t>
            </a:r>
            <a:endParaRPr lang="en-US" sz="125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5273754"/>
            <a:ext cx="6327815" cy="2286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3790" y="5462111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CJK-артефакты модели Qwen</a:t>
            </a:r>
            <a:endParaRPr lang="en-US" sz="1250" dirty="0"/>
          </a:p>
        </p:txBody>
      </p:sp>
      <p:sp>
        <p:nvSpPr>
          <p:cNvPr id="19" name="Text 12"/>
          <p:cNvSpPr/>
          <p:nvPr/>
        </p:nvSpPr>
        <p:spPr>
          <a:xfrm>
            <a:off x="793790" y="5908238"/>
            <a:ext cx="317540" cy="198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06</a:t>
            </a:r>
            <a:endParaRPr lang="en-US" sz="125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6075878"/>
            <a:ext cx="6327815" cy="2286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93790" y="6280071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Промпт-утечка (мета-фразы, markdown)</a:t>
            </a:r>
            <a:endParaRPr lang="en-US" sz="1250" dirty="0"/>
          </a:p>
        </p:txBody>
      </p:sp>
      <p:sp>
        <p:nvSpPr>
          <p:cNvPr id="22" name="Text 14"/>
          <p:cNvSpPr/>
          <p:nvPr/>
        </p:nvSpPr>
        <p:spPr>
          <a:xfrm>
            <a:off x="793790" y="6726198"/>
            <a:ext cx="317540" cy="198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07</a:t>
            </a:r>
            <a:endParaRPr lang="en-US" sz="125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6878003"/>
            <a:ext cx="6327815" cy="2286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793790" y="7098030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SBERT сходство: порог 0,5–0,98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7402116" y="1445181"/>
            <a:ext cx="6556415" cy="6002060"/>
          </a:xfrm>
          <a:prstGeom prst="roundRect">
            <a:avLst>
              <a:gd name="adj" fmla="val 397"/>
            </a:avLst>
          </a:prstGeom>
          <a:solidFill>
            <a:srgbClr val="3257B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6" name="Text 17"/>
          <p:cNvSpPr/>
          <p:nvPr/>
        </p:nvSpPr>
        <p:spPr>
          <a:xfrm>
            <a:off x="7560826" y="1445419"/>
            <a:ext cx="2335649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Уровень 2 — LLM-судья</a:t>
            </a:r>
            <a:endParaRPr lang="en-US" sz="1550" dirty="0"/>
          </a:p>
        </p:txBody>
      </p:sp>
      <p:sp>
        <p:nvSpPr>
          <p:cNvPr id="27" name="Text 18"/>
          <p:cNvSpPr/>
          <p:nvPr/>
        </p:nvSpPr>
        <p:spPr>
          <a:xfrm>
            <a:off x="7560826" y="1804511"/>
            <a:ext cx="6238994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Qwen-32B, temperature=0,1. Два специализированных промпта:</a:t>
            </a:r>
            <a:endParaRPr lang="en-US" sz="1250" dirty="0"/>
          </a:p>
        </p:txBody>
      </p:sp>
      <p:sp>
        <p:nvSpPr>
          <p:cNvPr id="28" name="Text 19"/>
          <p:cNvSpPr/>
          <p:nvPr/>
        </p:nvSpPr>
        <p:spPr>
          <a:xfrm>
            <a:off x="7560826" y="2120503"/>
            <a:ext cx="6238994" cy="686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Для генерации: естественность, связность, соответствие классу, полнота</a:t>
            </a:r>
            <a:endParaRPr lang="en-US" sz="1250" dirty="0"/>
          </a:p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Для парафраза: сохранение смысла, степень переформулировки, полнота деталей</a:t>
            </a:r>
            <a:endParaRPr lang="en-US" sz="1250" dirty="0"/>
          </a:p>
        </p:txBody>
      </p:sp>
      <p:sp>
        <p:nvSpPr>
          <p:cNvPr id="29" name="Text 20"/>
          <p:cNvSpPr/>
          <p:nvPr/>
        </p:nvSpPr>
        <p:spPr>
          <a:xfrm>
            <a:off x="7560826" y="2907268"/>
            <a:ext cx="6238994" cy="43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Оценка 1–10, порог отсечения </a:t>
            </a:r>
            <a:r>
              <a:rPr lang="en-US" sz="12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5,0</a:t>
            </a:r>
            <a:r>
              <a:rPr lang="en-US" sz="12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(для обратного перевода — 2,5). Из 5N кандидатов отбирается N лучших.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73323"/>
            <a:ext cx="842391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Инфраструктурные решения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790" y="2035731"/>
            <a:ext cx="566976" cy="5669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2886194"/>
            <a:ext cx="302906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Система чекпоинтов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3376613"/>
            <a:ext cx="6379607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CSV-файл после каждого класса. При перезапуске — автооткат к последнему этапу. Критично при работе на арендуемых GPU с ограниченным временем сессии.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56884" y="2035731"/>
            <a:ext cx="566976" cy="5669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456884" y="288619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GPU-профили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7456884" y="3376613"/>
            <a:ext cx="637972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Адаптация под оборудование: T4 → L4 → A100 → H100. Каждый профиль задаёт размер батча NLLB и версию модели (distilled-600M для T4, полная 3.3B для A100).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3790" y="4918948"/>
            <a:ext cx="566976" cy="56697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93790" y="5769412"/>
            <a:ext cx="364450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Двухфазная архитектура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793790" y="6259830"/>
            <a:ext cx="6379607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Фаза 1: NLLB + SBERT на GPU. Фаза 2: vLLM-судья на GPU. Обход ограничения памяти — две крупные модели не помещаются одновременно.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56884" y="4918948"/>
            <a:ext cx="566976" cy="56697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56884" y="57694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Конфигурация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7456884" y="6259830"/>
            <a:ext cx="6379726" cy="1096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pipeline_config.json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 параметры этапов, пороги, планировщик. Смена модели генерации без модификации кода.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0;p4">
            <a:extLst>
              <a:ext uri="{FF2B5EF4-FFF2-40B4-BE49-F238E27FC236}">
                <a16:creationId xmlns:a16="http://schemas.microsoft.com/office/drawing/2014/main" id="{48DAB670-F42E-AC3A-35DF-7B6FCABA183D}"/>
              </a:ext>
            </a:extLst>
          </p:cNvPr>
          <p:cNvSpPr/>
          <p:nvPr/>
        </p:nvSpPr>
        <p:spPr>
          <a:xfrm>
            <a:off x="900286" y="201030"/>
            <a:ext cx="5530200" cy="675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257B8"/>
              </a:buClr>
              <a:buSzPts val="2200"/>
              <a:buFont typeface="Roboto Slab"/>
              <a:buNone/>
            </a:pPr>
            <a:r>
              <a:rPr lang="ru-RU" sz="3200" dirty="0">
                <a:solidFill>
                  <a:srgbClr val="3257B8"/>
                </a:solidFill>
                <a:latin typeface="Roboto Slab"/>
                <a:ea typeface="Roboto Slab"/>
                <a:cs typeface="Roboto Slab"/>
                <a:sym typeface="Roboto Slab"/>
              </a:rPr>
              <a:t>Результаты</a:t>
            </a:r>
            <a:r>
              <a:rPr lang="ru-RU" sz="2200" b="0" i="0" u="none" strike="noStrike" cap="none" dirty="0">
                <a:solidFill>
                  <a:srgbClr val="3257B8"/>
                </a:solidFill>
                <a:latin typeface="Roboto Slab"/>
                <a:ea typeface="Roboto Slab"/>
                <a:cs typeface="Roboto Slab"/>
                <a:sym typeface="Roboto Slab"/>
              </a:rPr>
              <a:t> </a:t>
            </a:r>
            <a:r>
              <a:rPr lang="ru-RU" sz="3200" b="0" i="0" u="none" strike="noStrike" cap="none" dirty="0">
                <a:solidFill>
                  <a:srgbClr val="3257B8"/>
                </a:solidFill>
                <a:latin typeface="Roboto Slab"/>
                <a:ea typeface="Roboto Slab"/>
                <a:cs typeface="Roboto Slab"/>
                <a:sym typeface="Roboto Slab"/>
              </a:rPr>
              <a:t>Аугментации</a:t>
            </a:r>
            <a:endParaRPr sz="3200" b="0" i="0" u="none" strike="noStrike" cap="none" dirty="0"/>
          </a:p>
        </p:txBody>
      </p:sp>
      <p:sp>
        <p:nvSpPr>
          <p:cNvPr id="30" name="Google Shape;21;p4">
            <a:extLst>
              <a:ext uri="{FF2B5EF4-FFF2-40B4-BE49-F238E27FC236}">
                <a16:creationId xmlns:a16="http://schemas.microsoft.com/office/drawing/2014/main" id="{A4CA2972-1D47-62E3-2D65-5A2BB09E95B6}"/>
              </a:ext>
            </a:extLst>
          </p:cNvPr>
          <p:cNvSpPr/>
          <p:nvPr/>
        </p:nvSpPr>
        <p:spPr>
          <a:xfrm>
            <a:off x="900286" y="899236"/>
            <a:ext cx="9006249" cy="43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850"/>
              <a:buFont typeface="Roboto"/>
              <a:buNone/>
            </a:pPr>
            <a:r>
              <a:rPr lang="en-US" sz="1600" b="0" i="0" u="none" strike="noStrike" cap="none" dirty="0" err="1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Метрики</a:t>
            </a:r>
            <a:r>
              <a:rPr lang="en-US" sz="1600" b="0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0" i="0" u="none" strike="noStrike" cap="none" dirty="0" err="1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600" b="0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0" i="0" u="none" strike="noStrike" cap="none" dirty="0" err="1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исходных</a:t>
            </a:r>
            <a:r>
              <a:rPr lang="en-US" sz="1600" b="0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0" i="0" u="none" strike="noStrike" cap="none" dirty="0" err="1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и</a:t>
            </a:r>
            <a:r>
              <a:rPr lang="en-US" sz="1600" b="0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0" i="0" u="none" strike="noStrike" cap="none" dirty="0" err="1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аугментированных</a:t>
            </a:r>
            <a:r>
              <a:rPr lang="en-US" sz="1600" b="0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0" i="0" u="none" strike="noStrike" cap="none" dirty="0" err="1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данных</a:t>
            </a:r>
            <a:r>
              <a:rPr lang="en-US" sz="1600" b="0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 — </a:t>
            </a:r>
            <a:r>
              <a:rPr lang="en-US" sz="1600" b="1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balanced accuracy</a:t>
            </a:r>
            <a:r>
              <a:rPr lang="en-US" sz="1600" b="0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0" i="0" u="none" strike="noStrike" cap="none" dirty="0" err="1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и</a:t>
            </a:r>
            <a:r>
              <a:rPr lang="en-US" sz="1600" b="0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b="1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macro F1</a:t>
            </a:r>
            <a:r>
              <a:rPr lang="en-US" sz="1600" b="0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600" b="0" i="0" u="none" strike="noStrike" cap="none" dirty="0"/>
          </a:p>
        </p:txBody>
      </p:sp>
      <p:sp>
        <p:nvSpPr>
          <p:cNvPr id="32" name="Google Shape;23;p4">
            <a:extLst>
              <a:ext uri="{FF2B5EF4-FFF2-40B4-BE49-F238E27FC236}">
                <a16:creationId xmlns:a16="http://schemas.microsoft.com/office/drawing/2014/main" id="{4F8797BD-86EA-9595-397D-0E4B87BE4B32}"/>
              </a:ext>
            </a:extLst>
          </p:cNvPr>
          <p:cNvSpPr/>
          <p:nvPr/>
        </p:nvSpPr>
        <p:spPr>
          <a:xfrm>
            <a:off x="481024" y="1346555"/>
            <a:ext cx="3774300" cy="360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850"/>
              <a:buFont typeface="Roboto"/>
              <a:buNone/>
            </a:pPr>
            <a:r>
              <a:rPr lang="en-US" b="1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Balanced Accuracy</a:t>
            </a:r>
            <a:endParaRPr b="0" i="0" u="none" strike="noStrike" cap="none" dirty="0"/>
          </a:p>
        </p:txBody>
      </p:sp>
      <p:sp>
        <p:nvSpPr>
          <p:cNvPr id="33" name="Google Shape;24;p4">
            <a:extLst>
              <a:ext uri="{FF2B5EF4-FFF2-40B4-BE49-F238E27FC236}">
                <a16:creationId xmlns:a16="http://schemas.microsoft.com/office/drawing/2014/main" id="{9625D90F-4DE9-1C24-FBA4-E8CA088FA2CF}"/>
              </a:ext>
            </a:extLst>
          </p:cNvPr>
          <p:cNvSpPr/>
          <p:nvPr/>
        </p:nvSpPr>
        <p:spPr>
          <a:xfrm>
            <a:off x="682425" y="1871078"/>
            <a:ext cx="1288241" cy="228001"/>
          </a:xfrm>
          <a:prstGeom prst="roundRect">
            <a:avLst>
              <a:gd name="adj" fmla="val 77044"/>
            </a:avLst>
          </a:prstGeom>
          <a:solidFill>
            <a:srgbClr val="FFFFFF">
              <a:alpha val="20000"/>
            </a:srgbClr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4" name="Google Shape;25;p4" descr="preencoded.png">
            <a:extLst>
              <a:ext uri="{FF2B5EF4-FFF2-40B4-BE49-F238E27FC236}">
                <a16:creationId xmlns:a16="http://schemas.microsoft.com/office/drawing/2014/main" id="{8C908214-120F-CD2A-13D5-AA262608F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5825" y="1933796"/>
            <a:ext cx="154857" cy="115824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26;p4">
            <a:extLst>
              <a:ext uri="{FF2B5EF4-FFF2-40B4-BE49-F238E27FC236}">
                <a16:creationId xmlns:a16="http://schemas.microsoft.com/office/drawing/2014/main" id="{C26D0F31-9907-BC92-9F9C-7AE267A77AAD}"/>
              </a:ext>
            </a:extLst>
          </p:cNvPr>
          <p:cNvSpPr/>
          <p:nvPr/>
        </p:nvSpPr>
        <p:spPr>
          <a:xfrm>
            <a:off x="1042838" y="1834098"/>
            <a:ext cx="796471" cy="234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6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5213F"/>
                </a:solidFill>
                <a:latin typeface="Arial"/>
                <a:ea typeface="Arial"/>
                <a:cs typeface="Arial"/>
                <a:sym typeface="Arial"/>
              </a:rPr>
              <a:t>Baseline</a:t>
            </a:r>
            <a:endParaRPr sz="1400" b="0" i="0" u="none" strike="noStrike" cap="none" dirty="0"/>
          </a:p>
        </p:txBody>
      </p:sp>
      <p:pic>
        <p:nvPicPr>
          <p:cNvPr id="37" name="Google Shape;28;p4" descr="preencoded.png">
            <a:extLst>
              <a:ext uri="{FF2B5EF4-FFF2-40B4-BE49-F238E27FC236}">
                <a16:creationId xmlns:a16="http://schemas.microsoft.com/office/drawing/2014/main" id="{456834E5-B3E2-CEC9-AE4B-561C9A450B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87494" y="1933376"/>
            <a:ext cx="154175" cy="108366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29;p4">
            <a:extLst>
              <a:ext uri="{FF2B5EF4-FFF2-40B4-BE49-F238E27FC236}">
                <a16:creationId xmlns:a16="http://schemas.microsoft.com/office/drawing/2014/main" id="{C8F3E7B3-6BAF-4341-C51A-C4D1D4D2DE4D}"/>
              </a:ext>
            </a:extLst>
          </p:cNvPr>
          <p:cNvSpPr/>
          <p:nvPr/>
        </p:nvSpPr>
        <p:spPr>
          <a:xfrm>
            <a:off x="2263064" y="1826433"/>
            <a:ext cx="1056715" cy="259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6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5213F"/>
                </a:solidFill>
                <a:latin typeface="Arial"/>
                <a:ea typeface="Arial"/>
                <a:cs typeface="Arial"/>
                <a:sym typeface="Arial"/>
              </a:rPr>
              <a:t>Augmented</a:t>
            </a:r>
            <a:endParaRPr sz="1400" b="0" i="0" u="none" strike="noStrike" cap="none" dirty="0"/>
          </a:p>
        </p:txBody>
      </p:sp>
      <p:pic>
        <p:nvPicPr>
          <p:cNvPr id="39" name="Google Shape;30;p4" descr="preencoded.png">
            <a:extLst>
              <a:ext uri="{FF2B5EF4-FFF2-40B4-BE49-F238E27FC236}">
                <a16:creationId xmlns:a16="http://schemas.microsoft.com/office/drawing/2014/main" id="{6490EF6F-74CB-E4A8-E8CF-6FD49D00CCAF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32222" y="2058229"/>
            <a:ext cx="6266329" cy="4824817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31;p4">
            <a:extLst>
              <a:ext uri="{FF2B5EF4-FFF2-40B4-BE49-F238E27FC236}">
                <a16:creationId xmlns:a16="http://schemas.microsoft.com/office/drawing/2014/main" id="{75D66A11-A6B4-A967-6055-412F330E22BA}"/>
              </a:ext>
            </a:extLst>
          </p:cNvPr>
          <p:cNvSpPr/>
          <p:nvPr/>
        </p:nvSpPr>
        <p:spPr>
          <a:xfrm>
            <a:off x="1769266" y="3642550"/>
            <a:ext cx="349200" cy="1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475" tIns="30475" rIns="30475" bIns="304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50"/>
              <a:buFont typeface="Arial"/>
              <a:buNone/>
            </a:pPr>
            <a:r>
              <a:rPr lang="en-US" sz="5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0.48</a:t>
            </a:r>
            <a:endParaRPr sz="550" b="0" i="0" u="none" strike="noStrike" cap="none"/>
          </a:p>
        </p:txBody>
      </p:sp>
      <p:sp>
        <p:nvSpPr>
          <p:cNvPr id="41" name="Google Shape;32;p4">
            <a:extLst>
              <a:ext uri="{FF2B5EF4-FFF2-40B4-BE49-F238E27FC236}">
                <a16:creationId xmlns:a16="http://schemas.microsoft.com/office/drawing/2014/main" id="{18A44C00-AA3B-8EFF-D72C-916B1EBC82F0}"/>
              </a:ext>
            </a:extLst>
          </p:cNvPr>
          <p:cNvSpPr/>
          <p:nvPr/>
        </p:nvSpPr>
        <p:spPr>
          <a:xfrm>
            <a:off x="2992246" y="4046575"/>
            <a:ext cx="265200" cy="1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475" tIns="30475" rIns="30475" bIns="304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50"/>
              <a:buFont typeface="Arial"/>
              <a:buNone/>
            </a:pPr>
            <a:r>
              <a:rPr lang="en-US" sz="5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0.38</a:t>
            </a:r>
            <a:endParaRPr sz="550" b="0" i="0" u="none" strike="noStrike" cap="none"/>
          </a:p>
        </p:txBody>
      </p:sp>
      <p:sp>
        <p:nvSpPr>
          <p:cNvPr id="42" name="Google Shape;33;p4">
            <a:extLst>
              <a:ext uri="{FF2B5EF4-FFF2-40B4-BE49-F238E27FC236}">
                <a16:creationId xmlns:a16="http://schemas.microsoft.com/office/drawing/2014/main" id="{D559A399-7397-FFD6-D645-FF774BC23E2C}"/>
              </a:ext>
            </a:extLst>
          </p:cNvPr>
          <p:cNvSpPr/>
          <p:nvPr/>
        </p:nvSpPr>
        <p:spPr>
          <a:xfrm>
            <a:off x="4108772" y="4046550"/>
            <a:ext cx="195000" cy="1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475" tIns="30475" rIns="30475" bIns="304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50"/>
              <a:buFont typeface="Arial"/>
              <a:buNone/>
            </a:pPr>
            <a:r>
              <a:rPr lang="en-US" sz="5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0.5</a:t>
            </a:r>
            <a:endParaRPr sz="550" b="0" i="0" u="none" strike="noStrike" cap="none"/>
          </a:p>
        </p:txBody>
      </p:sp>
      <p:sp>
        <p:nvSpPr>
          <p:cNvPr id="43" name="Google Shape;34;p4">
            <a:extLst>
              <a:ext uri="{FF2B5EF4-FFF2-40B4-BE49-F238E27FC236}">
                <a16:creationId xmlns:a16="http://schemas.microsoft.com/office/drawing/2014/main" id="{8E64BF57-C769-8734-C767-F9F2AB533BBD}"/>
              </a:ext>
            </a:extLst>
          </p:cNvPr>
          <p:cNvSpPr/>
          <p:nvPr/>
        </p:nvSpPr>
        <p:spPr>
          <a:xfrm>
            <a:off x="6635675" y="4081010"/>
            <a:ext cx="195000" cy="1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475" tIns="30475" rIns="30475" bIns="304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50"/>
              <a:buFont typeface="Arial"/>
              <a:buNone/>
            </a:pPr>
            <a:r>
              <a:rPr lang="en-US" sz="5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0.52</a:t>
            </a:r>
            <a:endParaRPr sz="550" b="0" i="0" u="none" strike="noStrike" cap="none"/>
          </a:p>
        </p:txBody>
      </p:sp>
      <p:sp>
        <p:nvSpPr>
          <p:cNvPr id="44" name="Google Shape;35;p4">
            <a:extLst>
              <a:ext uri="{FF2B5EF4-FFF2-40B4-BE49-F238E27FC236}">
                <a16:creationId xmlns:a16="http://schemas.microsoft.com/office/drawing/2014/main" id="{D8CFE21B-D9EF-A7FB-7784-C5B254132A27}"/>
              </a:ext>
            </a:extLst>
          </p:cNvPr>
          <p:cNvSpPr/>
          <p:nvPr/>
        </p:nvSpPr>
        <p:spPr>
          <a:xfrm>
            <a:off x="7430724" y="1342792"/>
            <a:ext cx="3774300" cy="241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850"/>
              <a:buFont typeface="Roboto"/>
              <a:buNone/>
            </a:pPr>
            <a:r>
              <a:rPr lang="en-US" sz="1600" b="1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Macro</a:t>
            </a:r>
            <a:r>
              <a:rPr lang="en-US" sz="1400" b="1" i="0" u="none" strike="noStrike" cap="none" dirty="0">
                <a:solidFill>
                  <a:srgbClr val="15213F"/>
                </a:solidFill>
                <a:latin typeface="Roboto"/>
                <a:ea typeface="Roboto"/>
                <a:cs typeface="Roboto"/>
                <a:sym typeface="Roboto"/>
              </a:rPr>
              <a:t> F1</a:t>
            </a:r>
            <a:endParaRPr sz="1400" b="0" i="0" u="none" strike="noStrike" cap="none" dirty="0"/>
          </a:p>
        </p:txBody>
      </p:sp>
      <p:pic>
        <p:nvPicPr>
          <p:cNvPr id="51" name="Google Shape;42;p4" descr="preencoded.png">
            <a:extLst>
              <a:ext uri="{FF2B5EF4-FFF2-40B4-BE49-F238E27FC236}">
                <a16:creationId xmlns:a16="http://schemas.microsoft.com/office/drawing/2014/main" id="{489136CE-BC8A-B5C8-13C1-6F232B99882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421614" y="1997881"/>
            <a:ext cx="6717649" cy="4861117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24;p4">
            <a:extLst>
              <a:ext uri="{FF2B5EF4-FFF2-40B4-BE49-F238E27FC236}">
                <a16:creationId xmlns:a16="http://schemas.microsoft.com/office/drawing/2014/main" id="{E8794A0C-4FB4-13FC-002A-EB995019F155}"/>
              </a:ext>
            </a:extLst>
          </p:cNvPr>
          <p:cNvSpPr/>
          <p:nvPr/>
        </p:nvSpPr>
        <p:spPr>
          <a:xfrm>
            <a:off x="2031538" y="1860621"/>
            <a:ext cx="1288241" cy="228001"/>
          </a:xfrm>
          <a:prstGeom prst="roundRect">
            <a:avLst>
              <a:gd name="adj" fmla="val 77044"/>
            </a:avLst>
          </a:prstGeom>
          <a:solidFill>
            <a:srgbClr val="FFFFFF">
              <a:alpha val="20000"/>
            </a:srgbClr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24;p4">
            <a:extLst>
              <a:ext uri="{FF2B5EF4-FFF2-40B4-BE49-F238E27FC236}">
                <a16:creationId xmlns:a16="http://schemas.microsoft.com/office/drawing/2014/main" id="{1800D584-F222-C628-8892-9F03D39C3714}"/>
              </a:ext>
            </a:extLst>
          </p:cNvPr>
          <p:cNvSpPr/>
          <p:nvPr/>
        </p:nvSpPr>
        <p:spPr>
          <a:xfrm>
            <a:off x="7467562" y="1854638"/>
            <a:ext cx="1288241" cy="228001"/>
          </a:xfrm>
          <a:prstGeom prst="roundRect">
            <a:avLst>
              <a:gd name="adj" fmla="val 77044"/>
            </a:avLst>
          </a:prstGeom>
          <a:solidFill>
            <a:srgbClr val="FFFFFF">
              <a:alpha val="20000"/>
            </a:srgbClr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25;p4" descr="preencoded.png">
            <a:extLst>
              <a:ext uri="{FF2B5EF4-FFF2-40B4-BE49-F238E27FC236}">
                <a16:creationId xmlns:a16="http://schemas.microsoft.com/office/drawing/2014/main" id="{FE4044E8-E256-F310-7783-3D857A8237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80962" y="1917356"/>
            <a:ext cx="154857" cy="1158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26;p4">
            <a:extLst>
              <a:ext uri="{FF2B5EF4-FFF2-40B4-BE49-F238E27FC236}">
                <a16:creationId xmlns:a16="http://schemas.microsoft.com/office/drawing/2014/main" id="{2DA702F6-F25A-C1EB-EFF2-E6403B324457}"/>
              </a:ext>
            </a:extLst>
          </p:cNvPr>
          <p:cNvSpPr/>
          <p:nvPr/>
        </p:nvSpPr>
        <p:spPr>
          <a:xfrm>
            <a:off x="7827975" y="1817658"/>
            <a:ext cx="796471" cy="234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6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5213F"/>
                </a:solidFill>
                <a:latin typeface="Arial"/>
                <a:ea typeface="Arial"/>
                <a:cs typeface="Arial"/>
                <a:sym typeface="Arial"/>
              </a:rPr>
              <a:t>Baseline</a:t>
            </a:r>
            <a:endParaRPr sz="1400" b="0" i="0" u="none" strike="noStrike" cap="none" dirty="0"/>
          </a:p>
        </p:txBody>
      </p:sp>
      <p:pic>
        <p:nvPicPr>
          <p:cNvPr id="57" name="Google Shape;28;p4" descr="preencoded.png">
            <a:extLst>
              <a:ext uri="{FF2B5EF4-FFF2-40B4-BE49-F238E27FC236}">
                <a16:creationId xmlns:a16="http://schemas.microsoft.com/office/drawing/2014/main" id="{0856B81B-4276-0167-52AB-3A3B5C74D0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872631" y="1916936"/>
            <a:ext cx="154175" cy="10836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29;p4">
            <a:extLst>
              <a:ext uri="{FF2B5EF4-FFF2-40B4-BE49-F238E27FC236}">
                <a16:creationId xmlns:a16="http://schemas.microsoft.com/office/drawing/2014/main" id="{1DB8CED0-5C3F-7462-42B7-5FE351591591}"/>
              </a:ext>
            </a:extLst>
          </p:cNvPr>
          <p:cNvSpPr/>
          <p:nvPr/>
        </p:nvSpPr>
        <p:spPr>
          <a:xfrm>
            <a:off x="9048201" y="1809993"/>
            <a:ext cx="1056715" cy="259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5213F"/>
              </a:buClr>
              <a:buSzPts val="6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5213F"/>
                </a:solidFill>
                <a:latin typeface="Arial"/>
                <a:ea typeface="Arial"/>
                <a:cs typeface="Arial"/>
                <a:sym typeface="Arial"/>
              </a:rPr>
              <a:t>Augmented</a:t>
            </a:r>
            <a:endParaRPr sz="1400" b="0" i="0" u="none" strike="noStrike" cap="none" dirty="0"/>
          </a:p>
        </p:txBody>
      </p:sp>
      <p:sp>
        <p:nvSpPr>
          <p:cNvPr id="59" name="Google Shape;24;p4">
            <a:extLst>
              <a:ext uri="{FF2B5EF4-FFF2-40B4-BE49-F238E27FC236}">
                <a16:creationId xmlns:a16="http://schemas.microsoft.com/office/drawing/2014/main" id="{6358A805-88DB-7193-D668-733AD1666861}"/>
              </a:ext>
            </a:extLst>
          </p:cNvPr>
          <p:cNvSpPr/>
          <p:nvPr/>
        </p:nvSpPr>
        <p:spPr>
          <a:xfrm>
            <a:off x="8816675" y="1844181"/>
            <a:ext cx="1288241" cy="228001"/>
          </a:xfrm>
          <a:prstGeom prst="roundRect">
            <a:avLst>
              <a:gd name="adj" fmla="val 77044"/>
            </a:avLst>
          </a:prstGeom>
          <a:solidFill>
            <a:srgbClr val="FFFFFF">
              <a:alpha val="20000"/>
            </a:srgbClr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628277-ED78-29FD-6FCE-42FE72D1A68A}"/>
              </a:ext>
            </a:extLst>
          </p:cNvPr>
          <p:cNvSpPr txBox="1"/>
          <p:nvPr/>
        </p:nvSpPr>
        <p:spPr>
          <a:xfrm>
            <a:off x="812647" y="4253935"/>
            <a:ext cx="460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0,42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ABEE83-0487-C5DC-AD7A-D49BD8CF5253}"/>
              </a:ext>
            </a:extLst>
          </p:cNvPr>
          <p:cNvSpPr txBox="1"/>
          <p:nvPr/>
        </p:nvSpPr>
        <p:spPr>
          <a:xfrm>
            <a:off x="1255345" y="4270422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0,48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30E0742-1543-26BE-0B2A-9B69C7A6530E}"/>
              </a:ext>
            </a:extLst>
          </p:cNvPr>
          <p:cNvSpPr txBox="1"/>
          <p:nvPr/>
        </p:nvSpPr>
        <p:spPr>
          <a:xfrm>
            <a:off x="1970216" y="4270422"/>
            <a:ext cx="383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0,3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FDBA761-0DC0-F58F-AD59-44BB3EAE07C8}"/>
              </a:ext>
            </a:extLst>
          </p:cNvPr>
          <p:cNvSpPr txBox="1"/>
          <p:nvPr/>
        </p:nvSpPr>
        <p:spPr>
          <a:xfrm>
            <a:off x="2408038" y="4270422"/>
            <a:ext cx="4651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0,45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524D6CF-87DC-07B7-C42D-A3763AA45134}"/>
              </a:ext>
            </a:extLst>
          </p:cNvPr>
          <p:cNvSpPr txBox="1"/>
          <p:nvPr/>
        </p:nvSpPr>
        <p:spPr>
          <a:xfrm>
            <a:off x="3117861" y="4270422"/>
            <a:ext cx="4683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0,38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B451E3-9FBB-9A77-E090-725493B66091}"/>
              </a:ext>
            </a:extLst>
          </p:cNvPr>
          <p:cNvSpPr txBox="1"/>
          <p:nvPr/>
        </p:nvSpPr>
        <p:spPr>
          <a:xfrm>
            <a:off x="3568575" y="4270422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0,46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CC1DF0-6F86-5E3A-AD2E-93E40ABCABB0}"/>
              </a:ext>
            </a:extLst>
          </p:cNvPr>
          <p:cNvSpPr txBox="1"/>
          <p:nvPr/>
        </p:nvSpPr>
        <p:spPr>
          <a:xfrm>
            <a:off x="4310416" y="4242158"/>
            <a:ext cx="4683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0,36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0C89D6B-8272-8814-3274-61CC064703C7}"/>
              </a:ext>
            </a:extLst>
          </p:cNvPr>
          <p:cNvSpPr txBox="1"/>
          <p:nvPr/>
        </p:nvSpPr>
        <p:spPr>
          <a:xfrm>
            <a:off x="4748238" y="4242158"/>
            <a:ext cx="383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0,5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F39302B-455B-59FA-4E99-916CDA74DC8F}"/>
              </a:ext>
            </a:extLst>
          </p:cNvPr>
          <p:cNvSpPr txBox="1"/>
          <p:nvPr/>
        </p:nvSpPr>
        <p:spPr>
          <a:xfrm>
            <a:off x="5458061" y="4242158"/>
            <a:ext cx="460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0,42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246F5EE-3FA8-DDC9-06F7-A700DEA9345D}"/>
              </a:ext>
            </a:extLst>
          </p:cNvPr>
          <p:cNvSpPr txBox="1"/>
          <p:nvPr/>
        </p:nvSpPr>
        <p:spPr>
          <a:xfrm>
            <a:off x="5908775" y="4242158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0,52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F1EEB9-1D35-3C9D-7CB8-84C35449C1D9}"/>
              </a:ext>
            </a:extLst>
          </p:cNvPr>
          <p:cNvSpPr txBox="1"/>
          <p:nvPr/>
        </p:nvSpPr>
        <p:spPr>
          <a:xfrm>
            <a:off x="7720066" y="4275834"/>
            <a:ext cx="4748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0,44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C6C8DDC-75E7-8607-631C-70463A2E2976}"/>
              </a:ext>
            </a:extLst>
          </p:cNvPr>
          <p:cNvSpPr txBox="1"/>
          <p:nvPr/>
        </p:nvSpPr>
        <p:spPr>
          <a:xfrm>
            <a:off x="8162764" y="4292321"/>
            <a:ext cx="4748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0,45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CFD8E4D-2358-CD9D-9070-72D1CEBECC11}"/>
              </a:ext>
            </a:extLst>
          </p:cNvPr>
          <p:cNvSpPr txBox="1"/>
          <p:nvPr/>
        </p:nvSpPr>
        <p:spPr>
          <a:xfrm>
            <a:off x="8995112" y="4289941"/>
            <a:ext cx="4587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0,33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F8DD96-BE2C-2B01-0A01-E21D62495B23}"/>
              </a:ext>
            </a:extLst>
          </p:cNvPr>
          <p:cNvSpPr txBox="1"/>
          <p:nvPr/>
        </p:nvSpPr>
        <p:spPr>
          <a:xfrm>
            <a:off x="9416128" y="4289941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0,46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3E1A00C-253D-FA53-F747-3FDBCFD716B6}"/>
              </a:ext>
            </a:extLst>
          </p:cNvPr>
          <p:cNvSpPr txBox="1"/>
          <p:nvPr/>
        </p:nvSpPr>
        <p:spPr>
          <a:xfrm>
            <a:off x="10207705" y="428849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0,40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2F733AC-4BFD-6A0B-899F-B4AC9469D812}"/>
              </a:ext>
            </a:extLst>
          </p:cNvPr>
          <p:cNvSpPr txBox="1"/>
          <p:nvPr/>
        </p:nvSpPr>
        <p:spPr>
          <a:xfrm>
            <a:off x="10660849" y="428849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0,46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D2B55EF-800E-199C-F70C-7071BD365AEB}"/>
              </a:ext>
            </a:extLst>
          </p:cNvPr>
          <p:cNvSpPr txBox="1"/>
          <p:nvPr/>
        </p:nvSpPr>
        <p:spPr>
          <a:xfrm>
            <a:off x="11429075" y="4270421"/>
            <a:ext cx="4587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0,35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98103A5-9C34-4CAD-30D3-65C79DD74067}"/>
              </a:ext>
            </a:extLst>
          </p:cNvPr>
          <p:cNvSpPr txBox="1"/>
          <p:nvPr/>
        </p:nvSpPr>
        <p:spPr>
          <a:xfrm>
            <a:off x="11934537" y="4277582"/>
            <a:ext cx="4716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0,44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5DA1218-0017-B483-04CF-357B7A605718}"/>
              </a:ext>
            </a:extLst>
          </p:cNvPr>
          <p:cNvSpPr txBox="1"/>
          <p:nvPr/>
        </p:nvSpPr>
        <p:spPr>
          <a:xfrm>
            <a:off x="12652556" y="4278346"/>
            <a:ext cx="4683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0,39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5C6244-FA84-F8AC-678B-29D066B358CA}"/>
              </a:ext>
            </a:extLst>
          </p:cNvPr>
          <p:cNvSpPr txBox="1"/>
          <p:nvPr/>
        </p:nvSpPr>
        <p:spPr>
          <a:xfrm>
            <a:off x="13143590" y="427673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andara" panose="020E0502030303020204" pitchFamily="34" charset="0"/>
              </a:rPr>
              <a:t>0,46</a:t>
            </a:r>
            <a:endParaRPr lang="ru-RU" sz="1200" dirty="0">
              <a:solidFill>
                <a:schemeClr val="bg1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 0">
            <a:extLst>
              <a:ext uri="{FF2B5EF4-FFF2-40B4-BE49-F238E27FC236}">
                <a16:creationId xmlns:a16="http://schemas.microsoft.com/office/drawing/2014/main" id="{43F4C63D-856F-7B77-C12B-EB42EFCD75A3}"/>
              </a:ext>
            </a:extLst>
          </p:cNvPr>
          <p:cNvSpPr/>
          <p:nvPr/>
        </p:nvSpPr>
        <p:spPr>
          <a:xfrm>
            <a:off x="834628" y="618173"/>
            <a:ext cx="12961025" cy="1173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6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Prompt-based классификация: матрица экспериментов</a:t>
            </a:r>
            <a:endParaRPr lang="en-US" sz="3650" dirty="0"/>
          </a:p>
        </p:txBody>
      </p:sp>
      <p:sp>
        <p:nvSpPr>
          <p:cNvPr id="101" name="Text 1">
            <a:extLst>
              <a:ext uri="{FF2B5EF4-FFF2-40B4-BE49-F238E27FC236}">
                <a16:creationId xmlns:a16="http://schemas.microsoft.com/office/drawing/2014/main" id="{88D396A0-3F39-0E23-A745-3F412FE35C91}"/>
              </a:ext>
            </a:extLst>
          </p:cNvPr>
          <p:cNvSpPr/>
          <p:nvPr/>
        </p:nvSpPr>
        <p:spPr>
          <a:xfrm>
            <a:off x="834628" y="2103239"/>
            <a:ext cx="12961025" cy="549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русскоязычных моделей, 4 режима few-shot. Для каждого из 36 классов — автоматически сгенерированное описание. Реализован </a:t>
            </a: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5-уровневый парсер ответов</a:t>
            </a: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для моделей, генерирующих пояснения вместо метки.</a:t>
            </a:r>
            <a:endParaRPr lang="en-US" sz="1450" dirty="0"/>
          </a:p>
        </p:txBody>
      </p:sp>
      <p:sp>
        <p:nvSpPr>
          <p:cNvPr id="102" name="Shape 2">
            <a:extLst>
              <a:ext uri="{FF2B5EF4-FFF2-40B4-BE49-F238E27FC236}">
                <a16:creationId xmlns:a16="http://schemas.microsoft.com/office/drawing/2014/main" id="{CE72836C-C675-898A-7EAB-DD0EB4C54F0A}"/>
              </a:ext>
            </a:extLst>
          </p:cNvPr>
          <p:cNvSpPr/>
          <p:nvPr/>
        </p:nvSpPr>
        <p:spPr>
          <a:xfrm>
            <a:off x="834628" y="2827496"/>
            <a:ext cx="12961025" cy="3884771"/>
          </a:xfrm>
          <a:prstGeom prst="roundRect">
            <a:avLst>
              <a:gd name="adj" fmla="val 725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103" name="Shape 3">
            <a:extLst>
              <a:ext uri="{FF2B5EF4-FFF2-40B4-BE49-F238E27FC236}">
                <a16:creationId xmlns:a16="http://schemas.microsoft.com/office/drawing/2014/main" id="{3ADABFC1-FBED-C415-18F3-9900EA821907}"/>
              </a:ext>
            </a:extLst>
          </p:cNvPr>
          <p:cNvSpPr/>
          <p:nvPr/>
        </p:nvSpPr>
        <p:spPr>
          <a:xfrm>
            <a:off x="842248" y="2835116"/>
            <a:ext cx="12945785" cy="139362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04" name="Text 4">
            <a:extLst>
              <a:ext uri="{FF2B5EF4-FFF2-40B4-BE49-F238E27FC236}">
                <a16:creationId xmlns:a16="http://schemas.microsoft.com/office/drawing/2014/main" id="{9EFED1BA-F04E-E830-8C79-BEF5BF72BA9C}"/>
              </a:ext>
            </a:extLst>
          </p:cNvPr>
          <p:cNvSpPr/>
          <p:nvPr/>
        </p:nvSpPr>
        <p:spPr>
          <a:xfrm>
            <a:off x="1030486" y="2935962"/>
            <a:ext cx="1781294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Модель</a:t>
            </a:r>
            <a:endParaRPr lang="en-US" sz="1450" dirty="0"/>
          </a:p>
        </p:txBody>
      </p:sp>
      <p:sp>
        <p:nvSpPr>
          <p:cNvPr id="105" name="Text 5">
            <a:extLst>
              <a:ext uri="{FF2B5EF4-FFF2-40B4-BE49-F238E27FC236}">
                <a16:creationId xmlns:a16="http://schemas.microsoft.com/office/drawing/2014/main" id="{E23EF834-FC4A-70E6-AB62-EF0582749D86}"/>
              </a:ext>
            </a:extLst>
          </p:cNvPr>
          <p:cNvSpPr/>
          <p:nvPr/>
        </p:nvSpPr>
        <p:spPr>
          <a:xfrm>
            <a:off x="3194923" y="2935962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0-shot</a:t>
            </a:r>
            <a:endParaRPr lang="en-US" sz="1450" dirty="0"/>
          </a:p>
        </p:txBody>
      </p:sp>
      <p:sp>
        <p:nvSpPr>
          <p:cNvPr id="106" name="Text 6">
            <a:extLst>
              <a:ext uri="{FF2B5EF4-FFF2-40B4-BE49-F238E27FC236}">
                <a16:creationId xmlns:a16="http://schemas.microsoft.com/office/drawing/2014/main" id="{C961BE77-5FA4-6F7F-CBEF-7BD7FEF34CDA}"/>
              </a:ext>
            </a:extLst>
          </p:cNvPr>
          <p:cNvSpPr/>
          <p:nvPr/>
        </p:nvSpPr>
        <p:spPr>
          <a:xfrm>
            <a:off x="4991695" y="2935962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1-shot</a:t>
            </a:r>
            <a:endParaRPr lang="en-US" sz="1450" dirty="0"/>
          </a:p>
        </p:txBody>
      </p:sp>
      <p:sp>
        <p:nvSpPr>
          <p:cNvPr id="107" name="Text 7">
            <a:extLst>
              <a:ext uri="{FF2B5EF4-FFF2-40B4-BE49-F238E27FC236}">
                <a16:creationId xmlns:a16="http://schemas.microsoft.com/office/drawing/2014/main" id="{CAC4D436-B2A2-086D-AC62-41EFE578B2E7}"/>
              </a:ext>
            </a:extLst>
          </p:cNvPr>
          <p:cNvSpPr/>
          <p:nvPr/>
        </p:nvSpPr>
        <p:spPr>
          <a:xfrm>
            <a:off x="6788468" y="2935962"/>
            <a:ext cx="9644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3-shot</a:t>
            </a:r>
            <a:endParaRPr lang="en-US" sz="1450" dirty="0"/>
          </a:p>
        </p:txBody>
      </p:sp>
      <p:sp>
        <p:nvSpPr>
          <p:cNvPr id="108" name="Text 8">
            <a:extLst>
              <a:ext uri="{FF2B5EF4-FFF2-40B4-BE49-F238E27FC236}">
                <a16:creationId xmlns:a16="http://schemas.microsoft.com/office/drawing/2014/main" id="{28D7691B-C57C-2C63-0201-49A676FFD5A8}"/>
              </a:ext>
            </a:extLst>
          </p:cNvPr>
          <p:cNvSpPr/>
          <p:nvPr/>
        </p:nvSpPr>
        <p:spPr>
          <a:xfrm>
            <a:off x="8136017" y="2935962"/>
            <a:ext cx="134897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3s-nd</a:t>
            </a:r>
            <a:endParaRPr lang="en-US" sz="1450" dirty="0"/>
          </a:p>
        </p:txBody>
      </p:sp>
      <p:sp>
        <p:nvSpPr>
          <p:cNvPr id="109" name="Text 9">
            <a:extLst>
              <a:ext uri="{FF2B5EF4-FFF2-40B4-BE49-F238E27FC236}">
                <a16:creationId xmlns:a16="http://schemas.microsoft.com/office/drawing/2014/main" id="{481C24D0-A303-2AAE-6766-3F55C0249085}"/>
              </a:ext>
            </a:extLst>
          </p:cNvPr>
          <p:cNvSpPr/>
          <p:nvPr/>
        </p:nvSpPr>
        <p:spPr>
          <a:xfrm>
            <a:off x="8136017" y="3303865"/>
            <a:ext cx="1348978" cy="549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без описаний классов</a:t>
            </a:r>
            <a:endParaRPr lang="en-US" sz="1450" dirty="0"/>
          </a:p>
        </p:txBody>
      </p:sp>
      <p:sp>
        <p:nvSpPr>
          <p:cNvPr id="110" name="Text 10">
            <a:extLst>
              <a:ext uri="{FF2B5EF4-FFF2-40B4-BE49-F238E27FC236}">
                <a16:creationId xmlns:a16="http://schemas.microsoft.com/office/drawing/2014/main" id="{3518C42A-DCB4-87AB-C4F2-0CDD0C6A03E0}"/>
              </a:ext>
            </a:extLst>
          </p:cNvPr>
          <p:cNvSpPr/>
          <p:nvPr/>
        </p:nvSpPr>
        <p:spPr>
          <a:xfrm>
            <a:off x="9868138" y="2935962"/>
            <a:ext cx="1672590" cy="1098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5s</a:t>
            </a: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короткие примеры + описания</a:t>
            </a:r>
            <a:endParaRPr lang="en-US" sz="1450" dirty="0"/>
          </a:p>
        </p:txBody>
      </p:sp>
      <p:sp>
        <p:nvSpPr>
          <p:cNvPr id="111" name="Text 11">
            <a:extLst>
              <a:ext uri="{FF2B5EF4-FFF2-40B4-BE49-F238E27FC236}">
                <a16:creationId xmlns:a16="http://schemas.microsoft.com/office/drawing/2014/main" id="{23CC8A32-FD46-7957-571E-B7FED68B10F8}"/>
              </a:ext>
            </a:extLst>
          </p:cNvPr>
          <p:cNvSpPr/>
          <p:nvPr/>
        </p:nvSpPr>
        <p:spPr>
          <a:xfrm>
            <a:off x="11923871" y="2935962"/>
            <a:ext cx="167640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5s-nd</a:t>
            </a:r>
            <a:endParaRPr lang="en-US" sz="1450" dirty="0"/>
          </a:p>
        </p:txBody>
      </p:sp>
      <p:sp>
        <p:nvSpPr>
          <p:cNvPr id="112" name="Text 12">
            <a:extLst>
              <a:ext uri="{FF2B5EF4-FFF2-40B4-BE49-F238E27FC236}">
                <a16:creationId xmlns:a16="http://schemas.microsoft.com/office/drawing/2014/main" id="{3B374049-3904-2C29-699C-4339E1A46BF6}"/>
              </a:ext>
            </a:extLst>
          </p:cNvPr>
          <p:cNvSpPr/>
          <p:nvPr/>
        </p:nvSpPr>
        <p:spPr>
          <a:xfrm>
            <a:off x="11923871" y="3303865"/>
            <a:ext cx="1676400" cy="824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короткие примеры, без описаний</a:t>
            </a:r>
            <a:endParaRPr lang="en-US" sz="1450" dirty="0"/>
          </a:p>
        </p:txBody>
      </p:sp>
      <p:sp>
        <p:nvSpPr>
          <p:cNvPr id="113" name="Shape 13">
            <a:extLst>
              <a:ext uri="{FF2B5EF4-FFF2-40B4-BE49-F238E27FC236}">
                <a16:creationId xmlns:a16="http://schemas.microsoft.com/office/drawing/2014/main" id="{1E23B5F9-7DFE-D45C-F8E7-E8B2F41086DC}"/>
              </a:ext>
            </a:extLst>
          </p:cNvPr>
          <p:cNvSpPr/>
          <p:nvPr/>
        </p:nvSpPr>
        <p:spPr>
          <a:xfrm>
            <a:off x="842248" y="4228743"/>
            <a:ext cx="12945785" cy="49518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14" name="Text 14">
            <a:extLst>
              <a:ext uri="{FF2B5EF4-FFF2-40B4-BE49-F238E27FC236}">
                <a16:creationId xmlns:a16="http://schemas.microsoft.com/office/drawing/2014/main" id="{4949D41A-752D-C5A1-1192-A6582F728C0E}"/>
              </a:ext>
            </a:extLst>
          </p:cNvPr>
          <p:cNvSpPr/>
          <p:nvPr/>
        </p:nvSpPr>
        <p:spPr>
          <a:xfrm>
            <a:off x="1030486" y="4329589"/>
            <a:ext cx="1781294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saiga_8b</a:t>
            </a:r>
            <a:endParaRPr lang="en-US" sz="1800" dirty="0"/>
          </a:p>
        </p:txBody>
      </p:sp>
      <p:sp>
        <p:nvSpPr>
          <p:cNvPr id="115" name="Text 15">
            <a:extLst>
              <a:ext uri="{FF2B5EF4-FFF2-40B4-BE49-F238E27FC236}">
                <a16:creationId xmlns:a16="http://schemas.microsoft.com/office/drawing/2014/main" id="{EE3205C7-23C6-3712-75A5-5ECE17FD8CD4}"/>
              </a:ext>
            </a:extLst>
          </p:cNvPr>
          <p:cNvSpPr/>
          <p:nvPr/>
        </p:nvSpPr>
        <p:spPr>
          <a:xfrm>
            <a:off x="3194923" y="4329589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16" name="Text 16">
            <a:extLst>
              <a:ext uri="{FF2B5EF4-FFF2-40B4-BE49-F238E27FC236}">
                <a16:creationId xmlns:a16="http://schemas.microsoft.com/office/drawing/2014/main" id="{6B0C2AD1-30AD-BA0D-BED3-C4E70FE04BE8}"/>
              </a:ext>
            </a:extLst>
          </p:cNvPr>
          <p:cNvSpPr/>
          <p:nvPr/>
        </p:nvSpPr>
        <p:spPr>
          <a:xfrm>
            <a:off x="4991695" y="4329589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17" name="Text 17">
            <a:extLst>
              <a:ext uri="{FF2B5EF4-FFF2-40B4-BE49-F238E27FC236}">
                <a16:creationId xmlns:a16="http://schemas.microsoft.com/office/drawing/2014/main" id="{262F526C-DC7A-6972-6AD6-8307E6805E93}"/>
              </a:ext>
            </a:extLst>
          </p:cNvPr>
          <p:cNvSpPr/>
          <p:nvPr/>
        </p:nvSpPr>
        <p:spPr>
          <a:xfrm>
            <a:off x="6788468" y="4329589"/>
            <a:ext cx="9644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—</a:t>
            </a:r>
            <a:endParaRPr lang="en-US" sz="1450" dirty="0"/>
          </a:p>
        </p:txBody>
      </p:sp>
      <p:sp>
        <p:nvSpPr>
          <p:cNvPr id="118" name="Text 18">
            <a:extLst>
              <a:ext uri="{FF2B5EF4-FFF2-40B4-BE49-F238E27FC236}">
                <a16:creationId xmlns:a16="http://schemas.microsoft.com/office/drawing/2014/main" id="{FC9135E7-B453-32FC-B2D5-D1D7506E261C}"/>
              </a:ext>
            </a:extLst>
          </p:cNvPr>
          <p:cNvSpPr/>
          <p:nvPr/>
        </p:nvSpPr>
        <p:spPr>
          <a:xfrm>
            <a:off x="8136017" y="4329589"/>
            <a:ext cx="134897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—</a:t>
            </a:r>
            <a:endParaRPr lang="en-US" sz="1450" dirty="0"/>
          </a:p>
        </p:txBody>
      </p:sp>
      <p:sp>
        <p:nvSpPr>
          <p:cNvPr id="119" name="Text 19">
            <a:extLst>
              <a:ext uri="{FF2B5EF4-FFF2-40B4-BE49-F238E27FC236}">
                <a16:creationId xmlns:a16="http://schemas.microsoft.com/office/drawing/2014/main" id="{071C5E29-5A45-B72C-AF99-57D6A60F25D4}"/>
              </a:ext>
            </a:extLst>
          </p:cNvPr>
          <p:cNvSpPr/>
          <p:nvPr/>
        </p:nvSpPr>
        <p:spPr>
          <a:xfrm>
            <a:off x="9868138" y="4329589"/>
            <a:ext cx="167259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—</a:t>
            </a:r>
            <a:endParaRPr lang="en-US" sz="1450" dirty="0"/>
          </a:p>
        </p:txBody>
      </p:sp>
      <p:sp>
        <p:nvSpPr>
          <p:cNvPr id="120" name="Text 20">
            <a:extLst>
              <a:ext uri="{FF2B5EF4-FFF2-40B4-BE49-F238E27FC236}">
                <a16:creationId xmlns:a16="http://schemas.microsoft.com/office/drawing/2014/main" id="{CDDE8F07-CC3C-6B16-0DD2-3B025E7279A6}"/>
              </a:ext>
            </a:extLst>
          </p:cNvPr>
          <p:cNvSpPr/>
          <p:nvPr/>
        </p:nvSpPr>
        <p:spPr>
          <a:xfrm>
            <a:off x="11923871" y="4329589"/>
            <a:ext cx="167640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—</a:t>
            </a:r>
            <a:endParaRPr lang="en-US" sz="1450" dirty="0"/>
          </a:p>
        </p:txBody>
      </p:sp>
      <p:sp>
        <p:nvSpPr>
          <p:cNvPr id="121" name="Shape 21">
            <a:extLst>
              <a:ext uri="{FF2B5EF4-FFF2-40B4-BE49-F238E27FC236}">
                <a16:creationId xmlns:a16="http://schemas.microsoft.com/office/drawing/2014/main" id="{FC095A41-07D1-5913-C7E4-70730CA26458}"/>
              </a:ext>
            </a:extLst>
          </p:cNvPr>
          <p:cNvSpPr/>
          <p:nvPr/>
        </p:nvSpPr>
        <p:spPr>
          <a:xfrm>
            <a:off x="842248" y="4723924"/>
            <a:ext cx="12945785" cy="49518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2" name="Text 22">
            <a:extLst>
              <a:ext uri="{FF2B5EF4-FFF2-40B4-BE49-F238E27FC236}">
                <a16:creationId xmlns:a16="http://schemas.microsoft.com/office/drawing/2014/main" id="{B8CBA40A-371F-1F51-146F-324CA7A8047F}"/>
              </a:ext>
            </a:extLst>
          </p:cNvPr>
          <p:cNvSpPr/>
          <p:nvPr/>
        </p:nvSpPr>
        <p:spPr>
          <a:xfrm>
            <a:off x="1030486" y="4824770"/>
            <a:ext cx="1781294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t_lite_8b</a:t>
            </a:r>
            <a:endParaRPr lang="en-US" sz="1800" dirty="0"/>
          </a:p>
        </p:txBody>
      </p:sp>
      <p:sp>
        <p:nvSpPr>
          <p:cNvPr id="123" name="Text 23">
            <a:extLst>
              <a:ext uri="{FF2B5EF4-FFF2-40B4-BE49-F238E27FC236}">
                <a16:creationId xmlns:a16="http://schemas.microsoft.com/office/drawing/2014/main" id="{3058ECA0-ED7E-6300-261F-0B3FA76F4835}"/>
              </a:ext>
            </a:extLst>
          </p:cNvPr>
          <p:cNvSpPr/>
          <p:nvPr/>
        </p:nvSpPr>
        <p:spPr>
          <a:xfrm>
            <a:off x="3194923" y="4824770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24" name="Text 24">
            <a:extLst>
              <a:ext uri="{FF2B5EF4-FFF2-40B4-BE49-F238E27FC236}">
                <a16:creationId xmlns:a16="http://schemas.microsoft.com/office/drawing/2014/main" id="{69C41B86-A039-17EA-BA7D-BEC7E70FF1D4}"/>
              </a:ext>
            </a:extLst>
          </p:cNvPr>
          <p:cNvSpPr/>
          <p:nvPr/>
        </p:nvSpPr>
        <p:spPr>
          <a:xfrm>
            <a:off x="4991695" y="4824770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25" name="Text 25">
            <a:extLst>
              <a:ext uri="{FF2B5EF4-FFF2-40B4-BE49-F238E27FC236}">
                <a16:creationId xmlns:a16="http://schemas.microsoft.com/office/drawing/2014/main" id="{59A22A6D-7994-492C-99C4-DE3F93708ABA}"/>
              </a:ext>
            </a:extLst>
          </p:cNvPr>
          <p:cNvSpPr/>
          <p:nvPr/>
        </p:nvSpPr>
        <p:spPr>
          <a:xfrm>
            <a:off x="6788468" y="4824770"/>
            <a:ext cx="9644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26" name="Text 26">
            <a:extLst>
              <a:ext uri="{FF2B5EF4-FFF2-40B4-BE49-F238E27FC236}">
                <a16:creationId xmlns:a16="http://schemas.microsoft.com/office/drawing/2014/main" id="{230DB53A-4476-22D7-3E46-47A4DD2D2D72}"/>
              </a:ext>
            </a:extLst>
          </p:cNvPr>
          <p:cNvSpPr/>
          <p:nvPr/>
        </p:nvSpPr>
        <p:spPr>
          <a:xfrm>
            <a:off x="8136017" y="4824770"/>
            <a:ext cx="134897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27" name="Text 27">
            <a:extLst>
              <a:ext uri="{FF2B5EF4-FFF2-40B4-BE49-F238E27FC236}">
                <a16:creationId xmlns:a16="http://schemas.microsoft.com/office/drawing/2014/main" id="{5D79ACCE-1FC0-F890-47B4-6E5DD7A1D3FC}"/>
              </a:ext>
            </a:extLst>
          </p:cNvPr>
          <p:cNvSpPr/>
          <p:nvPr/>
        </p:nvSpPr>
        <p:spPr>
          <a:xfrm>
            <a:off x="9868138" y="4824770"/>
            <a:ext cx="167259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28" name="Text 28">
            <a:extLst>
              <a:ext uri="{FF2B5EF4-FFF2-40B4-BE49-F238E27FC236}">
                <a16:creationId xmlns:a16="http://schemas.microsoft.com/office/drawing/2014/main" id="{02777E0A-C9B1-6499-00DC-60D10F88A521}"/>
              </a:ext>
            </a:extLst>
          </p:cNvPr>
          <p:cNvSpPr/>
          <p:nvPr/>
        </p:nvSpPr>
        <p:spPr>
          <a:xfrm>
            <a:off x="11923871" y="4824770"/>
            <a:ext cx="167640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29" name="Shape 29">
            <a:extLst>
              <a:ext uri="{FF2B5EF4-FFF2-40B4-BE49-F238E27FC236}">
                <a16:creationId xmlns:a16="http://schemas.microsoft.com/office/drawing/2014/main" id="{FE4B6044-4032-A7DB-3D16-A2C38DA10A3F}"/>
              </a:ext>
            </a:extLst>
          </p:cNvPr>
          <p:cNvSpPr/>
          <p:nvPr/>
        </p:nvSpPr>
        <p:spPr>
          <a:xfrm>
            <a:off x="842248" y="5219105"/>
            <a:ext cx="12945785" cy="49518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30" name="Text 30">
            <a:extLst>
              <a:ext uri="{FF2B5EF4-FFF2-40B4-BE49-F238E27FC236}">
                <a16:creationId xmlns:a16="http://schemas.microsoft.com/office/drawing/2014/main" id="{03340C1B-6B2C-0DDB-A844-5D9722E1165E}"/>
              </a:ext>
            </a:extLst>
          </p:cNvPr>
          <p:cNvSpPr/>
          <p:nvPr/>
        </p:nvSpPr>
        <p:spPr>
          <a:xfrm>
            <a:off x="1030486" y="5319951"/>
            <a:ext cx="1781294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vikhr_12b</a:t>
            </a:r>
            <a:endParaRPr lang="en-US" sz="1800" dirty="0"/>
          </a:p>
        </p:txBody>
      </p:sp>
      <p:sp>
        <p:nvSpPr>
          <p:cNvPr id="131" name="Text 31">
            <a:extLst>
              <a:ext uri="{FF2B5EF4-FFF2-40B4-BE49-F238E27FC236}">
                <a16:creationId xmlns:a16="http://schemas.microsoft.com/office/drawing/2014/main" id="{69E2F90F-2C04-8C70-DA29-BB840C52B7F7}"/>
              </a:ext>
            </a:extLst>
          </p:cNvPr>
          <p:cNvSpPr/>
          <p:nvPr/>
        </p:nvSpPr>
        <p:spPr>
          <a:xfrm>
            <a:off x="3194923" y="5319951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32" name="Text 32">
            <a:extLst>
              <a:ext uri="{FF2B5EF4-FFF2-40B4-BE49-F238E27FC236}">
                <a16:creationId xmlns:a16="http://schemas.microsoft.com/office/drawing/2014/main" id="{8B14E819-F7AA-3037-55C6-930E60EF7D91}"/>
              </a:ext>
            </a:extLst>
          </p:cNvPr>
          <p:cNvSpPr/>
          <p:nvPr/>
        </p:nvSpPr>
        <p:spPr>
          <a:xfrm>
            <a:off x="4991695" y="5319951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33" name="Text 33">
            <a:extLst>
              <a:ext uri="{FF2B5EF4-FFF2-40B4-BE49-F238E27FC236}">
                <a16:creationId xmlns:a16="http://schemas.microsoft.com/office/drawing/2014/main" id="{5F29BABC-1337-4A8D-6841-3669F55C4667}"/>
              </a:ext>
            </a:extLst>
          </p:cNvPr>
          <p:cNvSpPr/>
          <p:nvPr/>
        </p:nvSpPr>
        <p:spPr>
          <a:xfrm>
            <a:off x="6788468" y="5319951"/>
            <a:ext cx="9644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34" name="Text 34">
            <a:extLst>
              <a:ext uri="{FF2B5EF4-FFF2-40B4-BE49-F238E27FC236}">
                <a16:creationId xmlns:a16="http://schemas.microsoft.com/office/drawing/2014/main" id="{720C86DA-48B8-D506-0A09-E14864104187}"/>
              </a:ext>
            </a:extLst>
          </p:cNvPr>
          <p:cNvSpPr/>
          <p:nvPr/>
        </p:nvSpPr>
        <p:spPr>
          <a:xfrm>
            <a:off x="8136017" y="5319951"/>
            <a:ext cx="134897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35" name="Text 35">
            <a:extLst>
              <a:ext uri="{FF2B5EF4-FFF2-40B4-BE49-F238E27FC236}">
                <a16:creationId xmlns:a16="http://schemas.microsoft.com/office/drawing/2014/main" id="{D39E4D75-3A34-5F68-B85F-BEEDAEA836B8}"/>
              </a:ext>
            </a:extLst>
          </p:cNvPr>
          <p:cNvSpPr/>
          <p:nvPr/>
        </p:nvSpPr>
        <p:spPr>
          <a:xfrm>
            <a:off x="9868138" y="5319951"/>
            <a:ext cx="167259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36" name="Text 36">
            <a:extLst>
              <a:ext uri="{FF2B5EF4-FFF2-40B4-BE49-F238E27FC236}">
                <a16:creationId xmlns:a16="http://schemas.microsoft.com/office/drawing/2014/main" id="{B37B0125-FCC7-B6AC-44CC-20652F0A5F50}"/>
              </a:ext>
            </a:extLst>
          </p:cNvPr>
          <p:cNvSpPr/>
          <p:nvPr/>
        </p:nvSpPr>
        <p:spPr>
          <a:xfrm>
            <a:off x="11923871" y="5319951"/>
            <a:ext cx="167640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37" name="Shape 37">
            <a:extLst>
              <a:ext uri="{FF2B5EF4-FFF2-40B4-BE49-F238E27FC236}">
                <a16:creationId xmlns:a16="http://schemas.microsoft.com/office/drawing/2014/main" id="{A00B1153-DAEC-DEF8-022C-F1A82A572CA6}"/>
              </a:ext>
            </a:extLst>
          </p:cNvPr>
          <p:cNvSpPr/>
          <p:nvPr/>
        </p:nvSpPr>
        <p:spPr>
          <a:xfrm>
            <a:off x="842248" y="5714286"/>
            <a:ext cx="12945785" cy="49518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8" name="Text 38">
            <a:extLst>
              <a:ext uri="{FF2B5EF4-FFF2-40B4-BE49-F238E27FC236}">
                <a16:creationId xmlns:a16="http://schemas.microsoft.com/office/drawing/2014/main" id="{B15A35BE-F225-FCD5-7B1A-7127772B53B8}"/>
              </a:ext>
            </a:extLst>
          </p:cNvPr>
          <p:cNvSpPr/>
          <p:nvPr/>
        </p:nvSpPr>
        <p:spPr>
          <a:xfrm>
            <a:off x="1030486" y="5815132"/>
            <a:ext cx="1781294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qwen_14b</a:t>
            </a:r>
            <a:endParaRPr lang="en-US" sz="1800" dirty="0"/>
          </a:p>
        </p:txBody>
      </p:sp>
      <p:sp>
        <p:nvSpPr>
          <p:cNvPr id="139" name="Text 39">
            <a:extLst>
              <a:ext uri="{FF2B5EF4-FFF2-40B4-BE49-F238E27FC236}">
                <a16:creationId xmlns:a16="http://schemas.microsoft.com/office/drawing/2014/main" id="{4B25A4CE-778B-ED1D-455F-93848F649149}"/>
              </a:ext>
            </a:extLst>
          </p:cNvPr>
          <p:cNvSpPr/>
          <p:nvPr/>
        </p:nvSpPr>
        <p:spPr>
          <a:xfrm>
            <a:off x="3194923" y="5815132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0" name="Text 40">
            <a:extLst>
              <a:ext uri="{FF2B5EF4-FFF2-40B4-BE49-F238E27FC236}">
                <a16:creationId xmlns:a16="http://schemas.microsoft.com/office/drawing/2014/main" id="{6D1B4892-B77C-61AB-4E77-BBAF5607A136}"/>
              </a:ext>
            </a:extLst>
          </p:cNvPr>
          <p:cNvSpPr/>
          <p:nvPr/>
        </p:nvSpPr>
        <p:spPr>
          <a:xfrm>
            <a:off x="4991695" y="5815132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1" name="Text 41">
            <a:extLst>
              <a:ext uri="{FF2B5EF4-FFF2-40B4-BE49-F238E27FC236}">
                <a16:creationId xmlns:a16="http://schemas.microsoft.com/office/drawing/2014/main" id="{2ED2A6FA-2119-A729-392A-314983BD3FC7}"/>
              </a:ext>
            </a:extLst>
          </p:cNvPr>
          <p:cNvSpPr/>
          <p:nvPr/>
        </p:nvSpPr>
        <p:spPr>
          <a:xfrm>
            <a:off x="6788468" y="5815132"/>
            <a:ext cx="9644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2" name="Text 42">
            <a:extLst>
              <a:ext uri="{FF2B5EF4-FFF2-40B4-BE49-F238E27FC236}">
                <a16:creationId xmlns:a16="http://schemas.microsoft.com/office/drawing/2014/main" id="{E4218944-E569-2B7C-3018-9C4F4BE32215}"/>
              </a:ext>
            </a:extLst>
          </p:cNvPr>
          <p:cNvSpPr/>
          <p:nvPr/>
        </p:nvSpPr>
        <p:spPr>
          <a:xfrm>
            <a:off x="8136017" y="5815132"/>
            <a:ext cx="134897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3" name="Text 43">
            <a:extLst>
              <a:ext uri="{FF2B5EF4-FFF2-40B4-BE49-F238E27FC236}">
                <a16:creationId xmlns:a16="http://schemas.microsoft.com/office/drawing/2014/main" id="{37970F95-31D1-E12F-A3DB-40699E1534AE}"/>
              </a:ext>
            </a:extLst>
          </p:cNvPr>
          <p:cNvSpPr/>
          <p:nvPr/>
        </p:nvSpPr>
        <p:spPr>
          <a:xfrm>
            <a:off x="9868138" y="5815132"/>
            <a:ext cx="167259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4" name="Text 44">
            <a:extLst>
              <a:ext uri="{FF2B5EF4-FFF2-40B4-BE49-F238E27FC236}">
                <a16:creationId xmlns:a16="http://schemas.microsoft.com/office/drawing/2014/main" id="{9284EF08-6E82-793A-F67A-C6DD97182003}"/>
              </a:ext>
            </a:extLst>
          </p:cNvPr>
          <p:cNvSpPr/>
          <p:nvPr/>
        </p:nvSpPr>
        <p:spPr>
          <a:xfrm>
            <a:off x="11923871" y="5815132"/>
            <a:ext cx="167640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5" name="Shape 45">
            <a:extLst>
              <a:ext uri="{FF2B5EF4-FFF2-40B4-BE49-F238E27FC236}">
                <a16:creationId xmlns:a16="http://schemas.microsoft.com/office/drawing/2014/main" id="{FF357C45-3D0B-41C3-1769-DB0900184818}"/>
              </a:ext>
            </a:extLst>
          </p:cNvPr>
          <p:cNvSpPr/>
          <p:nvPr/>
        </p:nvSpPr>
        <p:spPr>
          <a:xfrm>
            <a:off x="842248" y="6209467"/>
            <a:ext cx="12945785" cy="49518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46" name="Text 46">
            <a:extLst>
              <a:ext uri="{FF2B5EF4-FFF2-40B4-BE49-F238E27FC236}">
                <a16:creationId xmlns:a16="http://schemas.microsoft.com/office/drawing/2014/main" id="{0000D414-CDAA-EA9F-A0B9-7B7B961D3E46}"/>
              </a:ext>
            </a:extLst>
          </p:cNvPr>
          <p:cNvSpPr/>
          <p:nvPr/>
        </p:nvSpPr>
        <p:spPr>
          <a:xfrm>
            <a:off x="1030486" y="6310313"/>
            <a:ext cx="1781294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qwen_32b</a:t>
            </a:r>
            <a:endParaRPr lang="en-US" sz="1800" dirty="0"/>
          </a:p>
        </p:txBody>
      </p:sp>
      <p:sp>
        <p:nvSpPr>
          <p:cNvPr id="147" name="Text 47">
            <a:extLst>
              <a:ext uri="{FF2B5EF4-FFF2-40B4-BE49-F238E27FC236}">
                <a16:creationId xmlns:a16="http://schemas.microsoft.com/office/drawing/2014/main" id="{1689AD52-25F0-B9FA-701B-0AA3A0070AB2}"/>
              </a:ext>
            </a:extLst>
          </p:cNvPr>
          <p:cNvSpPr/>
          <p:nvPr/>
        </p:nvSpPr>
        <p:spPr>
          <a:xfrm>
            <a:off x="3194923" y="6310313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8" name="Text 48">
            <a:extLst>
              <a:ext uri="{FF2B5EF4-FFF2-40B4-BE49-F238E27FC236}">
                <a16:creationId xmlns:a16="http://schemas.microsoft.com/office/drawing/2014/main" id="{BA8A87F6-57F0-EEBB-24E1-94BA060CC2A4}"/>
              </a:ext>
            </a:extLst>
          </p:cNvPr>
          <p:cNvSpPr/>
          <p:nvPr/>
        </p:nvSpPr>
        <p:spPr>
          <a:xfrm>
            <a:off x="4991695" y="6310313"/>
            <a:ext cx="1413629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49" name="Text 49">
            <a:extLst>
              <a:ext uri="{FF2B5EF4-FFF2-40B4-BE49-F238E27FC236}">
                <a16:creationId xmlns:a16="http://schemas.microsoft.com/office/drawing/2014/main" id="{A5C55D16-BC46-4B27-2E89-19ED284D0BF7}"/>
              </a:ext>
            </a:extLst>
          </p:cNvPr>
          <p:cNvSpPr/>
          <p:nvPr/>
        </p:nvSpPr>
        <p:spPr>
          <a:xfrm>
            <a:off x="6788468" y="6310313"/>
            <a:ext cx="964406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50" name="Text 50">
            <a:extLst>
              <a:ext uri="{FF2B5EF4-FFF2-40B4-BE49-F238E27FC236}">
                <a16:creationId xmlns:a16="http://schemas.microsoft.com/office/drawing/2014/main" id="{576EB646-6974-DE26-2F3E-4982FE888F45}"/>
              </a:ext>
            </a:extLst>
          </p:cNvPr>
          <p:cNvSpPr/>
          <p:nvPr/>
        </p:nvSpPr>
        <p:spPr>
          <a:xfrm>
            <a:off x="8136017" y="6310313"/>
            <a:ext cx="134897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51" name="Text 51">
            <a:extLst>
              <a:ext uri="{FF2B5EF4-FFF2-40B4-BE49-F238E27FC236}">
                <a16:creationId xmlns:a16="http://schemas.microsoft.com/office/drawing/2014/main" id="{0F1F3764-50C6-633C-8BA3-272FF9584816}"/>
              </a:ext>
            </a:extLst>
          </p:cNvPr>
          <p:cNvSpPr/>
          <p:nvPr/>
        </p:nvSpPr>
        <p:spPr>
          <a:xfrm>
            <a:off x="9868138" y="6310313"/>
            <a:ext cx="167259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52" name="Text 52">
            <a:extLst>
              <a:ext uri="{FF2B5EF4-FFF2-40B4-BE49-F238E27FC236}">
                <a16:creationId xmlns:a16="http://schemas.microsoft.com/office/drawing/2014/main" id="{4A4FF74A-E626-6F81-3347-DFE7B2FB4B1A}"/>
              </a:ext>
            </a:extLst>
          </p:cNvPr>
          <p:cNvSpPr/>
          <p:nvPr/>
        </p:nvSpPr>
        <p:spPr>
          <a:xfrm>
            <a:off x="11923871" y="6310313"/>
            <a:ext cx="1676400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450" dirty="0"/>
          </a:p>
        </p:txBody>
      </p:sp>
      <p:sp>
        <p:nvSpPr>
          <p:cNvPr id="153" name="Text 53">
            <a:extLst>
              <a:ext uri="{FF2B5EF4-FFF2-40B4-BE49-F238E27FC236}">
                <a16:creationId xmlns:a16="http://schemas.microsoft.com/office/drawing/2014/main" id="{8B4E8199-85D8-26EB-7662-0EFEEF777E66}"/>
              </a:ext>
            </a:extLst>
          </p:cNvPr>
          <p:cNvSpPr/>
          <p:nvPr/>
        </p:nvSpPr>
        <p:spPr>
          <a:xfrm>
            <a:off x="834628" y="6887170"/>
            <a:ext cx="12961025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Saiga-8B — только 2 режима из-за ограниченного контекстного окна. </a:t>
            </a:r>
            <a:endParaRPr lang="en-US" sz="1450" dirty="0"/>
          </a:p>
        </p:txBody>
      </p:sp>
      <p:sp>
        <p:nvSpPr>
          <p:cNvPr id="154" name="Text 54">
            <a:extLst>
              <a:ext uri="{FF2B5EF4-FFF2-40B4-BE49-F238E27FC236}">
                <a16:creationId xmlns:a16="http://schemas.microsoft.com/office/drawing/2014/main" id="{493B32B6-2F66-6147-D924-9C9F4A08E608}"/>
              </a:ext>
            </a:extLst>
          </p:cNvPr>
          <p:cNvSpPr/>
          <p:nvPr/>
        </p:nvSpPr>
        <p:spPr>
          <a:xfrm>
            <a:off x="834628" y="7336750"/>
            <a:ext cx="12961025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При нехватке оригиналов в few-shot подмешивались аугментированные примеры.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97FF695-D0EF-80DC-B9DC-708D25D3B9B8}"/>
              </a:ext>
            </a:extLst>
          </p:cNvPr>
          <p:cNvSpPr/>
          <p:nvPr/>
        </p:nvSpPr>
        <p:spPr>
          <a:xfrm>
            <a:off x="706993" y="872133"/>
            <a:ext cx="13059608" cy="631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Результаты prompt-based vs. классические методы</a:t>
            </a:r>
            <a:endParaRPr lang="en-US" sz="39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3D4065D-F453-4D39-0EDB-4699800C2673}"/>
              </a:ext>
            </a:extLst>
          </p:cNvPr>
          <p:cNvSpPr/>
          <p:nvPr/>
        </p:nvSpPr>
        <p:spPr>
          <a:xfrm>
            <a:off x="706993" y="1863209"/>
            <a:ext cx="13216414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Лучший результат среди prompt-based — </a:t>
            </a: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Qwen 32B, K=3: Balanced Accuracy 0.38, Macro F1 0.26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Классические методы устойчиво выигрывают. Vikhr и T-lite деградируют при увеличении числа примеров.</a:t>
            </a:r>
            <a:endParaRPr lang="en-US" sz="1550" dirty="0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ADB7905E-3A24-7B1C-7FA6-618B1508E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662" y="2941913"/>
            <a:ext cx="6354129" cy="4890326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B93F5C57-8A82-B910-490E-84F646691D67}"/>
              </a:ext>
            </a:extLst>
          </p:cNvPr>
          <p:cNvSpPr/>
          <p:nvPr/>
        </p:nvSpPr>
        <p:spPr>
          <a:xfrm>
            <a:off x="6207163" y="3374587"/>
            <a:ext cx="484094" cy="89375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strument Sans" pitchFamily="2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0.52</a:t>
            </a:r>
            <a:endParaRPr lang="en-US" sz="1400" dirty="0">
              <a:latin typeface="Instrument Sans" pitchFamily="2" charset="0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38E5968-A345-0628-99EF-2C99C09F7908}"/>
              </a:ext>
            </a:extLst>
          </p:cNvPr>
          <p:cNvSpPr/>
          <p:nvPr/>
        </p:nvSpPr>
        <p:spPr>
          <a:xfrm>
            <a:off x="4874499" y="3912837"/>
            <a:ext cx="740993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0.38</a:t>
            </a: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9B0F9D6-2DF0-84D7-8248-27271AF5DE1D}"/>
              </a:ext>
            </a:extLst>
          </p:cNvPr>
          <p:cNvSpPr/>
          <p:nvPr/>
        </p:nvSpPr>
        <p:spPr>
          <a:xfrm>
            <a:off x="7569279" y="2856547"/>
            <a:ext cx="304835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Ключевые наблюдения</a:t>
            </a:r>
            <a:endParaRPr lang="en-US" sz="1950" dirty="0"/>
          </a:p>
        </p:txBody>
      </p:sp>
      <p:pic>
        <p:nvPicPr>
          <p:cNvPr id="14" name="Image 1" descr="preencoded.png">
            <a:extLst>
              <a:ext uri="{FF2B5EF4-FFF2-40B4-BE49-F238E27FC236}">
                <a16:creationId xmlns:a16="http://schemas.microsoft.com/office/drawing/2014/main" id="{D995A83D-A178-697E-CA98-9F8346D97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5003" y="3384649"/>
            <a:ext cx="303014" cy="303014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D3886BCE-A5EC-A92E-59AD-4190512ED5F0}"/>
              </a:ext>
            </a:extLst>
          </p:cNvPr>
          <p:cNvSpPr/>
          <p:nvPr/>
        </p:nvSpPr>
        <p:spPr>
          <a:xfrm>
            <a:off x="8225671" y="3374588"/>
            <a:ext cx="5705356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Qwen 32B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лидер среди prompt-based, но отстаёт от rubert-base на </a:t>
            </a: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~14 п.п.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по Balanced Accuracy</a:t>
            </a:r>
            <a:endParaRPr lang="en-US" sz="1550" dirty="0"/>
          </a:p>
        </p:txBody>
      </p:sp>
      <p:pic>
        <p:nvPicPr>
          <p:cNvPr id="16" name="Image 2" descr="preencoded.png">
            <a:extLst>
              <a:ext uri="{FF2B5EF4-FFF2-40B4-BE49-F238E27FC236}">
                <a16:creationId xmlns:a16="http://schemas.microsoft.com/office/drawing/2014/main" id="{117CDB41-1255-0295-478F-9E7DB8C2C1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5003" y="4360485"/>
            <a:ext cx="303014" cy="303014"/>
          </a:xfrm>
          <a:prstGeom prst="rect">
            <a:avLst/>
          </a:prstGeom>
        </p:spPr>
      </p:pic>
      <p:sp>
        <p:nvSpPr>
          <p:cNvPr id="17" name="Text 12">
            <a:extLst>
              <a:ext uri="{FF2B5EF4-FFF2-40B4-BE49-F238E27FC236}">
                <a16:creationId xmlns:a16="http://schemas.microsoft.com/office/drawing/2014/main" id="{FCFEF676-3893-9EA0-3BCA-C70C59A45772}"/>
              </a:ext>
            </a:extLst>
          </p:cNvPr>
          <p:cNvSpPr/>
          <p:nvPr/>
        </p:nvSpPr>
        <p:spPr>
          <a:xfrm>
            <a:off x="8225671" y="4350425"/>
            <a:ext cx="5705356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Vikhr и T-lite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резко деградируют при K≥3 — модели игнорируют метку и генерируют объяснения</a:t>
            </a:r>
            <a:endParaRPr lang="en-US" sz="1550" dirty="0"/>
          </a:p>
        </p:txBody>
      </p:sp>
      <p:pic>
        <p:nvPicPr>
          <p:cNvPr id="18" name="Image 3" descr="preencoded.png">
            <a:extLst>
              <a:ext uri="{FF2B5EF4-FFF2-40B4-BE49-F238E27FC236}">
                <a16:creationId xmlns:a16="http://schemas.microsoft.com/office/drawing/2014/main" id="{F9DF8E98-191F-518A-46B7-51FE69EC4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5003" y="5336322"/>
            <a:ext cx="303014" cy="303014"/>
          </a:xfrm>
          <a:prstGeom prst="rect">
            <a:avLst/>
          </a:prstGeom>
        </p:spPr>
      </p:pic>
      <p:sp>
        <p:nvSpPr>
          <p:cNvPr id="19" name="Text 13">
            <a:extLst>
              <a:ext uri="{FF2B5EF4-FFF2-40B4-BE49-F238E27FC236}">
                <a16:creationId xmlns:a16="http://schemas.microsoft.com/office/drawing/2014/main" id="{6CCB1714-A98B-ABD2-059E-BAA8A436FEB3}"/>
              </a:ext>
            </a:extLst>
          </p:cNvPr>
          <p:cNvSpPr/>
          <p:nvPr/>
        </p:nvSpPr>
        <p:spPr>
          <a:xfrm>
            <a:off x="8225671" y="5326261"/>
            <a:ext cx="5705356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Описания классов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помогают Qwen, но вредят Vikhr (режим 3s-nd хуже 3s)</a:t>
            </a:r>
            <a:endParaRPr lang="en-US" sz="1550" dirty="0"/>
          </a:p>
        </p:txBody>
      </p:sp>
      <p:pic>
        <p:nvPicPr>
          <p:cNvPr id="20" name="Image 4" descr="preencoded.png">
            <a:extLst>
              <a:ext uri="{FF2B5EF4-FFF2-40B4-BE49-F238E27FC236}">
                <a16:creationId xmlns:a16="http://schemas.microsoft.com/office/drawing/2014/main" id="{87AB10F6-4DDB-061A-14AC-31529C1C1D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5003" y="6312158"/>
            <a:ext cx="303014" cy="303014"/>
          </a:xfrm>
          <a:prstGeom prst="rect">
            <a:avLst/>
          </a:prstGeom>
        </p:spPr>
      </p:pic>
      <p:sp>
        <p:nvSpPr>
          <p:cNvPr id="21" name="Text 14">
            <a:extLst>
              <a:ext uri="{FF2B5EF4-FFF2-40B4-BE49-F238E27FC236}">
                <a16:creationId xmlns:a16="http://schemas.microsoft.com/office/drawing/2014/main" id="{2D56AFF5-9976-360D-F967-E2FCD4C0B5B0}"/>
              </a:ext>
            </a:extLst>
          </p:cNvPr>
          <p:cNvSpPr/>
          <p:nvPr/>
        </p:nvSpPr>
        <p:spPr>
          <a:xfrm>
            <a:off x="8225671" y="6302097"/>
            <a:ext cx="5705356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Prompt-based — </a:t>
            </a: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нежизнеспособная замена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дообучению на данном корпусе</a:t>
            </a:r>
            <a:endParaRPr lang="en-US" sz="155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40CF8F2-942B-024D-39AA-293A4E75D16F}"/>
              </a:ext>
            </a:extLst>
          </p:cNvPr>
          <p:cNvSpPr/>
          <p:nvPr/>
        </p:nvSpPr>
        <p:spPr>
          <a:xfrm>
            <a:off x="4683038" y="4479428"/>
            <a:ext cx="629660" cy="184071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0.36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97A2F55A-E7DB-0466-586F-C454D7D8A7B6}"/>
              </a:ext>
            </a:extLst>
          </p:cNvPr>
          <p:cNvSpPr/>
          <p:nvPr/>
        </p:nvSpPr>
        <p:spPr>
          <a:xfrm>
            <a:off x="4683038" y="5052023"/>
            <a:ext cx="629660" cy="184071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0.36</a:t>
            </a:r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9EE57531-9D0D-7C18-8FAE-D122BE259E4C}"/>
              </a:ext>
            </a:extLst>
          </p:cNvPr>
          <p:cNvSpPr/>
          <p:nvPr/>
        </p:nvSpPr>
        <p:spPr>
          <a:xfrm>
            <a:off x="4244839" y="5595132"/>
            <a:ext cx="629660" cy="184071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0.32</a:t>
            </a:r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304F13EC-46B5-C5F6-1D81-FA8BCE973EB6}"/>
              </a:ext>
            </a:extLst>
          </p:cNvPr>
          <p:cNvSpPr/>
          <p:nvPr/>
        </p:nvSpPr>
        <p:spPr>
          <a:xfrm>
            <a:off x="3313384" y="6118026"/>
            <a:ext cx="629660" cy="184071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0.22</a:t>
            </a:r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FC0D863D-08AF-3438-E82D-90113F5954C1}"/>
              </a:ext>
            </a:extLst>
          </p:cNvPr>
          <p:cNvSpPr/>
          <p:nvPr/>
        </p:nvSpPr>
        <p:spPr>
          <a:xfrm>
            <a:off x="2940622" y="6677736"/>
            <a:ext cx="629660" cy="184071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0.18</a:t>
            </a:r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A2137526-E67B-4325-AA21-E4EFD9225E5E}"/>
              </a:ext>
            </a:extLst>
          </p:cNvPr>
          <p:cNvSpPr/>
          <p:nvPr/>
        </p:nvSpPr>
        <p:spPr>
          <a:xfrm>
            <a:off x="2292774" y="7221896"/>
            <a:ext cx="629660" cy="184071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1400" dirty="0">
                <a:latin typeface="Instrument Sans" pitchFamily="2" charset="0"/>
                <a:ea typeface="-apple-system, BlinkMacSystemFont, Segoe UI, Roboto, Helvetica Neue, Arial, sans-serif Medium" pitchFamily="34" charset="-122"/>
              </a:rPr>
              <a:t>0.11</a:t>
            </a:r>
          </a:p>
        </p:txBody>
      </p:sp>
    </p:spTree>
    <p:extLst>
      <p:ext uri="{BB962C8B-B14F-4D97-AF65-F5344CB8AC3E}">
        <p14:creationId xmlns:p14="http://schemas.microsoft.com/office/powerpoint/2010/main" val="32612853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793790" y="704969"/>
            <a:ext cx="681370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Текущий статус и план работ</a:t>
            </a:r>
            <a:endParaRPr lang="en-US" sz="3550" dirty="0"/>
          </a:p>
        </p:txBody>
      </p:sp>
      <p:sp>
        <p:nvSpPr>
          <p:cNvPr id="6" name="Shape 2"/>
          <p:cNvSpPr/>
          <p:nvPr/>
        </p:nvSpPr>
        <p:spPr>
          <a:xfrm>
            <a:off x="663178" y="1489591"/>
            <a:ext cx="6200760" cy="6034921"/>
          </a:xfrm>
          <a:prstGeom prst="roundRect">
            <a:avLst>
              <a:gd name="adj" fmla="val 713"/>
            </a:avLst>
          </a:prstGeom>
          <a:solidFill>
            <a:srgbClr val="3257B8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7" name="Text 3"/>
          <p:cNvSpPr/>
          <p:nvPr/>
        </p:nvSpPr>
        <p:spPr>
          <a:xfrm>
            <a:off x="844629" y="1634728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Выполнено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844628" y="2135862"/>
            <a:ext cx="5318665" cy="4459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050"/>
              </a:lnSpc>
              <a:buSzPct val="100000"/>
            </a:pPr>
            <a:r>
              <a:rPr lang="ru-RU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01</a:t>
            </a:r>
          </a:p>
          <a:p>
            <a:pPr algn="l">
              <a:lnSpc>
                <a:spcPts val="2050"/>
              </a:lnSpc>
              <a:buSzPct val="100000"/>
            </a:pPr>
            <a:endParaRPr lang="ru-RU" sz="1600" dirty="0">
              <a:solidFill>
                <a:schemeClr val="bg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algn="l">
              <a:lnSpc>
                <a:spcPts val="2050"/>
              </a:lnSpc>
              <a:buSzPct val="100000"/>
            </a:pPr>
            <a:r>
              <a:rPr lang="en-US" sz="160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Разведочный</a:t>
            </a:r>
            <a:r>
              <a:rPr lang="en-US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анализ, конвейер очистки, текстовые и семантические метрики, </a:t>
            </a:r>
            <a:r>
              <a:rPr lang="en-US" sz="160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кластеризация</a:t>
            </a:r>
            <a:endParaRPr lang="ru-RU" sz="1600" dirty="0">
              <a:solidFill>
                <a:schemeClr val="bg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algn="l">
              <a:lnSpc>
                <a:spcPts val="2050"/>
              </a:lnSpc>
              <a:buSzPct val="100000"/>
            </a:pPr>
            <a:endParaRPr lang="ru-RU" sz="1600" dirty="0">
              <a:solidFill>
                <a:schemeClr val="bg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algn="l">
              <a:lnSpc>
                <a:spcPts val="2050"/>
              </a:lnSpc>
              <a:buSzPct val="100000"/>
            </a:pPr>
            <a:r>
              <a:rPr lang="ru-RU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02</a:t>
            </a:r>
          </a:p>
          <a:p>
            <a:pPr algn="l">
              <a:lnSpc>
                <a:spcPts val="2050"/>
              </a:lnSpc>
              <a:buSzPct val="100000"/>
            </a:pPr>
            <a:endParaRPr lang="en-US" sz="1600" dirty="0">
              <a:solidFill>
                <a:schemeClr val="bg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algn="l">
              <a:lnSpc>
                <a:spcPts val="2050"/>
              </a:lnSpc>
              <a:buSzPct val="100000"/>
            </a:pPr>
            <a:r>
              <a:rPr lang="en-US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Трёхэтапный пайплайн аугментации с системой валидации — результаты на 5 </a:t>
            </a:r>
            <a:r>
              <a:rPr lang="en-US" sz="160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моделях</a:t>
            </a:r>
            <a:endParaRPr lang="ru-RU" sz="1600" dirty="0">
              <a:solidFill>
                <a:schemeClr val="bg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algn="l">
              <a:lnSpc>
                <a:spcPts val="2050"/>
              </a:lnSpc>
              <a:buSzPct val="100000"/>
            </a:pPr>
            <a:endParaRPr lang="ru-RU" sz="1600" dirty="0">
              <a:solidFill>
                <a:schemeClr val="bg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algn="l">
              <a:lnSpc>
                <a:spcPts val="2050"/>
              </a:lnSpc>
              <a:buSzPct val="100000"/>
            </a:pPr>
            <a:r>
              <a:rPr lang="ru-RU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03</a:t>
            </a:r>
          </a:p>
          <a:p>
            <a:pPr algn="l">
              <a:lnSpc>
                <a:spcPts val="2050"/>
              </a:lnSpc>
              <a:buSzPct val="100000"/>
            </a:pPr>
            <a:endParaRPr lang="en-US" sz="1600" dirty="0">
              <a:solidFill>
                <a:schemeClr val="bg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algn="l">
              <a:lnSpc>
                <a:spcPts val="2050"/>
              </a:lnSpc>
              <a:buSzPct val="100000"/>
            </a:pPr>
            <a:r>
              <a:rPr lang="en-US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Prompt-based классификация: матрица 5 моделей × </a:t>
            </a:r>
            <a:r>
              <a:rPr lang="ru-RU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r>
              <a:rPr lang="en-US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режим</a:t>
            </a:r>
            <a:r>
              <a:rPr lang="ru-RU" sz="1600" dirty="0" err="1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ов</a:t>
            </a:r>
            <a:endParaRPr lang="en-US" sz="1600" dirty="0">
              <a:solidFill>
                <a:schemeClr val="bg1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</p:txBody>
      </p:sp>
      <p:sp>
        <p:nvSpPr>
          <p:cNvPr id="9" name="Text 5"/>
          <p:cNvSpPr/>
          <p:nvPr/>
        </p:nvSpPr>
        <p:spPr>
          <a:xfrm>
            <a:off x="7607499" y="1559409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Осталось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7607499" y="2006132"/>
            <a:ext cx="36290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04</a:t>
            </a:r>
            <a:endParaRPr lang="en-US" sz="16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499" y="2291643"/>
            <a:ext cx="3556873" cy="228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607499" y="2428089"/>
            <a:ext cx="6359723" cy="52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Дообучение LLM методами </a:t>
            </a:r>
            <a:r>
              <a:rPr lang="en-US" sz="16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LoRA / </a:t>
            </a:r>
            <a:r>
              <a:rPr lang="en-US" sz="1600" b="1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QLoRA</a:t>
            </a:r>
            <a:r>
              <a:rPr lang="ru-RU" sz="16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/</a:t>
            </a:r>
            <a:r>
              <a:rPr lang="en-US" sz="1600" b="1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ADALora</a:t>
            </a:r>
            <a:r>
              <a:rPr lang="en-US" sz="16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/</a:t>
            </a:r>
            <a:r>
              <a:rPr lang="en-US" sz="1600" b="1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TinyLora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на аугментированных данных</a:t>
            </a:r>
            <a:endParaRPr lang="en-US" sz="16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499" y="3499175"/>
            <a:ext cx="3556873" cy="228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607499" y="3653719"/>
            <a:ext cx="5348480" cy="52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50"/>
              </a:lnSpc>
            </a:pP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Сравнение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fine-tuned моделей с prompt-based baseline</a:t>
            </a:r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499" y="4706707"/>
            <a:ext cx="3556873" cy="2286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607499" y="4879348"/>
            <a:ext cx="4244075" cy="78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2050"/>
              </a:lnSpc>
              <a:buNone/>
            </a:pP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Финальные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метрики </a:t>
            </a: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на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открытых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данных</a:t>
            </a:r>
            <a:endParaRPr lang="en-US" sz="1600" dirty="0">
              <a:solidFill>
                <a:srgbClr val="15213F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</TotalTime>
  <Words>1013</Words>
  <Application>Microsoft Macintosh PowerPoint</Application>
  <PresentationFormat>Произвольный</PresentationFormat>
  <Paragraphs>214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20" baseType="lpstr">
      <vt:lpstr>Roboto Slab</vt:lpstr>
      <vt:lpstr>Roboto Slab Light</vt:lpstr>
      <vt:lpstr>-apple-system, BlinkMacSystemFont, Segoe UI, Roboto, Helvetica Neue, Arial, sans-serif Medium</vt:lpstr>
      <vt:lpstr>Candara</vt:lpstr>
      <vt:lpstr>Arial</vt:lpstr>
      <vt:lpstr>Roboto</vt:lpstr>
      <vt:lpstr>Consolas</vt:lpstr>
      <vt:lpstr>Instrument Sans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Константин Тураносов</cp:lastModifiedBy>
  <cp:revision>5</cp:revision>
  <dcterms:created xsi:type="dcterms:W3CDTF">2026-04-13T10:36:46Z</dcterms:created>
  <dcterms:modified xsi:type="dcterms:W3CDTF">2026-04-13T19:16:18Z</dcterms:modified>
</cp:coreProperties>
</file>