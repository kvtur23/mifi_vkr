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5" r:id="rId13"/>
  </p:sldIdLst>
  <p:sldSz cx="14630400" cy="8229600"/>
  <p:notesSz cx="8229600" cy="14630400"/>
  <p:embeddedFontLst>
    <p:embeddedFont>
      <p:font typeface="Candara" panose="020E050203030302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Instrument Sans" pitchFamily="2" charset="0"/>
      <p:regular r:id="rId23"/>
      <p:bold r:id="rId24"/>
      <p: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  <p:embeddedFont>
      <p:font typeface="Roboto Slab" pitchFamily="2" charset="0"/>
      <p:regular r:id="rId30"/>
      <p:bold r:id="rId3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98DD"/>
    <a:srgbClr val="D4E5F0"/>
    <a:srgbClr val="20429F"/>
    <a:srgbClr val="E98381"/>
    <a:srgbClr val="4168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/>
    <p:restoredTop sz="94610"/>
  </p:normalViewPr>
  <p:slideViewPr>
    <p:cSldViewPr snapToGrid="0" snapToObjects="1">
      <p:cViewPr>
        <p:scale>
          <a:sx n="122" d="100"/>
          <a:sy n="122" d="100"/>
        </p:scale>
        <p:origin x="20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539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44584" y="2441615"/>
            <a:ext cx="4141232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380673" y="2509599"/>
            <a:ext cx="386905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ВЫПУСКНАЯ КВАЛИФИКАЦИОННАЯ РАБОТА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958584"/>
            <a:ext cx="130428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Методы классификации текстовых документов на основе дообучения большой языковой модели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54250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Научный руководитель: _____ · Исполнитель: _____ · 2025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76751"/>
            <a:ext cx="713779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Актуальность и цель работы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280190" y="168878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Проблема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280190" y="2153841"/>
            <a:ext cx="3543062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Крупные компании ежедневно получают тысячи писем. Ручная маршрутизация по подразделениям — трудоёмка, приводит к потерям корреспонденции и задержкам.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280190" y="3744039"/>
            <a:ext cx="3543062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Почему не классические методы NLP?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280190" y="4510326"/>
            <a:ext cx="3543062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 учитывают контекст, требуют больших объёмов размеченных данных для достижения приемлемого качества.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301168" y="1688783"/>
            <a:ext cx="299311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Почему LLM fine-tuning?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0301168" y="2153841"/>
            <a:ext cx="3543062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Предобученное языковое понимание обеспечивает высокое качество при значительно меньшем объёме размеченных данных.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301168" y="345876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Специфика задачи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0301168" y="3923824"/>
            <a:ext cx="3543062" cy="1711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Русский язык морфологически богаче английского и недостаточно представлен в обучающих данных большинства LLM. Данные — реальная нефтедобывающая компания.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301168" y="582841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Цель работы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10301168" y="6264354"/>
            <a:ext cx="3543062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Сравнительный анализ и апробация методов дообучения LLM для автоматической классификации входящей корреспонденции.</a:t>
            </a:r>
            <a:endParaRPr lang="en-US" sz="15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2B994BB4-FC24-F7EF-3C83-C4B9BBA6423E}"/>
              </a:ext>
            </a:extLst>
          </p:cNvPr>
          <p:cNvSpPr/>
          <p:nvPr/>
        </p:nvSpPr>
        <p:spPr>
          <a:xfrm>
            <a:off x="6280190" y="5799298"/>
            <a:ext cx="3543062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Почему </a:t>
            </a:r>
            <a:r>
              <a:rPr lang="en-US" sz="18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не</a:t>
            </a: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ru-RU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трансформер-модели типа </a:t>
            </a: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BERT?</a:t>
            </a:r>
            <a:endParaRPr lang="en-US" sz="1850" dirty="0"/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09D5BE3F-2463-5F17-F5FB-03F7F0F85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300" y="6534090"/>
            <a:ext cx="31482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Модели на основе BERT хорошо учитывают контекст, но чувствительны к дисбалансу классов.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09A4F964-D1BB-AACA-7295-6B3363B89660}"/>
              </a:ext>
            </a:extLst>
          </p:cNvPr>
          <p:cNvSpPr/>
          <p:nvPr/>
        </p:nvSpPr>
        <p:spPr>
          <a:xfrm>
            <a:off x="1079183" y="540425"/>
            <a:ext cx="8401288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Исходный </a:t>
            </a:r>
            <a:r>
              <a:rPr lang="en-US" sz="35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корпус</a:t>
            </a: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35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данных</a:t>
            </a:r>
            <a:endParaRPr lang="en-US" sz="355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812E55CA-A358-89D2-3122-72A02DAA916B}"/>
              </a:ext>
            </a:extLst>
          </p:cNvPr>
          <p:cNvSpPr/>
          <p:nvPr/>
        </p:nvSpPr>
        <p:spPr>
          <a:xfrm>
            <a:off x="1079183" y="1450657"/>
            <a:ext cx="4465796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Корпус: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1 774 письма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36 блоков компании. </a:t>
            </a:r>
            <a:endParaRPr lang="en-US" sz="14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BDA6E7B7-BB6E-B2DA-714C-88F22C1AC8ED}"/>
              </a:ext>
            </a:extLst>
          </p:cNvPr>
          <p:cNvSpPr/>
          <p:nvPr/>
        </p:nvSpPr>
        <p:spPr>
          <a:xfrm>
            <a:off x="1079183" y="1839992"/>
            <a:ext cx="4465796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Персональные данные заменены плейсхолдерами — имена, организации, даты.</a:t>
            </a:r>
            <a:endParaRPr lang="en-US" sz="14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15D3684D-71C0-CEAC-F7B5-03533097C6C1}"/>
              </a:ext>
            </a:extLst>
          </p:cNvPr>
          <p:cNvSpPr/>
          <p:nvPr/>
        </p:nvSpPr>
        <p:spPr>
          <a:xfrm>
            <a:off x="1079183" y="2503527"/>
            <a:ext cx="2750225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Выявленные проблемы</a:t>
            </a:r>
            <a:endParaRPr lang="en-US" sz="1750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DC99010A-493C-1A43-826B-6214590BB863}"/>
              </a:ext>
            </a:extLst>
          </p:cNvPr>
          <p:cNvSpPr/>
          <p:nvPr/>
        </p:nvSpPr>
        <p:spPr>
          <a:xfrm>
            <a:off x="1079183" y="2947868"/>
            <a:ext cx="4465796" cy="1353145"/>
          </a:xfrm>
          <a:prstGeom prst="roundRect">
            <a:avLst>
              <a:gd name="adj" fmla="val 8109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97E56537-4D1C-994A-137C-5D0BD9B75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23" y="2947868"/>
            <a:ext cx="91440" cy="1353145"/>
          </a:xfrm>
          <a:prstGeom prst="rect">
            <a:avLst/>
          </a:prstGeom>
        </p:spPr>
      </p:pic>
      <p:sp>
        <p:nvSpPr>
          <p:cNvPr id="22" name="Text 5">
            <a:extLst>
              <a:ext uri="{FF2B5EF4-FFF2-40B4-BE49-F238E27FC236}">
                <a16:creationId xmlns:a16="http://schemas.microsoft.com/office/drawing/2014/main" id="{4DDD3724-8661-A2B6-D930-E5BE86B4C29F}"/>
              </a:ext>
            </a:extLst>
          </p:cNvPr>
          <p:cNvSpPr/>
          <p:nvPr/>
        </p:nvSpPr>
        <p:spPr>
          <a:xfrm>
            <a:off x="1351359" y="3151465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 дубликатов</a:t>
            </a:r>
            <a:endParaRPr lang="en-US" sz="175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03569F4C-1D68-638F-CD6E-92CE791D3A51}"/>
              </a:ext>
            </a:extLst>
          </p:cNvPr>
          <p:cNvSpPr/>
          <p:nvPr/>
        </p:nvSpPr>
        <p:spPr>
          <a:xfrm>
            <a:off x="1351359" y="3577828"/>
            <a:ext cx="399002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полных + 1 пересекающийся между двумя блоками</a:t>
            </a:r>
            <a:endParaRPr lang="en-US" sz="140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CAD36D80-B216-F2B2-F3BD-C48FE263A3D0}"/>
              </a:ext>
            </a:extLst>
          </p:cNvPr>
          <p:cNvSpPr/>
          <p:nvPr/>
        </p:nvSpPr>
        <p:spPr>
          <a:xfrm>
            <a:off x="1079183" y="4444960"/>
            <a:ext cx="4465796" cy="1353145"/>
          </a:xfrm>
          <a:prstGeom prst="roundRect">
            <a:avLst>
              <a:gd name="adj" fmla="val 8109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D23EDAB2-93EB-34C1-2D79-57F68E9CB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23" y="4444960"/>
            <a:ext cx="91440" cy="1353145"/>
          </a:xfrm>
          <a:prstGeom prst="rect">
            <a:avLst/>
          </a:prstGeom>
        </p:spPr>
      </p:pic>
      <p:sp>
        <p:nvSpPr>
          <p:cNvPr id="26" name="Text 8">
            <a:extLst>
              <a:ext uri="{FF2B5EF4-FFF2-40B4-BE49-F238E27FC236}">
                <a16:creationId xmlns:a16="http://schemas.microsoft.com/office/drawing/2014/main" id="{CE21F5A8-D8C3-44FB-FDD8-FB04B7CB87E5}"/>
              </a:ext>
            </a:extLst>
          </p:cNvPr>
          <p:cNvSpPr/>
          <p:nvPr/>
        </p:nvSpPr>
        <p:spPr>
          <a:xfrm>
            <a:off x="1351359" y="4648557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19 аномалий</a:t>
            </a:r>
            <a:endParaRPr lang="en-US" sz="175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80D67959-1FA8-2B60-BBF1-C5CB5695ED62}"/>
              </a:ext>
            </a:extLst>
          </p:cNvPr>
          <p:cNvSpPr/>
          <p:nvPr/>
        </p:nvSpPr>
        <p:spPr>
          <a:xfrm>
            <a:off x="1351359" y="5074920"/>
            <a:ext cx="399002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Тысячи слов, менее 50 уникальных — циклические повторения фраз</a:t>
            </a:r>
            <a:endParaRPr lang="en-US" sz="140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07590D2B-7082-9E28-7849-4001F0EC3298}"/>
              </a:ext>
            </a:extLst>
          </p:cNvPr>
          <p:cNvSpPr/>
          <p:nvPr/>
        </p:nvSpPr>
        <p:spPr>
          <a:xfrm>
            <a:off x="8523306" y="1934317"/>
            <a:ext cx="3462457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Дисбаланс классов по блокам</a:t>
            </a:r>
            <a:endParaRPr lang="en-US" sz="175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3A683FAE-664F-EE79-0FDF-73A121A1756D}"/>
              </a:ext>
            </a:extLst>
          </p:cNvPr>
          <p:cNvSpPr/>
          <p:nvPr/>
        </p:nvSpPr>
        <p:spPr>
          <a:xfrm>
            <a:off x="10797774" y="2945665"/>
            <a:ext cx="9346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</a:t>
            </a:r>
            <a:endParaRPr lang="en-US" sz="65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46A4C2D9-D9A9-A6FE-08D7-0C5A282D1268}"/>
              </a:ext>
            </a:extLst>
          </p:cNvPr>
          <p:cNvSpPr/>
          <p:nvPr/>
        </p:nvSpPr>
        <p:spPr>
          <a:xfrm>
            <a:off x="10797774" y="3832633"/>
            <a:ext cx="9346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</a:t>
            </a:r>
            <a:endParaRPr lang="en-US" sz="65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0B1CEC40-51CA-4AE1-8221-14833EB53437}"/>
              </a:ext>
            </a:extLst>
          </p:cNvPr>
          <p:cNvSpPr/>
          <p:nvPr/>
        </p:nvSpPr>
        <p:spPr>
          <a:xfrm>
            <a:off x="12135846" y="4719601"/>
            <a:ext cx="9346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</a:t>
            </a:r>
            <a:endParaRPr lang="en-US" sz="65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DD19A796-E6A7-844E-C988-431F9B876953}"/>
              </a:ext>
            </a:extLst>
          </p:cNvPr>
          <p:cNvSpPr/>
          <p:nvPr/>
        </p:nvSpPr>
        <p:spPr>
          <a:xfrm>
            <a:off x="10797774" y="5606569"/>
            <a:ext cx="9346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</a:t>
            </a:r>
            <a:endParaRPr lang="en-US" sz="650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032D4F9F-6AA0-7CF1-DD1C-0DDD64827872}"/>
              </a:ext>
            </a:extLst>
          </p:cNvPr>
          <p:cNvSpPr/>
          <p:nvPr/>
        </p:nvSpPr>
        <p:spPr>
          <a:xfrm>
            <a:off x="6565583" y="6494978"/>
            <a:ext cx="2268498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750" dirty="0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BC49932F-FCFD-D655-2F86-CCBEF6BBB20C}"/>
              </a:ext>
            </a:extLst>
          </p:cNvPr>
          <p:cNvSpPr/>
          <p:nvPr/>
        </p:nvSpPr>
        <p:spPr>
          <a:xfrm>
            <a:off x="1124903" y="5954050"/>
            <a:ext cx="4465796" cy="1353145"/>
          </a:xfrm>
          <a:prstGeom prst="roundRect">
            <a:avLst>
              <a:gd name="adj" fmla="val 8109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ECB6A212-B300-E169-18B2-5FA7323E1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23" y="5954049"/>
            <a:ext cx="91440" cy="1353145"/>
          </a:xfrm>
          <a:prstGeom prst="rect">
            <a:avLst/>
          </a:prstGeom>
        </p:spPr>
      </p:pic>
      <p:sp>
        <p:nvSpPr>
          <p:cNvPr id="7" name="Text 16">
            <a:extLst>
              <a:ext uri="{FF2B5EF4-FFF2-40B4-BE49-F238E27FC236}">
                <a16:creationId xmlns:a16="http://schemas.microsoft.com/office/drawing/2014/main" id="{10FFE2A7-1399-4B0B-C3D6-91642E77E011}"/>
              </a:ext>
            </a:extLst>
          </p:cNvPr>
          <p:cNvSpPr/>
          <p:nvPr/>
        </p:nvSpPr>
        <p:spPr>
          <a:xfrm>
            <a:off x="1293148" y="6087970"/>
            <a:ext cx="4366131" cy="108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 </a:t>
            </a:r>
            <a:r>
              <a:rPr lang="en-US" sz="1750" dirty="0" err="1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блоков</a:t>
            </a: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endParaRPr lang="ru-RU" sz="175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содержат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менее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10 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примеров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Крупнейший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блок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249 </a:t>
            </a:r>
            <a:r>
              <a:rPr lang="en-US" sz="14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писем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ru-RU" sz="14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Минимум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</a:t>
            </a:r>
            <a:r>
              <a:rPr lang="en-US" sz="14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письма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D2CA7F-ADB7-66D1-10D2-AD4E7BBFE4D6}"/>
              </a:ext>
            </a:extLst>
          </p:cNvPr>
          <p:cNvSpPr txBox="1"/>
          <p:nvPr/>
        </p:nvSpPr>
        <p:spPr>
          <a:xfrm>
            <a:off x="10709693" y="327105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Candara" panose="020E0502030303020204" pitchFamily="34" charset="0"/>
              </a:rPr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2E438A-5342-AB26-7CF4-98AC82DAA7CE}"/>
              </a:ext>
            </a:extLst>
          </p:cNvPr>
          <p:cNvSpPr txBox="1"/>
          <p:nvPr/>
        </p:nvSpPr>
        <p:spPr>
          <a:xfrm>
            <a:off x="10738996" y="3857578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Candara" panose="020E0502030303020204" pitchFamily="34" charset="0"/>
              </a:rPr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717BCF-AAD3-D205-9325-DB24BD2F0C73}"/>
              </a:ext>
            </a:extLst>
          </p:cNvPr>
          <p:cNvSpPr txBox="1"/>
          <p:nvPr/>
        </p:nvSpPr>
        <p:spPr>
          <a:xfrm>
            <a:off x="11851298" y="448311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Candara" panose="020E0502030303020204" pitchFamily="34" charset="0"/>
              </a:rPr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4B729B-C2D9-6155-EE66-D348D0387583}"/>
              </a:ext>
            </a:extLst>
          </p:cNvPr>
          <p:cNvSpPr txBox="1"/>
          <p:nvPr/>
        </p:nvSpPr>
        <p:spPr>
          <a:xfrm>
            <a:off x="10756425" y="5115287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Candara" panose="020E0502030303020204" pitchFamily="34" charset="0"/>
              </a:rPr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0314DE-BC45-5982-44B6-E2ACC0C9472A}"/>
              </a:ext>
            </a:extLst>
          </p:cNvPr>
          <p:cNvSpPr txBox="1"/>
          <p:nvPr/>
        </p:nvSpPr>
        <p:spPr>
          <a:xfrm>
            <a:off x="12920623" y="5720410"/>
            <a:ext cx="32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Candara" panose="020E0502030303020204" pitchFamily="34" charset="0"/>
              </a:rPr>
              <a:t>10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16462D4-6A52-40A7-A0AC-9939E5404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583" y="2558868"/>
            <a:ext cx="7649194" cy="393611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9E7C329-D3AB-4FF6-B6E4-99F03F306C20}"/>
              </a:ext>
            </a:extLst>
          </p:cNvPr>
          <p:cNvSpPr txBox="1"/>
          <p:nvPr/>
        </p:nvSpPr>
        <p:spPr>
          <a:xfrm>
            <a:off x="13082687" y="3191442"/>
            <a:ext cx="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"/>
              </a:rPr>
              <a:t>6 </a:t>
            </a:r>
            <a:r>
              <a:rPr lang="ru-RU" sz="1200" dirty="0">
                <a:solidFill>
                  <a:schemeClr val="bg1"/>
                </a:solidFill>
                <a:latin typeface=""/>
              </a:rPr>
              <a:t>блоков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48EB31-09DA-4628-8BE3-0B9C748E85C3}"/>
              </a:ext>
            </a:extLst>
          </p:cNvPr>
          <p:cNvSpPr txBox="1"/>
          <p:nvPr/>
        </p:nvSpPr>
        <p:spPr>
          <a:xfrm>
            <a:off x="11734527" y="3601800"/>
            <a:ext cx="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"/>
              </a:rPr>
              <a:t>6 </a:t>
            </a:r>
            <a:r>
              <a:rPr lang="ru-RU" sz="1200" dirty="0">
                <a:solidFill>
                  <a:schemeClr val="bg1"/>
                </a:solidFill>
                <a:latin typeface=""/>
              </a:rPr>
              <a:t>блоков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2A27F0-FAFC-424C-8E58-7EC6D5D77D8C}"/>
              </a:ext>
            </a:extLst>
          </p:cNvPr>
          <p:cNvSpPr txBox="1"/>
          <p:nvPr/>
        </p:nvSpPr>
        <p:spPr>
          <a:xfrm>
            <a:off x="10356893" y="4818848"/>
            <a:ext cx="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  <a:latin typeface=""/>
              </a:rPr>
              <a:t>8</a:t>
            </a:r>
            <a:r>
              <a:rPr lang="en-US" sz="1200" dirty="0">
                <a:solidFill>
                  <a:schemeClr val="bg1"/>
                </a:solidFill>
                <a:latin typeface=""/>
              </a:rPr>
              <a:t> </a:t>
            </a:r>
            <a:r>
              <a:rPr lang="ru-RU" sz="1200" dirty="0">
                <a:solidFill>
                  <a:schemeClr val="bg1"/>
                </a:solidFill>
                <a:latin typeface=""/>
              </a:rPr>
              <a:t>блоков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63A2A8-6C82-4A9E-B2CC-90EEAE19DEFD}"/>
              </a:ext>
            </a:extLst>
          </p:cNvPr>
          <p:cNvSpPr txBox="1"/>
          <p:nvPr/>
        </p:nvSpPr>
        <p:spPr>
          <a:xfrm>
            <a:off x="8958219" y="5368283"/>
            <a:ext cx="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"/>
              </a:rPr>
              <a:t>6 </a:t>
            </a:r>
            <a:r>
              <a:rPr lang="ru-RU" sz="1200" dirty="0">
                <a:latin typeface=""/>
              </a:rPr>
              <a:t>блоков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B4444D-5725-4263-A8C9-47242CD74626}"/>
              </a:ext>
            </a:extLst>
          </p:cNvPr>
          <p:cNvSpPr txBox="1"/>
          <p:nvPr/>
        </p:nvSpPr>
        <p:spPr>
          <a:xfrm>
            <a:off x="7590727" y="5547390"/>
            <a:ext cx="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latin typeface=""/>
              </a:rPr>
              <a:t>10</a:t>
            </a:r>
            <a:r>
              <a:rPr lang="en-US" sz="1200" dirty="0">
                <a:latin typeface=""/>
              </a:rPr>
              <a:t> </a:t>
            </a:r>
            <a:r>
              <a:rPr lang="ru-RU" sz="1200" dirty="0">
                <a:latin typeface=""/>
              </a:rPr>
              <a:t>блоков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900286" y="360000"/>
            <a:ext cx="12830000" cy="585337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r>
              <a:rPr lang="ru-RU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Очистка данных</a:t>
            </a:r>
            <a:endParaRPr lang="en-US" sz="3600" dirty="0"/>
          </a:p>
          <a:p>
            <a:pPr marL="0" indent="0" algn="l">
              <a:buNone/>
            </a:pPr>
            <a:endParaRPr lang="ru-RU" sz="3550" dirty="0">
              <a:solidFill>
                <a:srgbClr val="3257B8"/>
              </a:solidFill>
              <a:latin typeface="Roboto Slab"/>
            </a:endParaRPr>
          </a:p>
        </p:txBody>
      </p:sp>
      <p:sp>
        <p:nvSpPr>
          <p:cNvPr id="110" name="Card1"/>
          <p:cNvSpPr/>
          <p:nvPr/>
        </p:nvSpPr>
        <p:spPr>
          <a:xfrm>
            <a:off x="900114" y="5300400"/>
            <a:ext cx="4100000" cy="19000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0F0"/>
            </a:solidFill>
          </a:ln>
        </p:spPr>
        <p:txBody>
          <a:bodyPr wrap="square" lIns="200000" tIns="200000" rIns="200000" bIns="200000" anchor="t"/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3257B8"/>
                </a:solidFill>
                <a:latin typeface="Roboto"/>
              </a:rPr>
              <a:t>МЕДИАНА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ru-RU" sz="3600" b="1" dirty="0">
                <a:solidFill>
                  <a:srgbClr val="1A1A1A"/>
                </a:solidFill>
                <a:latin typeface="Roboto Slab"/>
              </a:rPr>
              <a:t>152 </a:t>
            </a:r>
            <a:r>
              <a:rPr lang="ru-RU" sz="3600" b="1" dirty="0">
                <a:solidFill>
                  <a:srgbClr val="3257B8"/>
                </a:solidFill>
                <a:latin typeface="Roboto Slab"/>
              </a:rPr>
              <a:t>→ 150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ru-RU" sz="1500" dirty="0">
                <a:solidFill>
                  <a:srgbClr val="4A4A4A"/>
                </a:solidFill>
                <a:latin typeface="Roboto"/>
              </a:rPr>
              <a:t>Типичная длина письма сохранена — информативные тексты не пострадали</a:t>
            </a:r>
          </a:p>
        </p:txBody>
      </p:sp>
      <p:sp>
        <p:nvSpPr>
          <p:cNvPr id="111" name="Card2"/>
          <p:cNvSpPr/>
          <p:nvPr/>
        </p:nvSpPr>
        <p:spPr>
          <a:xfrm>
            <a:off x="5265028" y="5300400"/>
            <a:ext cx="4100000" cy="1900000"/>
          </a:xfrm>
          <a:prstGeom prst="roundRect">
            <a:avLst>
              <a:gd name="adj" fmla="val 8000"/>
            </a:avLst>
          </a:prstGeom>
          <a:solidFill>
            <a:srgbClr val="3257B8"/>
          </a:solidFill>
          <a:ln>
            <a:noFill/>
          </a:ln>
        </p:spPr>
        <p:txBody>
          <a:bodyPr wrap="square" lIns="200000" tIns="200000" rIns="200000" bIns="200000" anchor="t"/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C9D6F0"/>
                </a:solidFill>
                <a:latin typeface="Roboto"/>
              </a:rPr>
              <a:t>МАКСИМУМ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ru-RU" sz="3600" b="1" dirty="0">
                <a:solidFill>
                  <a:srgbClr val="FFFFFF"/>
                </a:solidFill>
                <a:latin typeface="Roboto Slab"/>
              </a:rPr>
              <a:t>7500 </a:t>
            </a:r>
            <a:r>
              <a:rPr lang="ru-RU" sz="3600" b="1" dirty="0">
                <a:solidFill>
                  <a:srgbClr val="FFE29A"/>
                </a:solidFill>
                <a:latin typeface="Roboto Slab"/>
              </a:rPr>
              <a:t>→ 1500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ru-RU" sz="1500" dirty="0">
                <a:solidFill>
                  <a:srgbClr val="E7EDFA"/>
                </a:solidFill>
                <a:latin typeface="Roboto"/>
              </a:rPr>
              <a:t>Максимальная длина сокращена в 5 раз — аномалии убраны</a:t>
            </a:r>
          </a:p>
        </p:txBody>
      </p:sp>
      <p:sp>
        <p:nvSpPr>
          <p:cNvPr id="112" name="Card3"/>
          <p:cNvSpPr/>
          <p:nvPr/>
        </p:nvSpPr>
        <p:spPr>
          <a:xfrm>
            <a:off x="9629942" y="5300400"/>
            <a:ext cx="4100000" cy="19000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0F0"/>
            </a:solidFill>
          </a:ln>
        </p:spPr>
        <p:txBody>
          <a:bodyPr wrap="square" lIns="200000" tIns="200000" rIns="200000" bIns="200000" anchor="t"/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3257B8"/>
                </a:solidFill>
                <a:latin typeface="Roboto"/>
              </a:rPr>
              <a:t>СРЕДНЕЕ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ru-RU" sz="3600" b="1" dirty="0">
                <a:solidFill>
                  <a:srgbClr val="1A1A1A"/>
                </a:solidFill>
                <a:latin typeface="Roboto Slab"/>
              </a:rPr>
              <a:t>274 </a:t>
            </a:r>
            <a:r>
              <a:rPr lang="ru-RU" sz="3600" b="1" dirty="0">
                <a:solidFill>
                  <a:srgbClr val="3257B8"/>
                </a:solidFill>
                <a:latin typeface="Roboto Slab"/>
              </a:rPr>
              <a:t>→ 195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ru-RU" sz="1500" dirty="0">
                <a:solidFill>
                  <a:srgbClr val="4A4A4A"/>
                </a:solidFill>
                <a:latin typeface="Roboto"/>
              </a:rPr>
              <a:t>Среднее приблизилось к медиане — распределение стало более симметричным</a:t>
            </a:r>
          </a:p>
        </p:txBody>
      </p:sp>
      <p:pic>
        <p:nvPicPr>
          <p:cNvPr id="7" name="Рисунок 6" descr="Изображение выглядит как текст, График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74D6E1-9CB2-E84E-9037-D82A1F958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723" y="1395733"/>
            <a:ext cx="6561675" cy="375953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линия, График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60AE4B2-487E-9A15-F0BE-F95E0A5BC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14" y="1395733"/>
            <a:ext cx="6561675" cy="3759536"/>
          </a:xfrm>
          <a:prstGeom prst="rect">
            <a:avLst/>
          </a:prstGeom>
        </p:spPr>
      </p:pic>
      <p:sp>
        <p:nvSpPr>
          <p:cNvPr id="10" name="Text 18">
            <a:extLst>
              <a:ext uri="{FF2B5EF4-FFF2-40B4-BE49-F238E27FC236}">
                <a16:creationId xmlns:a16="http://schemas.microsoft.com/office/drawing/2014/main" id="{089FB265-49ED-B153-9FF1-FFBE498942B7}"/>
              </a:ext>
            </a:extLst>
          </p:cNvPr>
          <p:cNvSpPr/>
          <p:nvPr/>
        </p:nvSpPr>
        <p:spPr>
          <a:xfrm>
            <a:off x="900115" y="945337"/>
            <a:ext cx="894807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Конвеер</a:t>
            </a:r>
            <a:r>
              <a:rPr lang="ru-RU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clean_text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() </a:t>
            </a:r>
            <a:r>
              <a:rPr lang="ru-RU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даляет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повторы слов, фраз, </a:t>
            </a:r>
            <a:r>
              <a:rPr lang="ru-RU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предложений, 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цепочки</a:t>
            </a:r>
            <a:r>
              <a:rPr lang="ru-RU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вида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«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слово-число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»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0974" y="366371"/>
            <a:ext cx="10826948" cy="488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Семантический </a:t>
            </a:r>
            <a:r>
              <a:rPr lang="en-US" sz="30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анализ</a:t>
            </a:r>
            <a:endParaRPr lang="en-US" sz="3050" dirty="0"/>
          </a:p>
        </p:txBody>
      </p:sp>
      <p:sp>
        <p:nvSpPr>
          <p:cNvPr id="6" name="Shape 3"/>
          <p:cNvSpPr/>
          <p:nvPr/>
        </p:nvSpPr>
        <p:spPr>
          <a:xfrm>
            <a:off x="435455" y="949287"/>
            <a:ext cx="14021586" cy="798594"/>
          </a:xfrm>
          <a:prstGeom prst="roundRect">
            <a:avLst>
              <a:gd name="adj" fmla="val 6911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4"/>
          <p:cNvSpPr/>
          <p:nvPr/>
        </p:nvSpPr>
        <p:spPr>
          <a:xfrm>
            <a:off x="648815" y="1066485"/>
            <a:ext cx="10252711" cy="245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ru-RU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01. </a:t>
            </a:r>
            <a:r>
              <a:rPr lang="en-US" sz="1500" dirty="0" err="1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Текстовые</a:t>
            </a: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метрики (TTR, RTTR, hapax ratio)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48815" y="1395140"/>
            <a:ext cx="10252711" cy="31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Выделяют лишь крайние группы. ~25 блоков неразличимы — шаблонная деловая лексика выравнивает показатели.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1477210" y="1986861"/>
            <a:ext cx="5892288" cy="1098867"/>
          </a:xfrm>
          <a:prstGeom prst="roundRect">
            <a:avLst>
              <a:gd name="adj" fmla="val 6911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2" name="Text 7"/>
          <p:cNvSpPr/>
          <p:nvPr/>
        </p:nvSpPr>
        <p:spPr>
          <a:xfrm>
            <a:off x="1802965" y="2106021"/>
            <a:ext cx="5103617" cy="48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ru-RU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02. </a:t>
            </a:r>
            <a:r>
              <a:rPr lang="en-US" sz="1500" dirty="0" err="1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Тематическое</a:t>
            </a: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моделирование (LDA, 30 тем)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802965" y="2523247"/>
            <a:ext cx="5341742" cy="48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Темы пересекаются: «договор», «работа», «объект» — во всех классах. Чёткое разграничение невозможно.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115484" y="6055214"/>
            <a:ext cx="6036431" cy="1098867"/>
          </a:xfrm>
          <a:prstGeom prst="roundRect">
            <a:avLst>
              <a:gd name="adj" fmla="val 6911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588" y="5965952"/>
            <a:ext cx="146390" cy="12548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63135" y="6166508"/>
            <a:ext cx="5106985" cy="48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ru-RU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03. </a:t>
            </a:r>
            <a:r>
              <a:rPr lang="en-US" sz="1500" dirty="0" err="1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Кластеризация</a:t>
            </a: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(SBERT → UMAP → HDBSCAN)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7363135" y="6587163"/>
            <a:ext cx="4653195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83,6% писем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(1 468 из 1 755) — единый диффузный кластер. Только 6 малых кластеров имеют выраженную специфику.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622196" y="7478332"/>
            <a:ext cx="6806312" cy="482149"/>
          </a:xfrm>
          <a:prstGeom prst="roundRect">
            <a:avLst>
              <a:gd name="adj" fmla="val 2454"/>
            </a:avLst>
          </a:prstGeom>
          <a:solidFill>
            <a:srgbClr val="D4E5F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524" y="7627878"/>
            <a:ext cx="210993" cy="18407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964910" y="7609018"/>
            <a:ext cx="6120883" cy="20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Вывод: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классы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тематически и </a:t>
            </a:r>
            <a:r>
              <a:rPr lang="en-US" sz="120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семантически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неразделимы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 уровне </a:t>
            </a:r>
            <a:r>
              <a:rPr lang="ru-RU" sz="120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эмбеддингов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</p:txBody>
      </p:sp>
      <p:pic>
        <p:nvPicPr>
          <p:cNvPr id="25" name="Рисунок 24" descr="Изображение выглядит как снимок экрана, диаграмма, текс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9A0171F-A2CE-B915-3FD1-DF348BD6D5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2502" y="1867864"/>
            <a:ext cx="6916006" cy="4014800"/>
          </a:xfrm>
          <a:prstGeom prst="rect">
            <a:avLst/>
          </a:prstGeom>
          <a:ln w="57150">
            <a:solidFill>
              <a:srgbClr val="4168CE"/>
            </a:solidFill>
          </a:ln>
        </p:spPr>
      </p:pic>
      <p:pic>
        <p:nvPicPr>
          <p:cNvPr id="29" name="Рисунок 28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26176D1-A184-BF9B-CCF2-967D0AEAF4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235" y="3862839"/>
            <a:ext cx="6911038" cy="4097642"/>
          </a:xfrm>
          <a:prstGeom prst="rect">
            <a:avLst/>
          </a:prstGeom>
          <a:ln w="57150">
            <a:solidFill>
              <a:srgbClr val="4168CE"/>
            </a:solidFill>
          </a:ln>
        </p:spPr>
      </p:pic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D4CEDB15-CDDB-93A9-FE02-F0B92B4BD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694" y="1897296"/>
            <a:ext cx="172572" cy="1254862"/>
          </a:xfrm>
          <a:prstGeom prst="rect">
            <a:avLst/>
          </a:prstGeom>
        </p:spPr>
      </p:pic>
      <p:pic>
        <p:nvPicPr>
          <p:cNvPr id="31" name="Image 3" descr="preencoded.png">
            <a:extLst>
              <a:ext uri="{FF2B5EF4-FFF2-40B4-BE49-F238E27FC236}">
                <a16:creationId xmlns:a16="http://schemas.microsoft.com/office/drawing/2014/main" id="{29EC9E80-AAC3-9DF7-A81E-12095C01A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5" y="901378"/>
            <a:ext cx="140140" cy="8944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7"/>
          <p:cNvSpPr/>
          <p:nvPr/>
        </p:nvSpPr>
        <p:spPr>
          <a:xfrm>
            <a:off x="793790" y="6186726"/>
            <a:ext cx="351532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Этап 1: LLM-генерация (&lt;15 примеров)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3790" y="6512838"/>
            <a:ext cx="4107418" cy="778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Модель Qwen2.5-32B-AWQ, инференс через vLLM. Стохастичность промптов: 5 случайных примеров на каждый запрос. Oversample 5× с последующей фильтрацией.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26949" y="6212591"/>
            <a:ext cx="311479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Этап 2: Парафраз (15–34 примера)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26949" y="6538703"/>
            <a:ext cx="3336353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LLM-переформулировка. Циклический выбор источников — равномерное использование оригиналов.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743003" y="6186726"/>
            <a:ext cx="313563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Этап 3: Обратный перевод (35–49)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743003" y="6512838"/>
            <a:ext cx="4107418" cy="59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NLLB-200-3.3B: рус → англ → рус. NER-плейсхолдеры маскируются тегами </a:t>
            </a:r>
            <a:r>
              <a:rPr lang="en-US" sz="11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&lt;0&gt;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1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&lt;1&gt;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восстанавливаются после перевода.</a:t>
            </a:r>
            <a:endParaRPr lang="en-US" sz="115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4AEA2B35-A665-2EBB-EBCF-C07EEFFF584E}"/>
              </a:ext>
            </a:extLst>
          </p:cNvPr>
          <p:cNvSpPr/>
          <p:nvPr/>
        </p:nvSpPr>
        <p:spPr>
          <a:xfrm>
            <a:off x="1387506" y="389637"/>
            <a:ext cx="7637849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Трёхэтапная аугментация данных</a:t>
            </a:r>
            <a:endParaRPr lang="en-US" sz="33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006BE90E-418E-76C2-7115-91BA4D143EDD}"/>
              </a:ext>
            </a:extLst>
          </p:cNvPr>
          <p:cNvSpPr/>
          <p:nvPr/>
        </p:nvSpPr>
        <p:spPr>
          <a:xfrm>
            <a:off x="1355368" y="972209"/>
            <a:ext cx="11828959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Цель — довести каждый класс до </a:t>
            </a:r>
            <a:r>
              <a:rPr lang="en-US" sz="1650" b="1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минимум 50 примеров</a:t>
            </a:r>
            <a:r>
              <a:rPr lang="en-US" sz="1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. После каждого этапа группы пересчитываются и перераспределяются.</a:t>
            </a:r>
            <a:endParaRPr lang="en-US" sz="165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B565EBDB-51CE-BB8F-963D-C1857393D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115" y="1779985"/>
            <a:ext cx="10266947" cy="4406741"/>
          </a:xfrm>
          <a:prstGeom prst="rect">
            <a:avLst/>
          </a:prstGeom>
        </p:spPr>
      </p:pic>
      <p:sp>
        <p:nvSpPr>
          <p:cNvPr id="19" name="Text 2">
            <a:extLst>
              <a:ext uri="{FF2B5EF4-FFF2-40B4-BE49-F238E27FC236}">
                <a16:creationId xmlns:a16="http://schemas.microsoft.com/office/drawing/2014/main" id="{315F264E-932A-1414-265D-71D9DB9A451F}"/>
              </a:ext>
            </a:extLst>
          </p:cNvPr>
          <p:cNvSpPr/>
          <p:nvPr/>
        </p:nvSpPr>
        <p:spPr>
          <a:xfrm>
            <a:off x="3530473" y="3792707"/>
            <a:ext cx="1937096" cy="632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Генерация с помощью LLM</a:t>
            </a:r>
            <a:endParaRPr lang="en-US" sz="195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D0FA460B-B9C1-BBBC-DCFF-6CA787A821C5}"/>
              </a:ext>
            </a:extLst>
          </p:cNvPr>
          <p:cNvSpPr/>
          <p:nvPr/>
        </p:nvSpPr>
        <p:spPr>
          <a:xfrm>
            <a:off x="6373867" y="4108144"/>
            <a:ext cx="1937097" cy="316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Парафраз</a:t>
            </a:r>
            <a:endParaRPr lang="en-US" sz="195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3CD1A68D-255F-7B82-8A9B-932142499C8C}"/>
              </a:ext>
            </a:extLst>
          </p:cNvPr>
          <p:cNvSpPr/>
          <p:nvPr/>
        </p:nvSpPr>
        <p:spPr>
          <a:xfrm>
            <a:off x="9217262" y="4393266"/>
            <a:ext cx="1937096" cy="63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Обратный перевод</a:t>
            </a:r>
            <a:endParaRPr lang="en-US" sz="19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553535-E124-897E-D3A6-96C537AFC193}"/>
              </a:ext>
            </a:extLst>
          </p:cNvPr>
          <p:cNvSpPr txBox="1"/>
          <p:nvPr/>
        </p:nvSpPr>
        <p:spPr>
          <a:xfrm>
            <a:off x="5361283" y="2972573"/>
            <a:ext cx="446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"/>
              </a:rPr>
              <a:t>15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5910A1-388A-809A-0D52-0EA6A3FCBA9F}"/>
              </a:ext>
            </a:extLst>
          </p:cNvPr>
          <p:cNvSpPr txBox="1"/>
          <p:nvPr/>
        </p:nvSpPr>
        <p:spPr>
          <a:xfrm>
            <a:off x="8158735" y="2964341"/>
            <a:ext cx="446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"/>
              </a:rPr>
              <a:t>35</a:t>
            </a:r>
            <a:endParaRPr lang="ru-RU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BAB388-7B0C-7476-767C-50D52A510482}"/>
              </a:ext>
            </a:extLst>
          </p:cNvPr>
          <p:cNvSpPr txBox="1"/>
          <p:nvPr/>
        </p:nvSpPr>
        <p:spPr>
          <a:xfrm>
            <a:off x="10956187" y="2964341"/>
            <a:ext cx="446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"/>
              </a:rPr>
              <a:t>50</a:t>
            </a:r>
            <a:endParaRPr lang="ru-RU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2" name="Стрелка вправо 1">
            <a:extLst>
              <a:ext uri="{FF2B5EF4-FFF2-40B4-BE49-F238E27FC236}">
                <a16:creationId xmlns:a16="http://schemas.microsoft.com/office/drawing/2014/main" id="{DAA81A96-87BB-F7B5-E451-E9C62D4A56E8}"/>
              </a:ext>
            </a:extLst>
          </p:cNvPr>
          <p:cNvSpPr/>
          <p:nvPr/>
        </p:nvSpPr>
        <p:spPr>
          <a:xfrm>
            <a:off x="4564877" y="6395212"/>
            <a:ext cx="672662" cy="484632"/>
          </a:xfrm>
          <a:prstGeom prst="rightArrow">
            <a:avLst/>
          </a:prstGeom>
          <a:gradFill flip="none" rotWithShape="1">
            <a:gsLst>
              <a:gs pos="0">
                <a:srgbClr val="6A98DD">
                  <a:shade val="30000"/>
                  <a:satMod val="115000"/>
                </a:srgbClr>
              </a:gs>
              <a:gs pos="50000">
                <a:srgbClr val="6A98DD">
                  <a:shade val="67500"/>
                  <a:satMod val="115000"/>
                </a:srgbClr>
              </a:gs>
              <a:gs pos="100000">
                <a:srgbClr val="6A98DD">
                  <a:shade val="100000"/>
                  <a:satMod val="115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трелка вправо 2">
            <a:extLst>
              <a:ext uri="{FF2B5EF4-FFF2-40B4-BE49-F238E27FC236}">
                <a16:creationId xmlns:a16="http://schemas.microsoft.com/office/drawing/2014/main" id="{96C21695-A0FC-177B-4564-136BD5D4E52B}"/>
              </a:ext>
            </a:extLst>
          </p:cNvPr>
          <p:cNvSpPr/>
          <p:nvPr/>
        </p:nvSpPr>
        <p:spPr>
          <a:xfrm>
            <a:off x="8880931" y="6443167"/>
            <a:ext cx="672662" cy="484632"/>
          </a:xfrm>
          <a:prstGeom prst="rightArrow">
            <a:avLst/>
          </a:prstGeom>
          <a:gradFill flip="none" rotWithShape="1">
            <a:gsLst>
              <a:gs pos="0">
                <a:srgbClr val="20429F">
                  <a:shade val="30000"/>
                  <a:satMod val="115000"/>
                </a:srgbClr>
              </a:gs>
              <a:gs pos="50000">
                <a:srgbClr val="20429F">
                  <a:shade val="67500"/>
                  <a:satMod val="115000"/>
                </a:srgbClr>
              </a:gs>
              <a:gs pos="100000">
                <a:srgbClr val="20429F">
                  <a:shade val="100000"/>
                  <a:satMod val="115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">
            <a:extLst>
              <a:ext uri="{FF2B5EF4-FFF2-40B4-BE49-F238E27FC236}">
                <a16:creationId xmlns:a16="http://schemas.microsoft.com/office/drawing/2014/main" id="{391863DC-FA61-7F3A-CAE5-3BFD5ECD1FCA}"/>
              </a:ext>
            </a:extLst>
          </p:cNvPr>
          <p:cNvSpPr/>
          <p:nvPr/>
        </p:nvSpPr>
        <p:spPr>
          <a:xfrm>
            <a:off x="793790" y="360000"/>
            <a:ext cx="13000000" cy="70000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buNone/>
            </a:pPr>
            <a:r>
              <a:rPr lang="ru-RU" sz="3550" dirty="0">
                <a:solidFill>
                  <a:srgbClr val="3257B8"/>
                </a:solidFill>
                <a:latin typeface="Roboto Slab" pitchFamily="34" charset="0"/>
              </a:rPr>
              <a:t>Система валидации и LLM-судья</a:t>
            </a:r>
          </a:p>
        </p:txBody>
      </p:sp>
      <p:sp>
        <p:nvSpPr>
          <p:cNvPr id="31" name="LeftSub">
            <a:extLst>
              <a:ext uri="{FF2B5EF4-FFF2-40B4-BE49-F238E27FC236}">
                <a16:creationId xmlns:a16="http://schemas.microsoft.com/office/drawing/2014/main" id="{8CA3291C-FF10-6DFC-C2F0-42CC5A934C42}"/>
              </a:ext>
            </a:extLst>
          </p:cNvPr>
          <p:cNvSpPr/>
          <p:nvPr/>
        </p:nvSpPr>
        <p:spPr>
          <a:xfrm>
            <a:off x="793790" y="1100000"/>
            <a:ext cx="6500000" cy="3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marL="0" indent="0" algn="l">
              <a:buNone/>
            </a:pPr>
            <a:r>
              <a:rPr lang="ru-RU" sz="1800" b="1" dirty="0">
                <a:solidFill>
                  <a:srgbClr val="1A2D6B"/>
                </a:solidFill>
                <a:latin typeface="Roboto"/>
              </a:rPr>
              <a:t>🛡 Уровень 1 — 7 детерминированных фильтров</a:t>
            </a:r>
          </a:p>
        </p:txBody>
      </p:sp>
      <p:sp>
        <p:nvSpPr>
          <p:cNvPr id="32" name="Num01">
            <a:extLst>
              <a:ext uri="{FF2B5EF4-FFF2-40B4-BE49-F238E27FC236}">
                <a16:creationId xmlns:a16="http://schemas.microsoft.com/office/drawing/2014/main" id="{007A7F82-3844-2BFC-5F50-EBCE329D6CB3}"/>
              </a:ext>
            </a:extLst>
          </p:cNvPr>
          <p:cNvSpPr/>
          <p:nvPr/>
        </p:nvSpPr>
        <p:spPr>
          <a:xfrm>
            <a:off x="900000" y="158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33" name="Label01">
            <a:extLst>
              <a:ext uri="{FF2B5EF4-FFF2-40B4-BE49-F238E27FC236}">
                <a16:creationId xmlns:a16="http://schemas.microsoft.com/office/drawing/2014/main" id="{7F332B19-D568-56CC-0A84-A0448F52306A}"/>
              </a:ext>
            </a:extLst>
          </p:cNvPr>
          <p:cNvSpPr/>
          <p:nvPr/>
        </p:nvSpPr>
        <p:spPr>
          <a:xfrm>
            <a:off x="1600000" y="150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Точные дубликаты</a:t>
            </a:r>
          </a:p>
        </p:txBody>
      </p:sp>
      <p:sp>
        <p:nvSpPr>
          <p:cNvPr id="34" name="Detail01">
            <a:extLst>
              <a:ext uri="{FF2B5EF4-FFF2-40B4-BE49-F238E27FC236}">
                <a16:creationId xmlns:a16="http://schemas.microsoft.com/office/drawing/2014/main" id="{85507655-624D-00E6-379F-4EB65448F1FE}"/>
              </a:ext>
            </a:extLst>
          </p:cNvPr>
          <p:cNvSpPr/>
          <p:nvPr/>
        </p:nvSpPr>
        <p:spPr>
          <a:xfrm>
            <a:off x="4800000" y="150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O(1)</a:t>
            </a:r>
          </a:p>
        </p:txBody>
      </p:sp>
      <p:sp>
        <p:nvSpPr>
          <p:cNvPr id="35" name="Sep0">
            <a:extLst>
              <a:ext uri="{FF2B5EF4-FFF2-40B4-BE49-F238E27FC236}">
                <a16:creationId xmlns:a16="http://schemas.microsoft.com/office/drawing/2014/main" id="{F140B693-8F9C-6012-469D-20C61E0A6F1F}"/>
              </a:ext>
            </a:extLst>
          </p:cNvPr>
          <p:cNvSpPr/>
          <p:nvPr/>
        </p:nvSpPr>
        <p:spPr>
          <a:xfrm>
            <a:off x="900000" y="2240000"/>
            <a:ext cx="6300000" cy="0"/>
          </a:xfrm>
          <a:prstGeom prst="line">
            <a:avLst/>
          </a:prstGeom>
          <a:ln w="6350">
            <a:solidFill>
              <a:srgbClr val="E0E4ED"/>
            </a:solidFill>
          </a:ln>
        </p:spPr>
      </p:sp>
      <p:sp>
        <p:nvSpPr>
          <p:cNvPr id="36" name="Num02">
            <a:extLst>
              <a:ext uri="{FF2B5EF4-FFF2-40B4-BE49-F238E27FC236}">
                <a16:creationId xmlns:a16="http://schemas.microsoft.com/office/drawing/2014/main" id="{F272BC93-4B51-5E41-CB28-5D0FD4E4EDEA}"/>
              </a:ext>
            </a:extLst>
          </p:cNvPr>
          <p:cNvSpPr/>
          <p:nvPr/>
        </p:nvSpPr>
        <p:spPr>
          <a:xfrm>
            <a:off x="900000" y="236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37" name="Label02">
            <a:extLst>
              <a:ext uri="{FF2B5EF4-FFF2-40B4-BE49-F238E27FC236}">
                <a16:creationId xmlns:a16="http://schemas.microsoft.com/office/drawing/2014/main" id="{1E739345-F9BA-B397-B2A8-36B36B1BBE63}"/>
              </a:ext>
            </a:extLst>
          </p:cNvPr>
          <p:cNvSpPr/>
          <p:nvPr/>
        </p:nvSpPr>
        <p:spPr>
          <a:xfrm>
            <a:off x="1600000" y="228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Мин. длина</a:t>
            </a:r>
          </a:p>
        </p:txBody>
      </p:sp>
      <p:sp>
        <p:nvSpPr>
          <p:cNvPr id="38" name="Detail02">
            <a:extLst>
              <a:ext uri="{FF2B5EF4-FFF2-40B4-BE49-F238E27FC236}">
                <a16:creationId xmlns:a16="http://schemas.microsoft.com/office/drawing/2014/main" id="{E5C6C5CD-FE46-206A-6D53-9544CBCD7EED}"/>
              </a:ext>
            </a:extLst>
          </p:cNvPr>
          <p:cNvSpPr/>
          <p:nvPr/>
        </p:nvSpPr>
        <p:spPr>
          <a:xfrm>
            <a:off x="4800000" y="228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500 символов</a:t>
            </a:r>
          </a:p>
        </p:txBody>
      </p:sp>
      <p:sp>
        <p:nvSpPr>
          <p:cNvPr id="39" name="Sep1">
            <a:extLst>
              <a:ext uri="{FF2B5EF4-FFF2-40B4-BE49-F238E27FC236}">
                <a16:creationId xmlns:a16="http://schemas.microsoft.com/office/drawing/2014/main" id="{2A832AC9-7122-14E9-E93B-9FBEE9A64204}"/>
              </a:ext>
            </a:extLst>
          </p:cNvPr>
          <p:cNvSpPr/>
          <p:nvPr/>
        </p:nvSpPr>
        <p:spPr>
          <a:xfrm>
            <a:off x="900000" y="3020000"/>
            <a:ext cx="6300000" cy="0"/>
          </a:xfrm>
          <a:prstGeom prst="line">
            <a:avLst/>
          </a:prstGeom>
          <a:ln w="6350">
            <a:solidFill>
              <a:srgbClr val="E0E4ED"/>
            </a:solidFill>
          </a:ln>
        </p:spPr>
      </p:sp>
      <p:sp>
        <p:nvSpPr>
          <p:cNvPr id="40" name="Num03">
            <a:extLst>
              <a:ext uri="{FF2B5EF4-FFF2-40B4-BE49-F238E27FC236}">
                <a16:creationId xmlns:a16="http://schemas.microsoft.com/office/drawing/2014/main" id="{4D1D6B0F-5D8A-982F-05A4-725F3835ADA1}"/>
              </a:ext>
            </a:extLst>
          </p:cNvPr>
          <p:cNvSpPr/>
          <p:nvPr/>
        </p:nvSpPr>
        <p:spPr>
          <a:xfrm>
            <a:off x="900000" y="314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1" name="Label03">
            <a:extLst>
              <a:ext uri="{FF2B5EF4-FFF2-40B4-BE49-F238E27FC236}">
                <a16:creationId xmlns:a16="http://schemas.microsoft.com/office/drawing/2014/main" id="{BCA32BC4-560E-C7A5-85F0-05DE34FE1BEE}"/>
              </a:ext>
            </a:extLst>
          </p:cNvPr>
          <p:cNvSpPr/>
          <p:nvPr/>
        </p:nvSpPr>
        <p:spPr>
          <a:xfrm>
            <a:off x="1600000" y="306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Язык текста</a:t>
            </a:r>
          </a:p>
        </p:txBody>
      </p:sp>
      <p:sp>
        <p:nvSpPr>
          <p:cNvPr id="42" name="Detail03">
            <a:extLst>
              <a:ext uri="{FF2B5EF4-FFF2-40B4-BE49-F238E27FC236}">
                <a16:creationId xmlns:a16="http://schemas.microsoft.com/office/drawing/2014/main" id="{26198256-C90F-654C-3F00-5AADB4869297}"/>
              </a:ext>
            </a:extLst>
          </p:cNvPr>
          <p:cNvSpPr/>
          <p:nvPr/>
        </p:nvSpPr>
        <p:spPr>
          <a:xfrm>
            <a:off x="4800000" y="306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langdetect</a:t>
            </a:r>
          </a:p>
        </p:txBody>
      </p:sp>
      <p:sp>
        <p:nvSpPr>
          <p:cNvPr id="43" name="Sep2">
            <a:extLst>
              <a:ext uri="{FF2B5EF4-FFF2-40B4-BE49-F238E27FC236}">
                <a16:creationId xmlns:a16="http://schemas.microsoft.com/office/drawing/2014/main" id="{E53A28F2-2C5A-2F75-291C-A1A394A3E824}"/>
              </a:ext>
            </a:extLst>
          </p:cNvPr>
          <p:cNvSpPr/>
          <p:nvPr/>
        </p:nvSpPr>
        <p:spPr>
          <a:xfrm>
            <a:off x="900000" y="3800000"/>
            <a:ext cx="6300000" cy="0"/>
          </a:xfrm>
          <a:prstGeom prst="line">
            <a:avLst/>
          </a:prstGeom>
          <a:ln w="6350">
            <a:solidFill>
              <a:srgbClr val="E0E4ED"/>
            </a:solidFill>
          </a:ln>
        </p:spPr>
      </p:sp>
      <p:sp>
        <p:nvSpPr>
          <p:cNvPr id="44" name="Num04">
            <a:extLst>
              <a:ext uri="{FF2B5EF4-FFF2-40B4-BE49-F238E27FC236}">
                <a16:creationId xmlns:a16="http://schemas.microsoft.com/office/drawing/2014/main" id="{52296CCC-B0C3-C78B-C87F-355A7A769574}"/>
              </a:ext>
            </a:extLst>
          </p:cNvPr>
          <p:cNvSpPr/>
          <p:nvPr/>
        </p:nvSpPr>
        <p:spPr>
          <a:xfrm>
            <a:off x="900000" y="392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5" name="Label04">
            <a:extLst>
              <a:ext uri="{FF2B5EF4-FFF2-40B4-BE49-F238E27FC236}">
                <a16:creationId xmlns:a16="http://schemas.microsoft.com/office/drawing/2014/main" id="{3E1699B3-E89F-B0AE-463E-0C3F60937E4F}"/>
              </a:ext>
            </a:extLst>
          </p:cNvPr>
          <p:cNvSpPr/>
          <p:nvPr/>
        </p:nvSpPr>
        <p:spPr>
          <a:xfrm>
            <a:off x="1600000" y="384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Вырожденные</a:t>
            </a:r>
          </a:p>
        </p:txBody>
      </p:sp>
      <p:sp>
        <p:nvSpPr>
          <p:cNvPr id="46" name="Detail04">
            <a:extLst>
              <a:ext uri="{FF2B5EF4-FFF2-40B4-BE49-F238E27FC236}">
                <a16:creationId xmlns:a16="http://schemas.microsoft.com/office/drawing/2014/main" id="{FC01D934-BB21-D216-6BA3-1B568609D999}"/>
              </a:ext>
            </a:extLst>
          </p:cNvPr>
          <p:cNvSpPr/>
          <p:nvPr/>
        </p:nvSpPr>
        <p:spPr>
          <a:xfrm>
            <a:off x="4800000" y="384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unique ratio &lt;20%</a:t>
            </a:r>
          </a:p>
        </p:txBody>
      </p:sp>
      <p:sp>
        <p:nvSpPr>
          <p:cNvPr id="47" name="Sep3">
            <a:extLst>
              <a:ext uri="{FF2B5EF4-FFF2-40B4-BE49-F238E27FC236}">
                <a16:creationId xmlns:a16="http://schemas.microsoft.com/office/drawing/2014/main" id="{33D7982D-04FD-F70B-5BCF-3060384BD267}"/>
              </a:ext>
            </a:extLst>
          </p:cNvPr>
          <p:cNvSpPr/>
          <p:nvPr/>
        </p:nvSpPr>
        <p:spPr>
          <a:xfrm>
            <a:off x="900000" y="4580000"/>
            <a:ext cx="6300000" cy="0"/>
          </a:xfrm>
          <a:prstGeom prst="line">
            <a:avLst/>
          </a:prstGeom>
          <a:ln w="6350">
            <a:solidFill>
              <a:srgbClr val="E0E4ED"/>
            </a:solidFill>
          </a:ln>
        </p:spPr>
      </p:sp>
      <p:sp>
        <p:nvSpPr>
          <p:cNvPr id="48" name="Num05">
            <a:extLst>
              <a:ext uri="{FF2B5EF4-FFF2-40B4-BE49-F238E27FC236}">
                <a16:creationId xmlns:a16="http://schemas.microsoft.com/office/drawing/2014/main" id="{0DBD2197-C0A6-E60D-DD1B-8E980134D0D8}"/>
              </a:ext>
            </a:extLst>
          </p:cNvPr>
          <p:cNvSpPr/>
          <p:nvPr/>
        </p:nvSpPr>
        <p:spPr>
          <a:xfrm>
            <a:off x="900000" y="470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05</a:t>
            </a:r>
          </a:p>
        </p:txBody>
      </p:sp>
      <p:sp>
        <p:nvSpPr>
          <p:cNvPr id="49" name="Label05">
            <a:extLst>
              <a:ext uri="{FF2B5EF4-FFF2-40B4-BE49-F238E27FC236}">
                <a16:creationId xmlns:a16="http://schemas.microsoft.com/office/drawing/2014/main" id="{0E475E9B-3680-7FF2-D6D4-7A59AEE042BC}"/>
              </a:ext>
            </a:extLst>
          </p:cNvPr>
          <p:cNvSpPr/>
          <p:nvPr/>
        </p:nvSpPr>
        <p:spPr>
          <a:xfrm>
            <a:off x="1600000" y="462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CJK-артефакты</a:t>
            </a:r>
          </a:p>
        </p:txBody>
      </p:sp>
      <p:sp>
        <p:nvSpPr>
          <p:cNvPr id="50" name="Detail05">
            <a:extLst>
              <a:ext uri="{FF2B5EF4-FFF2-40B4-BE49-F238E27FC236}">
                <a16:creationId xmlns:a16="http://schemas.microsoft.com/office/drawing/2014/main" id="{199121E7-5AF8-B75B-BD2C-9423DC07531E}"/>
              </a:ext>
            </a:extLst>
          </p:cNvPr>
          <p:cNvSpPr/>
          <p:nvPr/>
        </p:nvSpPr>
        <p:spPr>
          <a:xfrm>
            <a:off x="4800000" y="462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модель Qwen</a:t>
            </a:r>
          </a:p>
        </p:txBody>
      </p:sp>
      <p:sp>
        <p:nvSpPr>
          <p:cNvPr id="51" name="Sep4">
            <a:extLst>
              <a:ext uri="{FF2B5EF4-FFF2-40B4-BE49-F238E27FC236}">
                <a16:creationId xmlns:a16="http://schemas.microsoft.com/office/drawing/2014/main" id="{74B1C253-9271-0186-DE7C-F972615CA58C}"/>
              </a:ext>
            </a:extLst>
          </p:cNvPr>
          <p:cNvSpPr/>
          <p:nvPr/>
        </p:nvSpPr>
        <p:spPr>
          <a:xfrm>
            <a:off x="900000" y="5360000"/>
            <a:ext cx="6300000" cy="0"/>
          </a:xfrm>
          <a:prstGeom prst="line">
            <a:avLst/>
          </a:prstGeom>
          <a:ln w="6350">
            <a:solidFill>
              <a:srgbClr val="E0E4ED"/>
            </a:solidFill>
          </a:ln>
        </p:spPr>
      </p:sp>
      <p:sp>
        <p:nvSpPr>
          <p:cNvPr id="52" name="Num06">
            <a:extLst>
              <a:ext uri="{FF2B5EF4-FFF2-40B4-BE49-F238E27FC236}">
                <a16:creationId xmlns:a16="http://schemas.microsoft.com/office/drawing/2014/main" id="{69D1953E-E606-E9BC-239C-B85F2C23FC0D}"/>
              </a:ext>
            </a:extLst>
          </p:cNvPr>
          <p:cNvSpPr/>
          <p:nvPr/>
        </p:nvSpPr>
        <p:spPr>
          <a:xfrm>
            <a:off x="900000" y="548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06</a:t>
            </a:r>
          </a:p>
        </p:txBody>
      </p:sp>
      <p:sp>
        <p:nvSpPr>
          <p:cNvPr id="53" name="Label06">
            <a:extLst>
              <a:ext uri="{FF2B5EF4-FFF2-40B4-BE49-F238E27FC236}">
                <a16:creationId xmlns:a16="http://schemas.microsoft.com/office/drawing/2014/main" id="{B9A23B9C-55C1-55D9-01ED-24B0155008D8}"/>
              </a:ext>
            </a:extLst>
          </p:cNvPr>
          <p:cNvSpPr/>
          <p:nvPr/>
        </p:nvSpPr>
        <p:spPr>
          <a:xfrm>
            <a:off x="1600000" y="540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Промпт-утечка</a:t>
            </a:r>
          </a:p>
        </p:txBody>
      </p:sp>
      <p:sp>
        <p:nvSpPr>
          <p:cNvPr id="54" name="Detail06">
            <a:extLst>
              <a:ext uri="{FF2B5EF4-FFF2-40B4-BE49-F238E27FC236}">
                <a16:creationId xmlns:a16="http://schemas.microsoft.com/office/drawing/2014/main" id="{9AE61F25-DE3E-4522-B896-5C2064CF698A}"/>
              </a:ext>
            </a:extLst>
          </p:cNvPr>
          <p:cNvSpPr/>
          <p:nvPr/>
        </p:nvSpPr>
        <p:spPr>
          <a:xfrm>
            <a:off x="4800000" y="540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мета-фразы, markdown</a:t>
            </a:r>
          </a:p>
        </p:txBody>
      </p:sp>
      <p:sp>
        <p:nvSpPr>
          <p:cNvPr id="55" name="Sep5">
            <a:extLst>
              <a:ext uri="{FF2B5EF4-FFF2-40B4-BE49-F238E27FC236}">
                <a16:creationId xmlns:a16="http://schemas.microsoft.com/office/drawing/2014/main" id="{2F8E3F6E-0837-5D25-A499-36FFC9B82E19}"/>
              </a:ext>
            </a:extLst>
          </p:cNvPr>
          <p:cNvSpPr/>
          <p:nvPr/>
        </p:nvSpPr>
        <p:spPr>
          <a:xfrm>
            <a:off x="900000" y="6140000"/>
            <a:ext cx="6300000" cy="0"/>
          </a:xfrm>
          <a:prstGeom prst="line">
            <a:avLst/>
          </a:prstGeom>
          <a:ln w="6350">
            <a:solidFill>
              <a:srgbClr val="E0E4ED"/>
            </a:solidFill>
          </a:ln>
        </p:spPr>
      </p:sp>
      <p:sp>
        <p:nvSpPr>
          <p:cNvPr id="56" name="Num07">
            <a:extLst>
              <a:ext uri="{FF2B5EF4-FFF2-40B4-BE49-F238E27FC236}">
                <a16:creationId xmlns:a16="http://schemas.microsoft.com/office/drawing/2014/main" id="{83098D4D-8F94-69D0-3E45-D59714314C93}"/>
              </a:ext>
            </a:extLst>
          </p:cNvPr>
          <p:cNvSpPr/>
          <p:nvPr/>
        </p:nvSpPr>
        <p:spPr>
          <a:xfrm>
            <a:off x="900000" y="626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07</a:t>
            </a:r>
          </a:p>
        </p:txBody>
      </p:sp>
      <p:sp>
        <p:nvSpPr>
          <p:cNvPr id="57" name="Label07">
            <a:extLst>
              <a:ext uri="{FF2B5EF4-FFF2-40B4-BE49-F238E27FC236}">
                <a16:creationId xmlns:a16="http://schemas.microsoft.com/office/drawing/2014/main" id="{32E7CDF2-ECDF-81DB-21BF-199BF85B8183}"/>
              </a:ext>
            </a:extLst>
          </p:cNvPr>
          <p:cNvSpPr/>
          <p:nvPr/>
        </p:nvSpPr>
        <p:spPr>
          <a:xfrm>
            <a:off x="1600000" y="618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SBERT сходство</a:t>
            </a:r>
          </a:p>
        </p:txBody>
      </p:sp>
      <p:sp>
        <p:nvSpPr>
          <p:cNvPr id="58" name="Detail07">
            <a:extLst>
              <a:ext uri="{FF2B5EF4-FFF2-40B4-BE49-F238E27FC236}">
                <a16:creationId xmlns:a16="http://schemas.microsoft.com/office/drawing/2014/main" id="{78CA50E2-5B69-9B10-A37C-B18A203B98CE}"/>
              </a:ext>
            </a:extLst>
          </p:cNvPr>
          <p:cNvSpPr/>
          <p:nvPr/>
        </p:nvSpPr>
        <p:spPr>
          <a:xfrm>
            <a:off x="4800000" y="618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порог 0,5–0,98</a:t>
            </a:r>
          </a:p>
        </p:txBody>
      </p:sp>
      <p:sp>
        <p:nvSpPr>
          <p:cNvPr id="59" name="JudgeBG">
            <a:extLst>
              <a:ext uri="{FF2B5EF4-FFF2-40B4-BE49-F238E27FC236}">
                <a16:creationId xmlns:a16="http://schemas.microsoft.com/office/drawing/2014/main" id="{79C58B93-BD7C-1C6A-B493-A3E0FB2804A8}"/>
              </a:ext>
            </a:extLst>
          </p:cNvPr>
          <p:cNvSpPr/>
          <p:nvPr/>
        </p:nvSpPr>
        <p:spPr>
          <a:xfrm>
            <a:off x="7500000" y="1100000"/>
            <a:ext cx="6336610" cy="6500000"/>
          </a:xfrm>
          <a:prstGeom prst="roundRect">
            <a:avLst>
              <a:gd name="adj" fmla="val 3000"/>
            </a:avLst>
          </a:prstGeom>
          <a:solidFill>
            <a:srgbClr val="3257B8"/>
          </a:solidFill>
          <a:ln>
            <a:noFill/>
          </a:ln>
        </p:spPr>
      </p:sp>
      <p:sp>
        <p:nvSpPr>
          <p:cNvPr id="60" name="JudgeIcon">
            <a:extLst>
              <a:ext uri="{FF2B5EF4-FFF2-40B4-BE49-F238E27FC236}">
                <a16:creationId xmlns:a16="http://schemas.microsoft.com/office/drawing/2014/main" id="{C90F3749-F019-2259-C99C-D679C56F8565}"/>
              </a:ext>
            </a:extLst>
          </p:cNvPr>
          <p:cNvSpPr/>
          <p:nvPr/>
        </p:nvSpPr>
        <p:spPr>
          <a:xfrm>
            <a:off x="7800000" y="1350000"/>
            <a:ext cx="700000" cy="70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2800" dirty="0">
                <a:solidFill>
                  <a:srgbClr val="FFFFFF"/>
                </a:solidFill>
                <a:latin typeface="Roboto"/>
              </a:rPr>
              <a:t>⚖</a:t>
            </a:r>
          </a:p>
        </p:txBody>
      </p:sp>
      <p:sp>
        <p:nvSpPr>
          <p:cNvPr id="61" name="JudgeTitle">
            <a:extLst>
              <a:ext uri="{FF2B5EF4-FFF2-40B4-BE49-F238E27FC236}">
                <a16:creationId xmlns:a16="http://schemas.microsoft.com/office/drawing/2014/main" id="{CA1BB41D-3724-BE91-B0BC-1793B7CEAC5C}"/>
              </a:ext>
            </a:extLst>
          </p:cNvPr>
          <p:cNvSpPr/>
          <p:nvPr/>
        </p:nvSpPr>
        <p:spPr>
          <a:xfrm>
            <a:off x="8650000" y="1350000"/>
            <a:ext cx="4800000" cy="7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ru-RU" sz="2200" b="1" dirty="0">
                <a:solidFill>
                  <a:srgbClr val="FFFFFF"/>
                </a:solidFill>
                <a:latin typeface="Roboto"/>
              </a:rPr>
              <a:t>Уровень 2 — LLM-судья</a:t>
            </a:r>
          </a:p>
          <a:p>
            <a:pPr marL="0" indent="0" algn="l">
              <a:buNone/>
            </a:pPr>
            <a:r>
              <a:rPr lang="ru-RU" sz="1400" dirty="0">
                <a:solidFill>
                  <a:srgbClr val="C9D6F0"/>
                </a:solidFill>
                <a:latin typeface="Roboto"/>
              </a:rPr>
              <a:t>Qwen-32B, temperature=0,1</a:t>
            </a:r>
          </a:p>
        </p:txBody>
      </p:sp>
      <p:sp>
        <p:nvSpPr>
          <p:cNvPr id="62" name="JudgeSep">
            <a:extLst>
              <a:ext uri="{FF2B5EF4-FFF2-40B4-BE49-F238E27FC236}">
                <a16:creationId xmlns:a16="http://schemas.microsoft.com/office/drawing/2014/main" id="{2E12AD5F-D70C-93C1-1BB3-E1F3BA9162E3}"/>
              </a:ext>
            </a:extLst>
          </p:cNvPr>
          <p:cNvSpPr/>
          <p:nvPr/>
        </p:nvSpPr>
        <p:spPr>
          <a:xfrm>
            <a:off x="7800000" y="2250000"/>
            <a:ext cx="5736610" cy="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63" name="GenLabel">
            <a:extLst>
              <a:ext uri="{FF2B5EF4-FFF2-40B4-BE49-F238E27FC236}">
                <a16:creationId xmlns:a16="http://schemas.microsoft.com/office/drawing/2014/main" id="{A7D62910-18FC-E456-5D00-8F500DAC50E4}"/>
              </a:ext>
            </a:extLst>
          </p:cNvPr>
          <p:cNvSpPr/>
          <p:nvPr/>
        </p:nvSpPr>
        <p:spPr>
          <a:xfrm>
            <a:off x="7800000" y="2400000"/>
            <a:ext cx="5736610" cy="4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ru-RU" sz="1600" b="1" dirty="0">
                <a:solidFill>
                  <a:srgbClr val="FFE29A"/>
                </a:solidFill>
                <a:latin typeface="Roboto"/>
              </a:rPr>
              <a:t>📝 Для генерации:</a:t>
            </a:r>
          </a:p>
        </p:txBody>
      </p:sp>
      <p:sp>
        <p:nvSpPr>
          <p:cNvPr id="64" name="GenCriteria">
            <a:extLst>
              <a:ext uri="{FF2B5EF4-FFF2-40B4-BE49-F238E27FC236}">
                <a16:creationId xmlns:a16="http://schemas.microsoft.com/office/drawing/2014/main" id="{6DB544F6-7CBD-64FE-761D-87018ECFEE19}"/>
              </a:ext>
            </a:extLst>
          </p:cNvPr>
          <p:cNvSpPr/>
          <p:nvPr/>
        </p:nvSpPr>
        <p:spPr>
          <a:xfrm>
            <a:off x="7800000" y="2800000"/>
            <a:ext cx="5736610" cy="1000000"/>
          </a:xfrm>
          <a:prstGeom prst="rect">
            <a:avLst/>
          </a:prstGeom>
          <a:noFill/>
          <a:ln/>
        </p:spPr>
        <p:txBody>
          <a:bodyPr wrap="square" lIns="0" tIns="0" rIns="200000" bIns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ru-RU" sz="1400" dirty="0">
                <a:solidFill>
                  <a:srgbClr val="E7EDFA"/>
                </a:solidFill>
                <a:latin typeface="Roboto"/>
              </a:rPr>
              <a:t>естественность • связность • соответствие классу • полнота</a:t>
            </a:r>
          </a:p>
        </p:txBody>
      </p:sp>
      <p:sp>
        <p:nvSpPr>
          <p:cNvPr id="65" name="ParLabel">
            <a:extLst>
              <a:ext uri="{FF2B5EF4-FFF2-40B4-BE49-F238E27FC236}">
                <a16:creationId xmlns:a16="http://schemas.microsoft.com/office/drawing/2014/main" id="{6FCAEA13-5E80-99DF-2396-478FB2314D5E}"/>
              </a:ext>
            </a:extLst>
          </p:cNvPr>
          <p:cNvSpPr/>
          <p:nvPr/>
        </p:nvSpPr>
        <p:spPr>
          <a:xfrm>
            <a:off x="7800000" y="3700000"/>
            <a:ext cx="5736610" cy="4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ru-RU" sz="1600" b="1" dirty="0">
                <a:solidFill>
                  <a:srgbClr val="FFE29A"/>
                </a:solidFill>
                <a:latin typeface="Roboto"/>
              </a:rPr>
              <a:t>🔄 Для парафраза:</a:t>
            </a:r>
          </a:p>
        </p:txBody>
      </p:sp>
      <p:sp>
        <p:nvSpPr>
          <p:cNvPr id="66" name="ParCriteria">
            <a:extLst>
              <a:ext uri="{FF2B5EF4-FFF2-40B4-BE49-F238E27FC236}">
                <a16:creationId xmlns:a16="http://schemas.microsoft.com/office/drawing/2014/main" id="{83330D04-0777-8A4B-1673-FA310B5ADDF5}"/>
              </a:ext>
            </a:extLst>
          </p:cNvPr>
          <p:cNvSpPr/>
          <p:nvPr/>
        </p:nvSpPr>
        <p:spPr>
          <a:xfrm>
            <a:off x="7800000" y="4100000"/>
            <a:ext cx="5736610" cy="1000000"/>
          </a:xfrm>
          <a:prstGeom prst="rect">
            <a:avLst/>
          </a:prstGeom>
          <a:noFill/>
          <a:ln/>
        </p:spPr>
        <p:txBody>
          <a:bodyPr wrap="square" lIns="0" tIns="0" rIns="200000" bIns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ru-RU" sz="1400" dirty="0">
                <a:solidFill>
                  <a:srgbClr val="E7EDFA"/>
                </a:solidFill>
                <a:latin typeface="Roboto"/>
              </a:rPr>
              <a:t>сохранение смысла • степень переформулировки • полнота деталей</a:t>
            </a:r>
          </a:p>
        </p:txBody>
      </p:sp>
      <p:sp>
        <p:nvSpPr>
          <p:cNvPr id="67" name="JudgeSep2">
            <a:extLst>
              <a:ext uri="{FF2B5EF4-FFF2-40B4-BE49-F238E27FC236}">
                <a16:creationId xmlns:a16="http://schemas.microsoft.com/office/drawing/2014/main" id="{2C3DD996-D53F-6E20-70DA-B10FAEE51AC5}"/>
              </a:ext>
            </a:extLst>
          </p:cNvPr>
          <p:cNvSpPr/>
          <p:nvPr/>
        </p:nvSpPr>
        <p:spPr>
          <a:xfrm>
            <a:off x="7800000" y="5200000"/>
            <a:ext cx="5736610" cy="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68" name="Threshold">
            <a:extLst>
              <a:ext uri="{FF2B5EF4-FFF2-40B4-BE49-F238E27FC236}">
                <a16:creationId xmlns:a16="http://schemas.microsoft.com/office/drawing/2014/main" id="{FCD962AC-DFE2-6FC2-AED7-475C17E68ADC}"/>
              </a:ext>
            </a:extLst>
          </p:cNvPr>
          <p:cNvSpPr/>
          <p:nvPr/>
        </p:nvSpPr>
        <p:spPr>
          <a:xfrm>
            <a:off x="7800000" y="5350000"/>
            <a:ext cx="5736610" cy="2000000"/>
          </a:xfrm>
          <a:prstGeom prst="rect">
            <a:avLst/>
          </a:prstGeom>
          <a:noFill/>
          <a:ln/>
        </p:spPr>
        <p:txBody>
          <a:bodyPr wrap="square" lIns="0" tIns="0" rIns="200000" bIns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ru-RU" sz="2400" b="1" dirty="0">
                <a:solidFill>
                  <a:srgbClr val="FFFFFF"/>
                </a:solidFill>
                <a:latin typeface="Roboto Slab"/>
              </a:rPr>
              <a:t>Оценка 1–10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ru-RU" sz="1500" dirty="0">
                <a:solidFill>
                  <a:srgbClr val="E7EDFA"/>
                </a:solidFill>
                <a:latin typeface="Roboto"/>
              </a:rPr>
              <a:t>Порог отсечения </a:t>
            </a:r>
            <a:r>
              <a:rPr lang="ru-RU" sz="1500" b="1" dirty="0">
                <a:solidFill>
                  <a:srgbClr val="FFE29A"/>
                </a:solidFill>
                <a:latin typeface="Roboto"/>
              </a:rPr>
              <a:t>5,0</a:t>
            </a:r>
            <a:r>
              <a:rPr lang="ru-RU" sz="1500" dirty="0">
                <a:solidFill>
                  <a:srgbClr val="E7EDFA"/>
                </a:solidFill>
                <a:latin typeface="Roboto"/>
              </a:rPr>
              <a:t> (для обратного перевода — </a:t>
            </a:r>
            <a:r>
              <a:rPr lang="ru-RU" sz="1500" b="1" dirty="0">
                <a:solidFill>
                  <a:srgbClr val="FFE29A"/>
                </a:solidFill>
                <a:latin typeface="Roboto"/>
              </a:rPr>
              <a:t>2,5</a:t>
            </a:r>
            <a:r>
              <a:rPr lang="ru-RU" sz="1500" dirty="0">
                <a:solidFill>
                  <a:srgbClr val="E7EDFA"/>
                </a:solidFill>
                <a:latin typeface="Roboto"/>
              </a:rPr>
              <a:t>)</a:t>
            </a:r>
          </a:p>
          <a:p>
            <a:pPr marL="0" indent="0" algn="l">
              <a:lnSpc>
                <a:spcPts val="2400"/>
              </a:lnSpc>
              <a:spcBef>
                <a:spcPts val="400"/>
              </a:spcBef>
              <a:buNone/>
            </a:pPr>
            <a:r>
              <a:rPr lang="ru-RU" sz="1500" dirty="0">
                <a:solidFill>
                  <a:srgbClr val="E7EDFA"/>
                </a:solidFill>
                <a:latin typeface="Roboto"/>
              </a:rPr>
              <a:t>Из 5N кандидатов отбирается N лучших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3323"/>
            <a:ext cx="84239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Инфраструктурные решения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035731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86194"/>
            <a:ext cx="30290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Система чекпоинтов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376613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CSV-файл после каждого класса. При перезапуске — автооткат к последнему этапу. Критично при работе на арендуемых GPU с ограниченным временем сессии.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035731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28861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GPU-профили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376613"/>
            <a:ext cx="63797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Адаптация под оборудование: T4 → L4 → A100 → H100. Каждый профиль задаёт размер батча NLLB и версию модели (distilled-600M для T4, полная 3.3B для A100).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91894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769412"/>
            <a:ext cx="36445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Двухфазная архитектура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259830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Фаза 1: NLLB + SBERT на GPU. Фаза 2: vLLM-судья на GPU. Обход ограничения памяти — две крупные модели не помещаются одновременно.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491894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7694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Конфигурация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259830"/>
            <a:ext cx="6379726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pipeline_config.json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параметры этапов, пороги, планировщик. Смена модели генерации без модификации кода.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0;p4">
            <a:extLst>
              <a:ext uri="{FF2B5EF4-FFF2-40B4-BE49-F238E27FC236}">
                <a16:creationId xmlns:a16="http://schemas.microsoft.com/office/drawing/2014/main" id="{48DAB670-F42E-AC3A-35DF-7B6FCABA183D}"/>
              </a:ext>
            </a:extLst>
          </p:cNvPr>
          <p:cNvSpPr/>
          <p:nvPr/>
        </p:nvSpPr>
        <p:spPr>
          <a:xfrm>
            <a:off x="900286" y="201030"/>
            <a:ext cx="5530200" cy="675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00"/>
              <a:buFont typeface="Roboto Slab"/>
              <a:buNone/>
            </a:pPr>
            <a:r>
              <a:rPr lang="ru-RU" sz="3200" dirty="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Результаты</a:t>
            </a:r>
            <a:r>
              <a:rPr lang="ru-RU" sz="2200" b="0" i="0" u="none" strike="noStrike" cap="none" dirty="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ru-RU" sz="3200" b="0" i="0" u="none" strike="noStrike" cap="none" dirty="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Аугментации</a:t>
            </a:r>
            <a:endParaRPr sz="3200" b="0" i="0" u="none" strike="noStrike" cap="none" dirty="0"/>
          </a:p>
        </p:txBody>
      </p:sp>
      <p:sp>
        <p:nvSpPr>
          <p:cNvPr id="30" name="Google Shape;21;p4">
            <a:extLst>
              <a:ext uri="{FF2B5EF4-FFF2-40B4-BE49-F238E27FC236}">
                <a16:creationId xmlns:a16="http://schemas.microsoft.com/office/drawing/2014/main" id="{A4CA2972-1D47-62E3-2D65-5A2BB09E95B6}"/>
              </a:ext>
            </a:extLst>
          </p:cNvPr>
          <p:cNvSpPr/>
          <p:nvPr/>
        </p:nvSpPr>
        <p:spPr>
          <a:xfrm>
            <a:off x="900286" y="899236"/>
            <a:ext cx="9006249" cy="43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en-US" sz="1600" b="0" i="0" u="none" strike="noStrike" cap="none" dirty="0" err="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Метрики</a:t>
            </a:r>
            <a:r>
              <a:rPr lang="en-US" sz="1600" b="0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600" b="0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исходных</a:t>
            </a:r>
            <a:r>
              <a:rPr lang="en-US" sz="1600" b="0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en-US" sz="1600" b="0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аугментированных</a:t>
            </a:r>
            <a:r>
              <a:rPr lang="en-US" sz="1600" b="0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данных</a:t>
            </a:r>
            <a:r>
              <a:rPr lang="en-US" sz="1600" b="0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</a:t>
            </a:r>
            <a:r>
              <a:rPr lang="en-US" sz="1600" b="1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balanced accuracy</a:t>
            </a:r>
            <a:r>
              <a:rPr lang="en-US" sz="1600" b="0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en-US" sz="1600" b="0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1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macro F1</a:t>
            </a:r>
            <a:r>
              <a:rPr lang="en-US" sz="1600" b="0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600" b="0" i="0" u="none" strike="noStrike" cap="none" dirty="0"/>
          </a:p>
        </p:txBody>
      </p:sp>
      <p:sp>
        <p:nvSpPr>
          <p:cNvPr id="32" name="Google Shape;23;p4">
            <a:extLst>
              <a:ext uri="{FF2B5EF4-FFF2-40B4-BE49-F238E27FC236}">
                <a16:creationId xmlns:a16="http://schemas.microsoft.com/office/drawing/2014/main" id="{4F8797BD-86EA-9595-397D-0E4B87BE4B32}"/>
              </a:ext>
            </a:extLst>
          </p:cNvPr>
          <p:cNvSpPr/>
          <p:nvPr/>
        </p:nvSpPr>
        <p:spPr>
          <a:xfrm>
            <a:off x="481024" y="1346555"/>
            <a:ext cx="3774300" cy="36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en-US" b="1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Balanced Accuracy</a:t>
            </a:r>
            <a:endParaRPr b="0" i="0" u="none" strike="noStrike" cap="none" dirty="0"/>
          </a:p>
        </p:txBody>
      </p:sp>
      <p:sp>
        <p:nvSpPr>
          <p:cNvPr id="33" name="Google Shape;24;p4">
            <a:extLst>
              <a:ext uri="{FF2B5EF4-FFF2-40B4-BE49-F238E27FC236}">
                <a16:creationId xmlns:a16="http://schemas.microsoft.com/office/drawing/2014/main" id="{9625D90F-4DE9-1C24-FBA4-E8CA088FA2CF}"/>
              </a:ext>
            </a:extLst>
          </p:cNvPr>
          <p:cNvSpPr/>
          <p:nvPr/>
        </p:nvSpPr>
        <p:spPr>
          <a:xfrm>
            <a:off x="682425" y="1871078"/>
            <a:ext cx="1288241" cy="228001"/>
          </a:xfrm>
          <a:prstGeom prst="roundRect">
            <a:avLst>
              <a:gd name="adj" fmla="val 77044"/>
            </a:avLst>
          </a:prstGeom>
          <a:solidFill>
            <a:srgbClr val="FFFFFF">
              <a:alpha val="2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" name="Google Shape;25;p4" descr="preencoded.png">
            <a:extLst>
              <a:ext uri="{FF2B5EF4-FFF2-40B4-BE49-F238E27FC236}">
                <a16:creationId xmlns:a16="http://schemas.microsoft.com/office/drawing/2014/main" id="{8C908214-120F-CD2A-13D5-AA262608F7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825" y="1933796"/>
            <a:ext cx="154857" cy="11582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26;p4">
            <a:extLst>
              <a:ext uri="{FF2B5EF4-FFF2-40B4-BE49-F238E27FC236}">
                <a16:creationId xmlns:a16="http://schemas.microsoft.com/office/drawing/2014/main" id="{C26D0F31-9907-BC92-9F9C-7AE267A77AAD}"/>
              </a:ext>
            </a:extLst>
          </p:cNvPr>
          <p:cNvSpPr/>
          <p:nvPr/>
        </p:nvSpPr>
        <p:spPr>
          <a:xfrm>
            <a:off x="1042838" y="1834098"/>
            <a:ext cx="796471" cy="234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5213F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sz="1400" b="0" i="0" u="none" strike="noStrike" cap="none" dirty="0"/>
          </a:p>
        </p:txBody>
      </p:sp>
      <p:pic>
        <p:nvPicPr>
          <p:cNvPr id="37" name="Google Shape;28;p4" descr="preencoded.png">
            <a:extLst>
              <a:ext uri="{FF2B5EF4-FFF2-40B4-BE49-F238E27FC236}">
                <a16:creationId xmlns:a16="http://schemas.microsoft.com/office/drawing/2014/main" id="{456834E5-B3E2-CEC9-AE4B-561C9A450BC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87494" y="1933376"/>
            <a:ext cx="154175" cy="108366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29;p4">
            <a:extLst>
              <a:ext uri="{FF2B5EF4-FFF2-40B4-BE49-F238E27FC236}">
                <a16:creationId xmlns:a16="http://schemas.microsoft.com/office/drawing/2014/main" id="{C8F3E7B3-6BAF-4341-C51A-C4D1D4D2DE4D}"/>
              </a:ext>
            </a:extLst>
          </p:cNvPr>
          <p:cNvSpPr/>
          <p:nvPr/>
        </p:nvSpPr>
        <p:spPr>
          <a:xfrm>
            <a:off x="2263064" y="1826433"/>
            <a:ext cx="1056715" cy="259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5213F"/>
                </a:solidFill>
                <a:latin typeface="Arial"/>
                <a:ea typeface="Arial"/>
                <a:cs typeface="Arial"/>
                <a:sym typeface="Arial"/>
              </a:rPr>
              <a:t>Augmented</a:t>
            </a:r>
            <a:endParaRPr sz="1400" b="0" i="0" u="none" strike="noStrike" cap="none" dirty="0"/>
          </a:p>
        </p:txBody>
      </p:sp>
      <p:pic>
        <p:nvPicPr>
          <p:cNvPr id="39" name="Google Shape;30;p4" descr="preencoded.png">
            <a:extLst>
              <a:ext uri="{FF2B5EF4-FFF2-40B4-BE49-F238E27FC236}">
                <a16:creationId xmlns:a16="http://schemas.microsoft.com/office/drawing/2014/main" id="{6490EF6F-74CB-E4A8-E8CF-6FD49D00CCA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2222" y="2058229"/>
            <a:ext cx="6266329" cy="4824817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31;p4">
            <a:extLst>
              <a:ext uri="{FF2B5EF4-FFF2-40B4-BE49-F238E27FC236}">
                <a16:creationId xmlns:a16="http://schemas.microsoft.com/office/drawing/2014/main" id="{75D66A11-A6B4-A967-6055-412F330E22BA}"/>
              </a:ext>
            </a:extLst>
          </p:cNvPr>
          <p:cNvSpPr/>
          <p:nvPr/>
        </p:nvSpPr>
        <p:spPr>
          <a:xfrm>
            <a:off x="1769266" y="3642550"/>
            <a:ext cx="3492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Arial"/>
              <a:buNone/>
            </a:pPr>
            <a:r>
              <a:rPr lang="en-US" sz="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0.48</a:t>
            </a:r>
            <a:endParaRPr sz="550" b="0" i="0" u="none" strike="noStrike" cap="none"/>
          </a:p>
        </p:txBody>
      </p:sp>
      <p:sp>
        <p:nvSpPr>
          <p:cNvPr id="41" name="Google Shape;32;p4">
            <a:extLst>
              <a:ext uri="{FF2B5EF4-FFF2-40B4-BE49-F238E27FC236}">
                <a16:creationId xmlns:a16="http://schemas.microsoft.com/office/drawing/2014/main" id="{18A44C00-AA3B-8EFF-D72C-916B1EBC82F0}"/>
              </a:ext>
            </a:extLst>
          </p:cNvPr>
          <p:cNvSpPr/>
          <p:nvPr/>
        </p:nvSpPr>
        <p:spPr>
          <a:xfrm>
            <a:off x="2992246" y="4046575"/>
            <a:ext cx="2652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Arial"/>
              <a:buNone/>
            </a:pPr>
            <a:r>
              <a:rPr lang="en-US" sz="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0.38</a:t>
            </a:r>
            <a:endParaRPr sz="550" b="0" i="0" u="none" strike="noStrike" cap="none"/>
          </a:p>
        </p:txBody>
      </p:sp>
      <p:sp>
        <p:nvSpPr>
          <p:cNvPr id="42" name="Google Shape;33;p4">
            <a:extLst>
              <a:ext uri="{FF2B5EF4-FFF2-40B4-BE49-F238E27FC236}">
                <a16:creationId xmlns:a16="http://schemas.microsoft.com/office/drawing/2014/main" id="{D559A399-7397-FFD6-D645-FF774BC23E2C}"/>
              </a:ext>
            </a:extLst>
          </p:cNvPr>
          <p:cNvSpPr/>
          <p:nvPr/>
        </p:nvSpPr>
        <p:spPr>
          <a:xfrm>
            <a:off x="4108772" y="4046550"/>
            <a:ext cx="1950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Arial"/>
              <a:buNone/>
            </a:pPr>
            <a:r>
              <a:rPr lang="en-US" sz="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  <a:endParaRPr sz="550" b="0" i="0" u="none" strike="noStrike" cap="none"/>
          </a:p>
        </p:txBody>
      </p:sp>
      <p:sp>
        <p:nvSpPr>
          <p:cNvPr id="43" name="Google Shape;34;p4">
            <a:extLst>
              <a:ext uri="{FF2B5EF4-FFF2-40B4-BE49-F238E27FC236}">
                <a16:creationId xmlns:a16="http://schemas.microsoft.com/office/drawing/2014/main" id="{8E64BF57-C769-8734-C767-F9F2AB533BBD}"/>
              </a:ext>
            </a:extLst>
          </p:cNvPr>
          <p:cNvSpPr/>
          <p:nvPr/>
        </p:nvSpPr>
        <p:spPr>
          <a:xfrm>
            <a:off x="6635675" y="4081010"/>
            <a:ext cx="1950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Arial"/>
              <a:buNone/>
            </a:pPr>
            <a:r>
              <a:rPr lang="en-US" sz="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0.52</a:t>
            </a:r>
            <a:endParaRPr sz="550" b="0" i="0" u="none" strike="noStrike" cap="none"/>
          </a:p>
        </p:txBody>
      </p:sp>
      <p:sp>
        <p:nvSpPr>
          <p:cNvPr id="44" name="Google Shape;35;p4">
            <a:extLst>
              <a:ext uri="{FF2B5EF4-FFF2-40B4-BE49-F238E27FC236}">
                <a16:creationId xmlns:a16="http://schemas.microsoft.com/office/drawing/2014/main" id="{D8CFE21B-D9EF-A7FB-7784-C5B254132A27}"/>
              </a:ext>
            </a:extLst>
          </p:cNvPr>
          <p:cNvSpPr/>
          <p:nvPr/>
        </p:nvSpPr>
        <p:spPr>
          <a:xfrm>
            <a:off x="7430724" y="1342792"/>
            <a:ext cx="3774300" cy="241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en-US" sz="1600" b="1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Macro</a:t>
            </a:r>
            <a:r>
              <a:rPr lang="en-US" sz="1400" b="1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F1</a:t>
            </a:r>
            <a:endParaRPr sz="1400" b="0" i="0" u="none" strike="noStrike" cap="none" dirty="0"/>
          </a:p>
        </p:txBody>
      </p:sp>
      <p:pic>
        <p:nvPicPr>
          <p:cNvPr id="51" name="Google Shape;42;p4" descr="preencoded.png">
            <a:extLst>
              <a:ext uri="{FF2B5EF4-FFF2-40B4-BE49-F238E27FC236}">
                <a16:creationId xmlns:a16="http://schemas.microsoft.com/office/drawing/2014/main" id="{489136CE-BC8A-B5C8-13C1-6F232B99882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21614" y="1997881"/>
            <a:ext cx="6717649" cy="4861117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24;p4">
            <a:extLst>
              <a:ext uri="{FF2B5EF4-FFF2-40B4-BE49-F238E27FC236}">
                <a16:creationId xmlns:a16="http://schemas.microsoft.com/office/drawing/2014/main" id="{E8794A0C-4FB4-13FC-002A-EB995019F155}"/>
              </a:ext>
            </a:extLst>
          </p:cNvPr>
          <p:cNvSpPr/>
          <p:nvPr/>
        </p:nvSpPr>
        <p:spPr>
          <a:xfrm>
            <a:off x="2031538" y="1860621"/>
            <a:ext cx="1288241" cy="228001"/>
          </a:xfrm>
          <a:prstGeom prst="roundRect">
            <a:avLst>
              <a:gd name="adj" fmla="val 77044"/>
            </a:avLst>
          </a:prstGeom>
          <a:solidFill>
            <a:srgbClr val="FFFFFF">
              <a:alpha val="2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24;p4">
            <a:extLst>
              <a:ext uri="{FF2B5EF4-FFF2-40B4-BE49-F238E27FC236}">
                <a16:creationId xmlns:a16="http://schemas.microsoft.com/office/drawing/2014/main" id="{1800D584-F222-C628-8892-9F03D39C3714}"/>
              </a:ext>
            </a:extLst>
          </p:cNvPr>
          <p:cNvSpPr/>
          <p:nvPr/>
        </p:nvSpPr>
        <p:spPr>
          <a:xfrm>
            <a:off x="7467562" y="1854638"/>
            <a:ext cx="1288241" cy="228001"/>
          </a:xfrm>
          <a:prstGeom prst="roundRect">
            <a:avLst>
              <a:gd name="adj" fmla="val 77044"/>
            </a:avLst>
          </a:prstGeom>
          <a:solidFill>
            <a:srgbClr val="FFFFFF">
              <a:alpha val="2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25;p4" descr="preencoded.png">
            <a:extLst>
              <a:ext uri="{FF2B5EF4-FFF2-40B4-BE49-F238E27FC236}">
                <a16:creationId xmlns:a16="http://schemas.microsoft.com/office/drawing/2014/main" id="{FE4044E8-E256-F310-7783-3D857A8237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0962" y="1917356"/>
            <a:ext cx="154857" cy="1158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26;p4">
            <a:extLst>
              <a:ext uri="{FF2B5EF4-FFF2-40B4-BE49-F238E27FC236}">
                <a16:creationId xmlns:a16="http://schemas.microsoft.com/office/drawing/2014/main" id="{2DA702F6-F25A-C1EB-EFF2-E6403B324457}"/>
              </a:ext>
            </a:extLst>
          </p:cNvPr>
          <p:cNvSpPr/>
          <p:nvPr/>
        </p:nvSpPr>
        <p:spPr>
          <a:xfrm>
            <a:off x="7827975" y="1817658"/>
            <a:ext cx="796471" cy="234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5213F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sz="1400" b="0" i="0" u="none" strike="noStrike" cap="none" dirty="0"/>
          </a:p>
        </p:txBody>
      </p:sp>
      <p:pic>
        <p:nvPicPr>
          <p:cNvPr id="57" name="Google Shape;28;p4" descr="preencoded.png">
            <a:extLst>
              <a:ext uri="{FF2B5EF4-FFF2-40B4-BE49-F238E27FC236}">
                <a16:creationId xmlns:a16="http://schemas.microsoft.com/office/drawing/2014/main" id="{0856B81B-4276-0167-52AB-3A3B5C74D0B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72631" y="1916936"/>
            <a:ext cx="154175" cy="10836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29;p4">
            <a:extLst>
              <a:ext uri="{FF2B5EF4-FFF2-40B4-BE49-F238E27FC236}">
                <a16:creationId xmlns:a16="http://schemas.microsoft.com/office/drawing/2014/main" id="{1DB8CED0-5C3F-7462-42B7-5FE351591591}"/>
              </a:ext>
            </a:extLst>
          </p:cNvPr>
          <p:cNvSpPr/>
          <p:nvPr/>
        </p:nvSpPr>
        <p:spPr>
          <a:xfrm>
            <a:off x="9048201" y="1809993"/>
            <a:ext cx="1056715" cy="259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5213F"/>
                </a:solidFill>
                <a:latin typeface="Arial"/>
                <a:ea typeface="Arial"/>
                <a:cs typeface="Arial"/>
                <a:sym typeface="Arial"/>
              </a:rPr>
              <a:t>Augmented</a:t>
            </a:r>
            <a:endParaRPr sz="1400" b="0" i="0" u="none" strike="noStrike" cap="none" dirty="0"/>
          </a:p>
        </p:txBody>
      </p:sp>
      <p:sp>
        <p:nvSpPr>
          <p:cNvPr id="59" name="Google Shape;24;p4">
            <a:extLst>
              <a:ext uri="{FF2B5EF4-FFF2-40B4-BE49-F238E27FC236}">
                <a16:creationId xmlns:a16="http://schemas.microsoft.com/office/drawing/2014/main" id="{6358A805-88DB-7193-D668-733AD1666861}"/>
              </a:ext>
            </a:extLst>
          </p:cNvPr>
          <p:cNvSpPr/>
          <p:nvPr/>
        </p:nvSpPr>
        <p:spPr>
          <a:xfrm>
            <a:off x="8816675" y="1844181"/>
            <a:ext cx="1288241" cy="228001"/>
          </a:xfrm>
          <a:prstGeom prst="roundRect">
            <a:avLst>
              <a:gd name="adj" fmla="val 77044"/>
            </a:avLst>
          </a:prstGeom>
          <a:solidFill>
            <a:srgbClr val="FFFFFF">
              <a:alpha val="2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628277-ED78-29FD-6FCE-42FE72D1A68A}"/>
              </a:ext>
            </a:extLst>
          </p:cNvPr>
          <p:cNvSpPr txBox="1"/>
          <p:nvPr/>
        </p:nvSpPr>
        <p:spPr>
          <a:xfrm>
            <a:off x="812647" y="4253935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0,42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ABEE83-0487-C5DC-AD7A-D49BD8CF5253}"/>
              </a:ext>
            </a:extLst>
          </p:cNvPr>
          <p:cNvSpPr txBox="1"/>
          <p:nvPr/>
        </p:nvSpPr>
        <p:spPr>
          <a:xfrm>
            <a:off x="1255345" y="4270422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0,48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0E0742-1543-26BE-0B2A-9B69C7A6530E}"/>
              </a:ext>
            </a:extLst>
          </p:cNvPr>
          <p:cNvSpPr txBox="1"/>
          <p:nvPr/>
        </p:nvSpPr>
        <p:spPr>
          <a:xfrm>
            <a:off x="1970216" y="4270422"/>
            <a:ext cx="383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DBA761-0DC0-F58F-AD59-44BB3EAE07C8}"/>
              </a:ext>
            </a:extLst>
          </p:cNvPr>
          <p:cNvSpPr txBox="1"/>
          <p:nvPr/>
        </p:nvSpPr>
        <p:spPr>
          <a:xfrm>
            <a:off x="2408038" y="4270422"/>
            <a:ext cx="4651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0,45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24D6CF-87DC-07B7-C42D-A3763AA45134}"/>
              </a:ext>
            </a:extLst>
          </p:cNvPr>
          <p:cNvSpPr txBox="1"/>
          <p:nvPr/>
        </p:nvSpPr>
        <p:spPr>
          <a:xfrm>
            <a:off x="3117861" y="4270422"/>
            <a:ext cx="468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0,38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6B451E3-9FBB-9A77-E090-725493B66091}"/>
              </a:ext>
            </a:extLst>
          </p:cNvPr>
          <p:cNvSpPr txBox="1"/>
          <p:nvPr/>
        </p:nvSpPr>
        <p:spPr>
          <a:xfrm>
            <a:off x="3568575" y="4270422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0,46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5CC1DF0-6F86-5E3A-AD2E-93E40ABCABB0}"/>
              </a:ext>
            </a:extLst>
          </p:cNvPr>
          <p:cNvSpPr txBox="1"/>
          <p:nvPr/>
        </p:nvSpPr>
        <p:spPr>
          <a:xfrm>
            <a:off x="4310416" y="4242158"/>
            <a:ext cx="468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0,36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0C89D6B-8272-8814-3274-61CC064703C7}"/>
              </a:ext>
            </a:extLst>
          </p:cNvPr>
          <p:cNvSpPr txBox="1"/>
          <p:nvPr/>
        </p:nvSpPr>
        <p:spPr>
          <a:xfrm>
            <a:off x="4748238" y="4242158"/>
            <a:ext cx="383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0,5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F39302B-455B-59FA-4E99-916CDA74DC8F}"/>
              </a:ext>
            </a:extLst>
          </p:cNvPr>
          <p:cNvSpPr txBox="1"/>
          <p:nvPr/>
        </p:nvSpPr>
        <p:spPr>
          <a:xfrm>
            <a:off x="5458061" y="4242158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0,42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246F5EE-3FA8-DDC9-06F7-A700DEA9345D}"/>
              </a:ext>
            </a:extLst>
          </p:cNvPr>
          <p:cNvSpPr txBox="1"/>
          <p:nvPr/>
        </p:nvSpPr>
        <p:spPr>
          <a:xfrm>
            <a:off x="5908775" y="4242158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0,52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F1EEB9-1D35-3C9D-7CB8-84C35449C1D9}"/>
              </a:ext>
            </a:extLst>
          </p:cNvPr>
          <p:cNvSpPr txBox="1"/>
          <p:nvPr/>
        </p:nvSpPr>
        <p:spPr>
          <a:xfrm>
            <a:off x="7720066" y="4275834"/>
            <a:ext cx="474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0,44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C6C8DDC-75E7-8607-631C-70463A2E2976}"/>
              </a:ext>
            </a:extLst>
          </p:cNvPr>
          <p:cNvSpPr txBox="1"/>
          <p:nvPr/>
        </p:nvSpPr>
        <p:spPr>
          <a:xfrm>
            <a:off x="8162764" y="4292321"/>
            <a:ext cx="474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0,45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CFD8E4D-2358-CD9D-9070-72D1CEBECC11}"/>
              </a:ext>
            </a:extLst>
          </p:cNvPr>
          <p:cNvSpPr txBox="1"/>
          <p:nvPr/>
        </p:nvSpPr>
        <p:spPr>
          <a:xfrm>
            <a:off x="8995112" y="428994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0,33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1F8DD96-BE2C-2B01-0A01-E21D62495B23}"/>
              </a:ext>
            </a:extLst>
          </p:cNvPr>
          <p:cNvSpPr txBox="1"/>
          <p:nvPr/>
        </p:nvSpPr>
        <p:spPr>
          <a:xfrm>
            <a:off x="9416128" y="4289941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0,46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3E1A00C-253D-FA53-F747-3FDBCFD716B6}"/>
              </a:ext>
            </a:extLst>
          </p:cNvPr>
          <p:cNvSpPr txBox="1"/>
          <p:nvPr/>
        </p:nvSpPr>
        <p:spPr>
          <a:xfrm>
            <a:off x="10207705" y="4288494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0,40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2F733AC-4BFD-6A0B-899F-B4AC9469D812}"/>
              </a:ext>
            </a:extLst>
          </p:cNvPr>
          <p:cNvSpPr txBox="1"/>
          <p:nvPr/>
        </p:nvSpPr>
        <p:spPr>
          <a:xfrm>
            <a:off x="10660849" y="4288494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0,46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D2B55EF-800E-199C-F70C-7071BD365AEB}"/>
              </a:ext>
            </a:extLst>
          </p:cNvPr>
          <p:cNvSpPr txBox="1"/>
          <p:nvPr/>
        </p:nvSpPr>
        <p:spPr>
          <a:xfrm>
            <a:off x="11429075" y="427042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0,35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8103A5-9C34-4CAD-30D3-65C79DD74067}"/>
              </a:ext>
            </a:extLst>
          </p:cNvPr>
          <p:cNvSpPr txBox="1"/>
          <p:nvPr/>
        </p:nvSpPr>
        <p:spPr>
          <a:xfrm>
            <a:off x="11934537" y="4277582"/>
            <a:ext cx="471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0,44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5DA1218-0017-B483-04CF-357B7A605718}"/>
              </a:ext>
            </a:extLst>
          </p:cNvPr>
          <p:cNvSpPr txBox="1"/>
          <p:nvPr/>
        </p:nvSpPr>
        <p:spPr>
          <a:xfrm>
            <a:off x="12652556" y="4278346"/>
            <a:ext cx="468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0,39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05C6244-FA84-F8AC-678B-29D066B358CA}"/>
              </a:ext>
            </a:extLst>
          </p:cNvPr>
          <p:cNvSpPr txBox="1"/>
          <p:nvPr/>
        </p:nvSpPr>
        <p:spPr>
          <a:xfrm>
            <a:off x="13143590" y="4276735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0,46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>
            <a:extLst>
              <a:ext uri="{FF2B5EF4-FFF2-40B4-BE49-F238E27FC236}">
                <a16:creationId xmlns:a16="http://schemas.microsoft.com/office/drawing/2014/main" id="{43F4C63D-856F-7B77-C12B-EB42EFCD75A3}"/>
              </a:ext>
            </a:extLst>
          </p:cNvPr>
          <p:cNvSpPr/>
          <p:nvPr/>
        </p:nvSpPr>
        <p:spPr>
          <a:xfrm>
            <a:off x="834628" y="618173"/>
            <a:ext cx="12961025" cy="117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Prompt-based классификация: матрица экспериментов</a:t>
            </a:r>
            <a:endParaRPr lang="en-US" sz="3650" dirty="0"/>
          </a:p>
        </p:txBody>
      </p:sp>
      <p:sp>
        <p:nvSpPr>
          <p:cNvPr id="101" name="Text 1">
            <a:extLst>
              <a:ext uri="{FF2B5EF4-FFF2-40B4-BE49-F238E27FC236}">
                <a16:creationId xmlns:a16="http://schemas.microsoft.com/office/drawing/2014/main" id="{88D396A0-3F39-0E23-A745-3F412FE35C91}"/>
              </a:ext>
            </a:extLst>
          </p:cNvPr>
          <p:cNvSpPr/>
          <p:nvPr/>
        </p:nvSpPr>
        <p:spPr>
          <a:xfrm>
            <a:off x="834628" y="2103239"/>
            <a:ext cx="1296102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русскоязычных моделей, 4 режима few-shot. Для каждого из 36 классов — автоматически сгенерированное описание. Реализован </a:t>
            </a: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5-уровневый парсер ответов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для моделей, генерирующих пояснения вместо метки.</a:t>
            </a:r>
            <a:endParaRPr lang="en-US" sz="1450" dirty="0"/>
          </a:p>
        </p:txBody>
      </p:sp>
      <p:sp>
        <p:nvSpPr>
          <p:cNvPr id="102" name="Shape 2">
            <a:extLst>
              <a:ext uri="{FF2B5EF4-FFF2-40B4-BE49-F238E27FC236}">
                <a16:creationId xmlns:a16="http://schemas.microsoft.com/office/drawing/2014/main" id="{CE72836C-C675-898A-7EAB-DD0EB4C54F0A}"/>
              </a:ext>
            </a:extLst>
          </p:cNvPr>
          <p:cNvSpPr/>
          <p:nvPr/>
        </p:nvSpPr>
        <p:spPr>
          <a:xfrm>
            <a:off x="834628" y="2827496"/>
            <a:ext cx="12961025" cy="3884771"/>
          </a:xfrm>
          <a:prstGeom prst="roundRect">
            <a:avLst>
              <a:gd name="adj" fmla="val 72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3" name="Shape 3">
            <a:extLst>
              <a:ext uri="{FF2B5EF4-FFF2-40B4-BE49-F238E27FC236}">
                <a16:creationId xmlns:a16="http://schemas.microsoft.com/office/drawing/2014/main" id="{3ADABFC1-FBED-C415-18F3-9900EA821907}"/>
              </a:ext>
            </a:extLst>
          </p:cNvPr>
          <p:cNvSpPr/>
          <p:nvPr/>
        </p:nvSpPr>
        <p:spPr>
          <a:xfrm>
            <a:off x="842248" y="2835116"/>
            <a:ext cx="12945785" cy="13936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4" name="Text 4">
            <a:extLst>
              <a:ext uri="{FF2B5EF4-FFF2-40B4-BE49-F238E27FC236}">
                <a16:creationId xmlns:a16="http://schemas.microsoft.com/office/drawing/2014/main" id="{9EFED1BA-F04E-E830-8C79-BEF5BF72BA9C}"/>
              </a:ext>
            </a:extLst>
          </p:cNvPr>
          <p:cNvSpPr/>
          <p:nvPr/>
        </p:nvSpPr>
        <p:spPr>
          <a:xfrm>
            <a:off x="1030486" y="2935962"/>
            <a:ext cx="178129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Модель</a:t>
            </a:r>
            <a:endParaRPr lang="en-US" sz="1450" dirty="0"/>
          </a:p>
        </p:txBody>
      </p:sp>
      <p:sp>
        <p:nvSpPr>
          <p:cNvPr id="105" name="Text 5">
            <a:extLst>
              <a:ext uri="{FF2B5EF4-FFF2-40B4-BE49-F238E27FC236}">
                <a16:creationId xmlns:a16="http://schemas.microsoft.com/office/drawing/2014/main" id="{E23EF834-FC4A-70E6-AB62-EF0582749D86}"/>
              </a:ext>
            </a:extLst>
          </p:cNvPr>
          <p:cNvSpPr/>
          <p:nvPr/>
        </p:nvSpPr>
        <p:spPr>
          <a:xfrm>
            <a:off x="3194923" y="2935962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0-shot</a:t>
            </a:r>
            <a:endParaRPr lang="en-US" sz="1450" dirty="0"/>
          </a:p>
        </p:txBody>
      </p:sp>
      <p:sp>
        <p:nvSpPr>
          <p:cNvPr id="106" name="Text 6">
            <a:extLst>
              <a:ext uri="{FF2B5EF4-FFF2-40B4-BE49-F238E27FC236}">
                <a16:creationId xmlns:a16="http://schemas.microsoft.com/office/drawing/2014/main" id="{C961BE77-5FA4-6F7F-CBEF-7BD7FEF34CDA}"/>
              </a:ext>
            </a:extLst>
          </p:cNvPr>
          <p:cNvSpPr/>
          <p:nvPr/>
        </p:nvSpPr>
        <p:spPr>
          <a:xfrm>
            <a:off x="4991695" y="2935962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1-shot</a:t>
            </a:r>
            <a:endParaRPr lang="en-US" sz="1450" dirty="0"/>
          </a:p>
        </p:txBody>
      </p:sp>
      <p:sp>
        <p:nvSpPr>
          <p:cNvPr id="107" name="Text 7">
            <a:extLst>
              <a:ext uri="{FF2B5EF4-FFF2-40B4-BE49-F238E27FC236}">
                <a16:creationId xmlns:a16="http://schemas.microsoft.com/office/drawing/2014/main" id="{CAC4D436-B2A2-086D-AC62-41EFE578B2E7}"/>
              </a:ext>
            </a:extLst>
          </p:cNvPr>
          <p:cNvSpPr/>
          <p:nvPr/>
        </p:nvSpPr>
        <p:spPr>
          <a:xfrm>
            <a:off x="6788468" y="2935962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3-shot</a:t>
            </a:r>
            <a:endParaRPr lang="en-US" sz="1450" dirty="0"/>
          </a:p>
        </p:txBody>
      </p:sp>
      <p:sp>
        <p:nvSpPr>
          <p:cNvPr id="108" name="Text 8">
            <a:extLst>
              <a:ext uri="{FF2B5EF4-FFF2-40B4-BE49-F238E27FC236}">
                <a16:creationId xmlns:a16="http://schemas.microsoft.com/office/drawing/2014/main" id="{28D7691B-C57C-2C63-0201-49A676FFD5A8}"/>
              </a:ext>
            </a:extLst>
          </p:cNvPr>
          <p:cNvSpPr/>
          <p:nvPr/>
        </p:nvSpPr>
        <p:spPr>
          <a:xfrm>
            <a:off x="8136017" y="2935962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3s-nd</a:t>
            </a:r>
            <a:endParaRPr lang="en-US" sz="1450" dirty="0"/>
          </a:p>
        </p:txBody>
      </p:sp>
      <p:sp>
        <p:nvSpPr>
          <p:cNvPr id="109" name="Text 9">
            <a:extLst>
              <a:ext uri="{FF2B5EF4-FFF2-40B4-BE49-F238E27FC236}">
                <a16:creationId xmlns:a16="http://schemas.microsoft.com/office/drawing/2014/main" id="{481C24D0-A303-2AAE-6766-3F55C0249085}"/>
              </a:ext>
            </a:extLst>
          </p:cNvPr>
          <p:cNvSpPr/>
          <p:nvPr/>
        </p:nvSpPr>
        <p:spPr>
          <a:xfrm>
            <a:off x="8136017" y="3303865"/>
            <a:ext cx="1348978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без описаний классов</a:t>
            </a:r>
            <a:endParaRPr lang="en-US" sz="1450" dirty="0"/>
          </a:p>
        </p:txBody>
      </p:sp>
      <p:sp>
        <p:nvSpPr>
          <p:cNvPr id="110" name="Text 10">
            <a:extLst>
              <a:ext uri="{FF2B5EF4-FFF2-40B4-BE49-F238E27FC236}">
                <a16:creationId xmlns:a16="http://schemas.microsoft.com/office/drawing/2014/main" id="{3518C42A-DCB4-87AB-C4F2-0CDD0C6A03E0}"/>
              </a:ext>
            </a:extLst>
          </p:cNvPr>
          <p:cNvSpPr/>
          <p:nvPr/>
        </p:nvSpPr>
        <p:spPr>
          <a:xfrm>
            <a:off x="9868138" y="2935962"/>
            <a:ext cx="1672590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5s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короткие примеры + описания</a:t>
            </a:r>
            <a:endParaRPr lang="en-US" sz="1450" dirty="0"/>
          </a:p>
        </p:txBody>
      </p:sp>
      <p:sp>
        <p:nvSpPr>
          <p:cNvPr id="111" name="Text 11">
            <a:extLst>
              <a:ext uri="{FF2B5EF4-FFF2-40B4-BE49-F238E27FC236}">
                <a16:creationId xmlns:a16="http://schemas.microsoft.com/office/drawing/2014/main" id="{23CC8A32-FD46-7957-571E-B7FED68B10F8}"/>
              </a:ext>
            </a:extLst>
          </p:cNvPr>
          <p:cNvSpPr/>
          <p:nvPr/>
        </p:nvSpPr>
        <p:spPr>
          <a:xfrm>
            <a:off x="11923871" y="2935962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5s-nd</a:t>
            </a:r>
            <a:endParaRPr lang="en-US" sz="1450" dirty="0"/>
          </a:p>
        </p:txBody>
      </p:sp>
      <p:sp>
        <p:nvSpPr>
          <p:cNvPr id="112" name="Text 12">
            <a:extLst>
              <a:ext uri="{FF2B5EF4-FFF2-40B4-BE49-F238E27FC236}">
                <a16:creationId xmlns:a16="http://schemas.microsoft.com/office/drawing/2014/main" id="{3B374049-3904-2C29-699C-4339E1A46BF6}"/>
              </a:ext>
            </a:extLst>
          </p:cNvPr>
          <p:cNvSpPr/>
          <p:nvPr/>
        </p:nvSpPr>
        <p:spPr>
          <a:xfrm>
            <a:off x="11923871" y="3303865"/>
            <a:ext cx="1676400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короткие примеры, без описаний</a:t>
            </a:r>
            <a:endParaRPr lang="en-US" sz="1450" dirty="0"/>
          </a:p>
        </p:txBody>
      </p:sp>
      <p:sp>
        <p:nvSpPr>
          <p:cNvPr id="113" name="Shape 13">
            <a:extLst>
              <a:ext uri="{FF2B5EF4-FFF2-40B4-BE49-F238E27FC236}">
                <a16:creationId xmlns:a16="http://schemas.microsoft.com/office/drawing/2014/main" id="{1E23B5F9-7DFE-D45C-F8E7-E8B2F41086DC}"/>
              </a:ext>
            </a:extLst>
          </p:cNvPr>
          <p:cNvSpPr/>
          <p:nvPr/>
        </p:nvSpPr>
        <p:spPr>
          <a:xfrm>
            <a:off x="842248" y="4228743"/>
            <a:ext cx="12945785" cy="4951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4" name="Text 14">
            <a:extLst>
              <a:ext uri="{FF2B5EF4-FFF2-40B4-BE49-F238E27FC236}">
                <a16:creationId xmlns:a16="http://schemas.microsoft.com/office/drawing/2014/main" id="{4949D41A-752D-C5A1-1192-A6582F728C0E}"/>
              </a:ext>
            </a:extLst>
          </p:cNvPr>
          <p:cNvSpPr/>
          <p:nvPr/>
        </p:nvSpPr>
        <p:spPr>
          <a:xfrm>
            <a:off x="1030486" y="4329589"/>
            <a:ext cx="178129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saiga_8b</a:t>
            </a:r>
            <a:endParaRPr lang="en-US" sz="1800" dirty="0"/>
          </a:p>
        </p:txBody>
      </p:sp>
      <p:sp>
        <p:nvSpPr>
          <p:cNvPr id="115" name="Text 15">
            <a:extLst>
              <a:ext uri="{FF2B5EF4-FFF2-40B4-BE49-F238E27FC236}">
                <a16:creationId xmlns:a16="http://schemas.microsoft.com/office/drawing/2014/main" id="{EE3205C7-23C6-3712-75A5-5ECE17FD8CD4}"/>
              </a:ext>
            </a:extLst>
          </p:cNvPr>
          <p:cNvSpPr/>
          <p:nvPr/>
        </p:nvSpPr>
        <p:spPr>
          <a:xfrm>
            <a:off x="3194923" y="4329589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16" name="Text 16">
            <a:extLst>
              <a:ext uri="{FF2B5EF4-FFF2-40B4-BE49-F238E27FC236}">
                <a16:creationId xmlns:a16="http://schemas.microsoft.com/office/drawing/2014/main" id="{6B0C2AD1-30AD-BA0D-BED3-C4E70FE04BE8}"/>
              </a:ext>
            </a:extLst>
          </p:cNvPr>
          <p:cNvSpPr/>
          <p:nvPr/>
        </p:nvSpPr>
        <p:spPr>
          <a:xfrm>
            <a:off x="4991695" y="4329589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17" name="Text 17">
            <a:extLst>
              <a:ext uri="{FF2B5EF4-FFF2-40B4-BE49-F238E27FC236}">
                <a16:creationId xmlns:a16="http://schemas.microsoft.com/office/drawing/2014/main" id="{262F526C-DC7A-6972-6AD6-8307E6805E93}"/>
              </a:ext>
            </a:extLst>
          </p:cNvPr>
          <p:cNvSpPr/>
          <p:nvPr/>
        </p:nvSpPr>
        <p:spPr>
          <a:xfrm>
            <a:off x="6788468" y="4329589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450" dirty="0"/>
          </a:p>
        </p:txBody>
      </p:sp>
      <p:sp>
        <p:nvSpPr>
          <p:cNvPr id="118" name="Text 18">
            <a:extLst>
              <a:ext uri="{FF2B5EF4-FFF2-40B4-BE49-F238E27FC236}">
                <a16:creationId xmlns:a16="http://schemas.microsoft.com/office/drawing/2014/main" id="{FC9135E7-B453-32FC-B2D5-D1D7506E261C}"/>
              </a:ext>
            </a:extLst>
          </p:cNvPr>
          <p:cNvSpPr/>
          <p:nvPr/>
        </p:nvSpPr>
        <p:spPr>
          <a:xfrm>
            <a:off x="8136017" y="4329589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450" dirty="0"/>
          </a:p>
        </p:txBody>
      </p:sp>
      <p:sp>
        <p:nvSpPr>
          <p:cNvPr id="119" name="Text 19">
            <a:extLst>
              <a:ext uri="{FF2B5EF4-FFF2-40B4-BE49-F238E27FC236}">
                <a16:creationId xmlns:a16="http://schemas.microsoft.com/office/drawing/2014/main" id="{071C5E29-5A45-B72C-AF99-57D6A60F25D4}"/>
              </a:ext>
            </a:extLst>
          </p:cNvPr>
          <p:cNvSpPr/>
          <p:nvPr/>
        </p:nvSpPr>
        <p:spPr>
          <a:xfrm>
            <a:off x="9868138" y="4329589"/>
            <a:ext cx="167259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450" dirty="0"/>
          </a:p>
        </p:txBody>
      </p:sp>
      <p:sp>
        <p:nvSpPr>
          <p:cNvPr id="120" name="Text 20">
            <a:extLst>
              <a:ext uri="{FF2B5EF4-FFF2-40B4-BE49-F238E27FC236}">
                <a16:creationId xmlns:a16="http://schemas.microsoft.com/office/drawing/2014/main" id="{CDDE8F07-CC3C-6B16-0DD2-3B025E7279A6}"/>
              </a:ext>
            </a:extLst>
          </p:cNvPr>
          <p:cNvSpPr/>
          <p:nvPr/>
        </p:nvSpPr>
        <p:spPr>
          <a:xfrm>
            <a:off x="11923871" y="4329589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450" dirty="0"/>
          </a:p>
        </p:txBody>
      </p:sp>
      <p:sp>
        <p:nvSpPr>
          <p:cNvPr id="121" name="Shape 21">
            <a:extLst>
              <a:ext uri="{FF2B5EF4-FFF2-40B4-BE49-F238E27FC236}">
                <a16:creationId xmlns:a16="http://schemas.microsoft.com/office/drawing/2014/main" id="{FC095A41-07D1-5913-C7E4-70730CA26458}"/>
              </a:ext>
            </a:extLst>
          </p:cNvPr>
          <p:cNvSpPr/>
          <p:nvPr/>
        </p:nvSpPr>
        <p:spPr>
          <a:xfrm>
            <a:off x="842248" y="4723924"/>
            <a:ext cx="12945785" cy="4951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2" name="Text 22">
            <a:extLst>
              <a:ext uri="{FF2B5EF4-FFF2-40B4-BE49-F238E27FC236}">
                <a16:creationId xmlns:a16="http://schemas.microsoft.com/office/drawing/2014/main" id="{B8CBA40A-371F-1F51-146F-324CA7A8047F}"/>
              </a:ext>
            </a:extLst>
          </p:cNvPr>
          <p:cNvSpPr/>
          <p:nvPr/>
        </p:nvSpPr>
        <p:spPr>
          <a:xfrm>
            <a:off x="1030486" y="4824770"/>
            <a:ext cx="178129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t_lite_8b</a:t>
            </a:r>
            <a:endParaRPr lang="en-US" sz="1800" dirty="0"/>
          </a:p>
        </p:txBody>
      </p:sp>
      <p:sp>
        <p:nvSpPr>
          <p:cNvPr id="123" name="Text 23">
            <a:extLst>
              <a:ext uri="{FF2B5EF4-FFF2-40B4-BE49-F238E27FC236}">
                <a16:creationId xmlns:a16="http://schemas.microsoft.com/office/drawing/2014/main" id="{3058ECA0-ED7E-6300-261F-0B3FA76F4835}"/>
              </a:ext>
            </a:extLst>
          </p:cNvPr>
          <p:cNvSpPr/>
          <p:nvPr/>
        </p:nvSpPr>
        <p:spPr>
          <a:xfrm>
            <a:off x="3194923" y="4824770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4" name="Text 24">
            <a:extLst>
              <a:ext uri="{FF2B5EF4-FFF2-40B4-BE49-F238E27FC236}">
                <a16:creationId xmlns:a16="http://schemas.microsoft.com/office/drawing/2014/main" id="{69C41B86-A039-17EA-BA7D-BEC7E70FF1D4}"/>
              </a:ext>
            </a:extLst>
          </p:cNvPr>
          <p:cNvSpPr/>
          <p:nvPr/>
        </p:nvSpPr>
        <p:spPr>
          <a:xfrm>
            <a:off x="4991695" y="4824770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5" name="Text 25">
            <a:extLst>
              <a:ext uri="{FF2B5EF4-FFF2-40B4-BE49-F238E27FC236}">
                <a16:creationId xmlns:a16="http://schemas.microsoft.com/office/drawing/2014/main" id="{59A22A6D-7994-492C-99C4-DE3F93708ABA}"/>
              </a:ext>
            </a:extLst>
          </p:cNvPr>
          <p:cNvSpPr/>
          <p:nvPr/>
        </p:nvSpPr>
        <p:spPr>
          <a:xfrm>
            <a:off x="6788468" y="4824770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6" name="Text 26">
            <a:extLst>
              <a:ext uri="{FF2B5EF4-FFF2-40B4-BE49-F238E27FC236}">
                <a16:creationId xmlns:a16="http://schemas.microsoft.com/office/drawing/2014/main" id="{230DB53A-4476-22D7-3E46-47A4DD2D2D72}"/>
              </a:ext>
            </a:extLst>
          </p:cNvPr>
          <p:cNvSpPr/>
          <p:nvPr/>
        </p:nvSpPr>
        <p:spPr>
          <a:xfrm>
            <a:off x="8136017" y="4824770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7" name="Text 27">
            <a:extLst>
              <a:ext uri="{FF2B5EF4-FFF2-40B4-BE49-F238E27FC236}">
                <a16:creationId xmlns:a16="http://schemas.microsoft.com/office/drawing/2014/main" id="{5D79ACCE-1FC0-F890-47B4-6E5DD7A1D3FC}"/>
              </a:ext>
            </a:extLst>
          </p:cNvPr>
          <p:cNvSpPr/>
          <p:nvPr/>
        </p:nvSpPr>
        <p:spPr>
          <a:xfrm>
            <a:off x="9868138" y="4824770"/>
            <a:ext cx="167259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8" name="Text 28">
            <a:extLst>
              <a:ext uri="{FF2B5EF4-FFF2-40B4-BE49-F238E27FC236}">
                <a16:creationId xmlns:a16="http://schemas.microsoft.com/office/drawing/2014/main" id="{02777E0A-C9B1-6499-00DC-60D10F88A521}"/>
              </a:ext>
            </a:extLst>
          </p:cNvPr>
          <p:cNvSpPr/>
          <p:nvPr/>
        </p:nvSpPr>
        <p:spPr>
          <a:xfrm>
            <a:off x="11923871" y="4824770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9" name="Shape 29">
            <a:extLst>
              <a:ext uri="{FF2B5EF4-FFF2-40B4-BE49-F238E27FC236}">
                <a16:creationId xmlns:a16="http://schemas.microsoft.com/office/drawing/2014/main" id="{FE4B6044-4032-A7DB-3D16-A2C38DA10A3F}"/>
              </a:ext>
            </a:extLst>
          </p:cNvPr>
          <p:cNvSpPr/>
          <p:nvPr/>
        </p:nvSpPr>
        <p:spPr>
          <a:xfrm>
            <a:off x="842248" y="5219105"/>
            <a:ext cx="12945785" cy="4951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0" name="Text 30">
            <a:extLst>
              <a:ext uri="{FF2B5EF4-FFF2-40B4-BE49-F238E27FC236}">
                <a16:creationId xmlns:a16="http://schemas.microsoft.com/office/drawing/2014/main" id="{03340C1B-6B2C-0DDB-A844-5D9722E1165E}"/>
              </a:ext>
            </a:extLst>
          </p:cNvPr>
          <p:cNvSpPr/>
          <p:nvPr/>
        </p:nvSpPr>
        <p:spPr>
          <a:xfrm>
            <a:off x="1030486" y="5319951"/>
            <a:ext cx="178129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vikhr_12b</a:t>
            </a:r>
            <a:endParaRPr lang="en-US" sz="1800" dirty="0"/>
          </a:p>
        </p:txBody>
      </p:sp>
      <p:sp>
        <p:nvSpPr>
          <p:cNvPr id="131" name="Text 31">
            <a:extLst>
              <a:ext uri="{FF2B5EF4-FFF2-40B4-BE49-F238E27FC236}">
                <a16:creationId xmlns:a16="http://schemas.microsoft.com/office/drawing/2014/main" id="{69E2F90F-2C04-8C70-DA29-BB840C52B7F7}"/>
              </a:ext>
            </a:extLst>
          </p:cNvPr>
          <p:cNvSpPr/>
          <p:nvPr/>
        </p:nvSpPr>
        <p:spPr>
          <a:xfrm>
            <a:off x="3194923" y="5319951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2" name="Text 32">
            <a:extLst>
              <a:ext uri="{FF2B5EF4-FFF2-40B4-BE49-F238E27FC236}">
                <a16:creationId xmlns:a16="http://schemas.microsoft.com/office/drawing/2014/main" id="{8B14E819-F7AA-3037-55C6-930E60EF7D91}"/>
              </a:ext>
            </a:extLst>
          </p:cNvPr>
          <p:cNvSpPr/>
          <p:nvPr/>
        </p:nvSpPr>
        <p:spPr>
          <a:xfrm>
            <a:off x="4991695" y="5319951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3" name="Text 33">
            <a:extLst>
              <a:ext uri="{FF2B5EF4-FFF2-40B4-BE49-F238E27FC236}">
                <a16:creationId xmlns:a16="http://schemas.microsoft.com/office/drawing/2014/main" id="{5F29BABC-1337-4A8D-6841-3669F55C4667}"/>
              </a:ext>
            </a:extLst>
          </p:cNvPr>
          <p:cNvSpPr/>
          <p:nvPr/>
        </p:nvSpPr>
        <p:spPr>
          <a:xfrm>
            <a:off x="6788468" y="5319951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4" name="Text 34">
            <a:extLst>
              <a:ext uri="{FF2B5EF4-FFF2-40B4-BE49-F238E27FC236}">
                <a16:creationId xmlns:a16="http://schemas.microsoft.com/office/drawing/2014/main" id="{720C86DA-48B8-D506-0A09-E14864104187}"/>
              </a:ext>
            </a:extLst>
          </p:cNvPr>
          <p:cNvSpPr/>
          <p:nvPr/>
        </p:nvSpPr>
        <p:spPr>
          <a:xfrm>
            <a:off x="8136017" y="5319951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5" name="Text 35">
            <a:extLst>
              <a:ext uri="{FF2B5EF4-FFF2-40B4-BE49-F238E27FC236}">
                <a16:creationId xmlns:a16="http://schemas.microsoft.com/office/drawing/2014/main" id="{D39E4D75-3A34-5F68-B85F-BEEDAEA836B8}"/>
              </a:ext>
            </a:extLst>
          </p:cNvPr>
          <p:cNvSpPr/>
          <p:nvPr/>
        </p:nvSpPr>
        <p:spPr>
          <a:xfrm>
            <a:off x="9868138" y="5319951"/>
            <a:ext cx="167259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6" name="Text 36">
            <a:extLst>
              <a:ext uri="{FF2B5EF4-FFF2-40B4-BE49-F238E27FC236}">
                <a16:creationId xmlns:a16="http://schemas.microsoft.com/office/drawing/2014/main" id="{B37B0125-FCC7-B6AC-44CC-20652F0A5F50}"/>
              </a:ext>
            </a:extLst>
          </p:cNvPr>
          <p:cNvSpPr/>
          <p:nvPr/>
        </p:nvSpPr>
        <p:spPr>
          <a:xfrm>
            <a:off x="11923871" y="5319951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7" name="Shape 37">
            <a:extLst>
              <a:ext uri="{FF2B5EF4-FFF2-40B4-BE49-F238E27FC236}">
                <a16:creationId xmlns:a16="http://schemas.microsoft.com/office/drawing/2014/main" id="{A00B1153-DAEC-DEF8-022C-F1A82A572CA6}"/>
              </a:ext>
            </a:extLst>
          </p:cNvPr>
          <p:cNvSpPr/>
          <p:nvPr/>
        </p:nvSpPr>
        <p:spPr>
          <a:xfrm>
            <a:off x="842248" y="5714286"/>
            <a:ext cx="12945785" cy="4951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8" name="Text 38">
            <a:extLst>
              <a:ext uri="{FF2B5EF4-FFF2-40B4-BE49-F238E27FC236}">
                <a16:creationId xmlns:a16="http://schemas.microsoft.com/office/drawing/2014/main" id="{B15A35BE-F225-FCD5-7B1A-7127772B53B8}"/>
              </a:ext>
            </a:extLst>
          </p:cNvPr>
          <p:cNvSpPr/>
          <p:nvPr/>
        </p:nvSpPr>
        <p:spPr>
          <a:xfrm>
            <a:off x="1030486" y="5815132"/>
            <a:ext cx="178129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qwen_14b</a:t>
            </a:r>
            <a:endParaRPr lang="en-US" sz="1800" dirty="0"/>
          </a:p>
        </p:txBody>
      </p:sp>
      <p:sp>
        <p:nvSpPr>
          <p:cNvPr id="139" name="Text 39">
            <a:extLst>
              <a:ext uri="{FF2B5EF4-FFF2-40B4-BE49-F238E27FC236}">
                <a16:creationId xmlns:a16="http://schemas.microsoft.com/office/drawing/2014/main" id="{4B25A4CE-778B-ED1D-455F-93848F649149}"/>
              </a:ext>
            </a:extLst>
          </p:cNvPr>
          <p:cNvSpPr/>
          <p:nvPr/>
        </p:nvSpPr>
        <p:spPr>
          <a:xfrm>
            <a:off x="3194923" y="5815132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0" name="Text 40">
            <a:extLst>
              <a:ext uri="{FF2B5EF4-FFF2-40B4-BE49-F238E27FC236}">
                <a16:creationId xmlns:a16="http://schemas.microsoft.com/office/drawing/2014/main" id="{6D1B4892-B77C-61AB-4E77-BBAF5607A136}"/>
              </a:ext>
            </a:extLst>
          </p:cNvPr>
          <p:cNvSpPr/>
          <p:nvPr/>
        </p:nvSpPr>
        <p:spPr>
          <a:xfrm>
            <a:off x="4991695" y="5815132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1" name="Text 41">
            <a:extLst>
              <a:ext uri="{FF2B5EF4-FFF2-40B4-BE49-F238E27FC236}">
                <a16:creationId xmlns:a16="http://schemas.microsoft.com/office/drawing/2014/main" id="{2ED2A6FA-2119-A729-392A-314983BD3FC7}"/>
              </a:ext>
            </a:extLst>
          </p:cNvPr>
          <p:cNvSpPr/>
          <p:nvPr/>
        </p:nvSpPr>
        <p:spPr>
          <a:xfrm>
            <a:off x="6788468" y="5815132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2" name="Text 42">
            <a:extLst>
              <a:ext uri="{FF2B5EF4-FFF2-40B4-BE49-F238E27FC236}">
                <a16:creationId xmlns:a16="http://schemas.microsoft.com/office/drawing/2014/main" id="{E4218944-E569-2B7C-3018-9C4F4BE32215}"/>
              </a:ext>
            </a:extLst>
          </p:cNvPr>
          <p:cNvSpPr/>
          <p:nvPr/>
        </p:nvSpPr>
        <p:spPr>
          <a:xfrm>
            <a:off x="8136017" y="5815132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3" name="Text 43">
            <a:extLst>
              <a:ext uri="{FF2B5EF4-FFF2-40B4-BE49-F238E27FC236}">
                <a16:creationId xmlns:a16="http://schemas.microsoft.com/office/drawing/2014/main" id="{37970F95-31D1-E12F-A3DB-40699E1534AE}"/>
              </a:ext>
            </a:extLst>
          </p:cNvPr>
          <p:cNvSpPr/>
          <p:nvPr/>
        </p:nvSpPr>
        <p:spPr>
          <a:xfrm>
            <a:off x="9868138" y="5815132"/>
            <a:ext cx="167259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4" name="Text 44">
            <a:extLst>
              <a:ext uri="{FF2B5EF4-FFF2-40B4-BE49-F238E27FC236}">
                <a16:creationId xmlns:a16="http://schemas.microsoft.com/office/drawing/2014/main" id="{9284EF08-6E82-793A-F67A-C6DD97182003}"/>
              </a:ext>
            </a:extLst>
          </p:cNvPr>
          <p:cNvSpPr/>
          <p:nvPr/>
        </p:nvSpPr>
        <p:spPr>
          <a:xfrm>
            <a:off x="11923871" y="5815132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5" name="Shape 45">
            <a:extLst>
              <a:ext uri="{FF2B5EF4-FFF2-40B4-BE49-F238E27FC236}">
                <a16:creationId xmlns:a16="http://schemas.microsoft.com/office/drawing/2014/main" id="{FF357C45-3D0B-41C3-1769-DB0900184818}"/>
              </a:ext>
            </a:extLst>
          </p:cNvPr>
          <p:cNvSpPr/>
          <p:nvPr/>
        </p:nvSpPr>
        <p:spPr>
          <a:xfrm>
            <a:off x="842248" y="6209467"/>
            <a:ext cx="12945785" cy="4951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6" name="Text 46">
            <a:extLst>
              <a:ext uri="{FF2B5EF4-FFF2-40B4-BE49-F238E27FC236}">
                <a16:creationId xmlns:a16="http://schemas.microsoft.com/office/drawing/2014/main" id="{0000D414-CDAA-EA9F-A0B9-7B7B961D3E46}"/>
              </a:ext>
            </a:extLst>
          </p:cNvPr>
          <p:cNvSpPr/>
          <p:nvPr/>
        </p:nvSpPr>
        <p:spPr>
          <a:xfrm>
            <a:off x="1030486" y="6310313"/>
            <a:ext cx="178129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qwen_32b</a:t>
            </a:r>
            <a:endParaRPr lang="en-US" sz="1800" dirty="0"/>
          </a:p>
        </p:txBody>
      </p:sp>
      <p:sp>
        <p:nvSpPr>
          <p:cNvPr id="147" name="Text 47">
            <a:extLst>
              <a:ext uri="{FF2B5EF4-FFF2-40B4-BE49-F238E27FC236}">
                <a16:creationId xmlns:a16="http://schemas.microsoft.com/office/drawing/2014/main" id="{1689AD52-25F0-B9FA-701B-0AA3A0070AB2}"/>
              </a:ext>
            </a:extLst>
          </p:cNvPr>
          <p:cNvSpPr/>
          <p:nvPr/>
        </p:nvSpPr>
        <p:spPr>
          <a:xfrm>
            <a:off x="3194923" y="6310313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8" name="Text 48">
            <a:extLst>
              <a:ext uri="{FF2B5EF4-FFF2-40B4-BE49-F238E27FC236}">
                <a16:creationId xmlns:a16="http://schemas.microsoft.com/office/drawing/2014/main" id="{BA8A87F6-57F0-EEBB-24E1-94BA060CC2A4}"/>
              </a:ext>
            </a:extLst>
          </p:cNvPr>
          <p:cNvSpPr/>
          <p:nvPr/>
        </p:nvSpPr>
        <p:spPr>
          <a:xfrm>
            <a:off x="4991695" y="6310313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9" name="Text 49">
            <a:extLst>
              <a:ext uri="{FF2B5EF4-FFF2-40B4-BE49-F238E27FC236}">
                <a16:creationId xmlns:a16="http://schemas.microsoft.com/office/drawing/2014/main" id="{A5C55D16-BC46-4B27-2E89-19ED284D0BF7}"/>
              </a:ext>
            </a:extLst>
          </p:cNvPr>
          <p:cNvSpPr/>
          <p:nvPr/>
        </p:nvSpPr>
        <p:spPr>
          <a:xfrm>
            <a:off x="6788468" y="6310313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50" name="Text 50">
            <a:extLst>
              <a:ext uri="{FF2B5EF4-FFF2-40B4-BE49-F238E27FC236}">
                <a16:creationId xmlns:a16="http://schemas.microsoft.com/office/drawing/2014/main" id="{576EB646-6974-DE26-2F3E-4982FE888F45}"/>
              </a:ext>
            </a:extLst>
          </p:cNvPr>
          <p:cNvSpPr/>
          <p:nvPr/>
        </p:nvSpPr>
        <p:spPr>
          <a:xfrm>
            <a:off x="8136017" y="6310313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51" name="Text 51">
            <a:extLst>
              <a:ext uri="{FF2B5EF4-FFF2-40B4-BE49-F238E27FC236}">
                <a16:creationId xmlns:a16="http://schemas.microsoft.com/office/drawing/2014/main" id="{0F1F3764-50C6-633C-8BA3-272FF9584816}"/>
              </a:ext>
            </a:extLst>
          </p:cNvPr>
          <p:cNvSpPr/>
          <p:nvPr/>
        </p:nvSpPr>
        <p:spPr>
          <a:xfrm>
            <a:off x="9868138" y="6310313"/>
            <a:ext cx="167259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52" name="Text 52">
            <a:extLst>
              <a:ext uri="{FF2B5EF4-FFF2-40B4-BE49-F238E27FC236}">
                <a16:creationId xmlns:a16="http://schemas.microsoft.com/office/drawing/2014/main" id="{4A4FF74A-E626-6F81-3347-DFE7B2FB4B1A}"/>
              </a:ext>
            </a:extLst>
          </p:cNvPr>
          <p:cNvSpPr/>
          <p:nvPr/>
        </p:nvSpPr>
        <p:spPr>
          <a:xfrm>
            <a:off x="11923871" y="6310313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53" name="Text 53">
            <a:extLst>
              <a:ext uri="{FF2B5EF4-FFF2-40B4-BE49-F238E27FC236}">
                <a16:creationId xmlns:a16="http://schemas.microsoft.com/office/drawing/2014/main" id="{8B4E8199-85D8-26EB-7662-0EFEEF777E66}"/>
              </a:ext>
            </a:extLst>
          </p:cNvPr>
          <p:cNvSpPr/>
          <p:nvPr/>
        </p:nvSpPr>
        <p:spPr>
          <a:xfrm>
            <a:off x="834628" y="6887170"/>
            <a:ext cx="1296102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Saiga-8B — только 2 режима из-за ограниченного контекстного окна. </a:t>
            </a:r>
            <a:endParaRPr lang="en-US" sz="1450" dirty="0"/>
          </a:p>
        </p:txBody>
      </p:sp>
      <p:sp>
        <p:nvSpPr>
          <p:cNvPr id="154" name="Text 54">
            <a:extLst>
              <a:ext uri="{FF2B5EF4-FFF2-40B4-BE49-F238E27FC236}">
                <a16:creationId xmlns:a16="http://schemas.microsoft.com/office/drawing/2014/main" id="{493B32B6-2F66-6147-D924-9C9F4A08E608}"/>
              </a:ext>
            </a:extLst>
          </p:cNvPr>
          <p:cNvSpPr/>
          <p:nvPr/>
        </p:nvSpPr>
        <p:spPr>
          <a:xfrm>
            <a:off x="834628" y="7336750"/>
            <a:ext cx="1296102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 нехватке оригиналов в few-shot подмешивались аугментированные примеры.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97FF695-D0EF-80DC-B9DC-708D25D3B9B8}"/>
              </a:ext>
            </a:extLst>
          </p:cNvPr>
          <p:cNvSpPr/>
          <p:nvPr/>
        </p:nvSpPr>
        <p:spPr>
          <a:xfrm>
            <a:off x="706993" y="872133"/>
            <a:ext cx="13059608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Результаты prompt-based vs. классические методы</a:t>
            </a:r>
            <a:endParaRPr lang="en-US" sz="3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D4065D-F453-4D39-0EDB-4699800C2673}"/>
              </a:ext>
            </a:extLst>
          </p:cNvPr>
          <p:cNvSpPr/>
          <p:nvPr/>
        </p:nvSpPr>
        <p:spPr>
          <a:xfrm>
            <a:off x="706993" y="1863209"/>
            <a:ext cx="1321641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Лучший результат среди prompt-based — </a:t>
            </a: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Qwen 32B, K=3: Balanced Accuracy 0.38, Macro F1 0.26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Классические методы устойчиво выигрывают. Vikhr и T-lite деградируют при увеличении числа примеров.</a:t>
            </a:r>
            <a:endParaRPr lang="en-US" sz="155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DB7905E-3A24-7B1C-7FA6-618B1508E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62" y="2941913"/>
            <a:ext cx="6354129" cy="489032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B93F5C57-8A82-B910-490E-84F646691D67}"/>
              </a:ext>
            </a:extLst>
          </p:cNvPr>
          <p:cNvSpPr/>
          <p:nvPr/>
        </p:nvSpPr>
        <p:spPr>
          <a:xfrm>
            <a:off x="6207163" y="3374587"/>
            <a:ext cx="484094" cy="89375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" pitchFamily="2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0.52</a:t>
            </a:r>
            <a:endParaRPr lang="en-US" sz="1400" dirty="0">
              <a:latin typeface="Instrument Sans" pitchFamily="2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38E5968-A345-0628-99EF-2C99C09F7908}"/>
              </a:ext>
            </a:extLst>
          </p:cNvPr>
          <p:cNvSpPr/>
          <p:nvPr/>
        </p:nvSpPr>
        <p:spPr>
          <a:xfrm>
            <a:off x="4874499" y="3912837"/>
            <a:ext cx="740993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0.38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9B0F9D6-2DF0-84D7-8248-27271AF5DE1D}"/>
              </a:ext>
            </a:extLst>
          </p:cNvPr>
          <p:cNvSpPr/>
          <p:nvPr/>
        </p:nvSpPr>
        <p:spPr>
          <a:xfrm>
            <a:off x="7569279" y="2856547"/>
            <a:ext cx="304835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Ключевые наблюдения</a:t>
            </a:r>
            <a:endParaRPr lang="en-US" sz="195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D995A83D-A178-697E-CA98-9F8346D97D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5003" y="3384649"/>
            <a:ext cx="303014" cy="303014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D3886BCE-A5EC-A92E-59AD-4190512ED5F0}"/>
              </a:ext>
            </a:extLst>
          </p:cNvPr>
          <p:cNvSpPr/>
          <p:nvPr/>
        </p:nvSpPr>
        <p:spPr>
          <a:xfrm>
            <a:off x="8225671" y="3374588"/>
            <a:ext cx="5705356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Qwen 32B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лидер среди prompt-based, но отстаёт от rubert-base на </a:t>
            </a: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~14 п.п.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 Balanced Accuracy</a:t>
            </a:r>
            <a:endParaRPr lang="en-US" sz="1550" dirty="0"/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117CDB41-1255-0295-478F-9E7DB8C2C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5003" y="4360485"/>
            <a:ext cx="303014" cy="303014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FCFEF676-3893-9EA0-3BCA-C70C59A45772}"/>
              </a:ext>
            </a:extLst>
          </p:cNvPr>
          <p:cNvSpPr/>
          <p:nvPr/>
        </p:nvSpPr>
        <p:spPr>
          <a:xfrm>
            <a:off x="8225671" y="4350425"/>
            <a:ext cx="5705356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Vikhr и T-lite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резко деградируют при K≥3 — модели игнорируют метку и генерируют объяснения</a:t>
            </a:r>
            <a:endParaRPr lang="en-US" sz="1550" dirty="0"/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F9DF8E98-191F-518A-46B7-51FE69EC49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5003" y="5336322"/>
            <a:ext cx="303014" cy="303014"/>
          </a:xfrm>
          <a:prstGeom prst="rect">
            <a:avLst/>
          </a:prstGeom>
        </p:spPr>
      </p:pic>
      <p:sp>
        <p:nvSpPr>
          <p:cNvPr id="19" name="Text 13">
            <a:extLst>
              <a:ext uri="{FF2B5EF4-FFF2-40B4-BE49-F238E27FC236}">
                <a16:creationId xmlns:a16="http://schemas.microsoft.com/office/drawing/2014/main" id="{6CCB1714-A98B-ABD2-059E-BAA8A436FEB3}"/>
              </a:ext>
            </a:extLst>
          </p:cNvPr>
          <p:cNvSpPr/>
          <p:nvPr/>
        </p:nvSpPr>
        <p:spPr>
          <a:xfrm>
            <a:off x="8225671" y="5326261"/>
            <a:ext cx="5705356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Описания классов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помогают Qwen, но вредят Vikhr (режим 3s-nd хуже 3s)</a:t>
            </a:r>
            <a:endParaRPr lang="en-US" sz="1550" dirty="0"/>
          </a:p>
        </p:txBody>
      </p:sp>
      <p:pic>
        <p:nvPicPr>
          <p:cNvPr id="20" name="Image 4" descr="preencoded.png">
            <a:extLst>
              <a:ext uri="{FF2B5EF4-FFF2-40B4-BE49-F238E27FC236}">
                <a16:creationId xmlns:a16="http://schemas.microsoft.com/office/drawing/2014/main" id="{87AB10F6-4DDB-061A-14AC-31529C1C1D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5003" y="6312158"/>
            <a:ext cx="303014" cy="303014"/>
          </a:xfrm>
          <a:prstGeom prst="rect">
            <a:avLst/>
          </a:prstGeom>
        </p:spPr>
      </p:pic>
      <p:sp>
        <p:nvSpPr>
          <p:cNvPr id="21" name="Text 14">
            <a:extLst>
              <a:ext uri="{FF2B5EF4-FFF2-40B4-BE49-F238E27FC236}">
                <a16:creationId xmlns:a16="http://schemas.microsoft.com/office/drawing/2014/main" id="{2D56AFF5-9976-360D-F967-E2FCD4C0B5B0}"/>
              </a:ext>
            </a:extLst>
          </p:cNvPr>
          <p:cNvSpPr/>
          <p:nvPr/>
        </p:nvSpPr>
        <p:spPr>
          <a:xfrm>
            <a:off x="8225671" y="6302097"/>
            <a:ext cx="5705356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Prompt-based — </a:t>
            </a: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нежизнеспособная замена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дообучению на данном корпусе</a:t>
            </a:r>
            <a:endParaRPr lang="en-US" sz="155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240CF8F2-942B-024D-39AA-293A4E75D16F}"/>
              </a:ext>
            </a:extLst>
          </p:cNvPr>
          <p:cNvSpPr/>
          <p:nvPr/>
        </p:nvSpPr>
        <p:spPr>
          <a:xfrm>
            <a:off x="4683038" y="4479428"/>
            <a:ext cx="629660" cy="18407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0.36</a:t>
            </a: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7A2F55A-E7DB-0466-586F-C454D7D8A7B6}"/>
              </a:ext>
            </a:extLst>
          </p:cNvPr>
          <p:cNvSpPr/>
          <p:nvPr/>
        </p:nvSpPr>
        <p:spPr>
          <a:xfrm>
            <a:off x="4683038" y="5052023"/>
            <a:ext cx="629660" cy="18407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0.36</a:t>
            </a: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9EE57531-9D0D-7C18-8FAE-D122BE259E4C}"/>
              </a:ext>
            </a:extLst>
          </p:cNvPr>
          <p:cNvSpPr/>
          <p:nvPr/>
        </p:nvSpPr>
        <p:spPr>
          <a:xfrm>
            <a:off x="4244839" y="5595132"/>
            <a:ext cx="629660" cy="18407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0.32</a:t>
            </a: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304F13EC-46B5-C5F6-1D81-FA8BCE973EB6}"/>
              </a:ext>
            </a:extLst>
          </p:cNvPr>
          <p:cNvSpPr/>
          <p:nvPr/>
        </p:nvSpPr>
        <p:spPr>
          <a:xfrm>
            <a:off x="3313384" y="6118026"/>
            <a:ext cx="629660" cy="18407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0.22</a:t>
            </a: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FC0D863D-08AF-3438-E82D-90113F5954C1}"/>
              </a:ext>
            </a:extLst>
          </p:cNvPr>
          <p:cNvSpPr/>
          <p:nvPr/>
        </p:nvSpPr>
        <p:spPr>
          <a:xfrm>
            <a:off x="2940622" y="6677736"/>
            <a:ext cx="629660" cy="18407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0.18</a:t>
            </a:r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A2137526-E67B-4325-AA21-E4EFD9225E5E}"/>
              </a:ext>
            </a:extLst>
          </p:cNvPr>
          <p:cNvSpPr/>
          <p:nvPr/>
        </p:nvSpPr>
        <p:spPr>
          <a:xfrm>
            <a:off x="2292774" y="7221896"/>
            <a:ext cx="629660" cy="18407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0.11</a:t>
            </a:r>
          </a:p>
        </p:txBody>
      </p:sp>
    </p:spTree>
    <p:extLst>
      <p:ext uri="{BB962C8B-B14F-4D97-AF65-F5344CB8AC3E}">
        <p14:creationId xmlns:p14="http://schemas.microsoft.com/office/powerpoint/2010/main" val="3261285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">
            <a:extLst>
              <a:ext uri="{FF2B5EF4-FFF2-40B4-BE49-F238E27FC236}">
                <a16:creationId xmlns:a16="http://schemas.microsoft.com/office/drawing/2014/main" id="{369A9326-68E4-F8A0-952B-251D5186EB98}"/>
              </a:ext>
            </a:extLst>
          </p:cNvPr>
          <p:cNvSpPr/>
          <p:nvPr/>
        </p:nvSpPr>
        <p:spPr>
          <a:xfrm>
            <a:off x="793790" y="360000"/>
            <a:ext cx="12000000" cy="70000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buNone/>
            </a:pPr>
            <a:r>
              <a:rPr lang="ru-RU" sz="3550" dirty="0">
                <a:solidFill>
                  <a:srgbClr val="3257B8"/>
                </a:solidFill>
                <a:latin typeface="Roboto Slab" pitchFamily="34" charset="0"/>
              </a:rPr>
              <a:t>Текущий статус и план работ</a:t>
            </a:r>
          </a:p>
        </p:txBody>
      </p:sp>
      <p:sp>
        <p:nvSpPr>
          <p:cNvPr id="27" name="ProgressBG">
            <a:extLst>
              <a:ext uri="{FF2B5EF4-FFF2-40B4-BE49-F238E27FC236}">
                <a16:creationId xmlns:a16="http://schemas.microsoft.com/office/drawing/2014/main" id="{2FD9AE3E-3968-CA3B-A29C-789B616F3461}"/>
              </a:ext>
            </a:extLst>
          </p:cNvPr>
          <p:cNvSpPr/>
          <p:nvPr/>
        </p:nvSpPr>
        <p:spPr>
          <a:xfrm>
            <a:off x="793790" y="1250000"/>
            <a:ext cx="13042820" cy="120000"/>
          </a:xfrm>
          <a:prstGeom prst="roundRect">
            <a:avLst>
              <a:gd name="adj" fmla="val 50000"/>
            </a:avLst>
          </a:prstGeom>
          <a:solidFill>
            <a:srgbClr val="E8ECF5"/>
          </a:solidFill>
          <a:ln>
            <a:noFill/>
          </a:ln>
        </p:spPr>
      </p:sp>
      <p:sp>
        <p:nvSpPr>
          <p:cNvPr id="28" name="ProgressFill">
            <a:extLst>
              <a:ext uri="{FF2B5EF4-FFF2-40B4-BE49-F238E27FC236}">
                <a16:creationId xmlns:a16="http://schemas.microsoft.com/office/drawing/2014/main" id="{C1EF483B-0A56-ACDA-8494-3975B5091B9E}"/>
              </a:ext>
            </a:extLst>
          </p:cNvPr>
          <p:cNvSpPr/>
          <p:nvPr/>
        </p:nvSpPr>
        <p:spPr>
          <a:xfrm>
            <a:off x="793790" y="1250000"/>
            <a:ext cx="6521410" cy="120000"/>
          </a:xfrm>
          <a:prstGeom prst="roundRect">
            <a:avLst>
              <a:gd name="adj" fmla="val 50000"/>
            </a:avLst>
          </a:prstGeom>
          <a:solidFill>
            <a:srgbClr val="3257B8"/>
          </a:solidFill>
          <a:ln>
            <a:noFill/>
          </a:ln>
        </p:spPr>
      </p:sp>
      <p:sp>
        <p:nvSpPr>
          <p:cNvPr id="29" name="ProgressLabel">
            <a:extLst>
              <a:ext uri="{FF2B5EF4-FFF2-40B4-BE49-F238E27FC236}">
                <a16:creationId xmlns:a16="http://schemas.microsoft.com/office/drawing/2014/main" id="{566DFAF0-C773-3A4E-FEE1-52318773874C}"/>
              </a:ext>
            </a:extLst>
          </p:cNvPr>
          <p:cNvSpPr/>
          <p:nvPr/>
        </p:nvSpPr>
        <p:spPr>
          <a:xfrm>
            <a:off x="11436610" y="1060000"/>
            <a:ext cx="2400000" cy="3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algn="r">
              <a:buNone/>
            </a:pPr>
            <a:r>
              <a:rPr lang="ru-RU" sz="1400" b="1" dirty="0">
                <a:solidFill>
                  <a:srgbClr val="3257B8"/>
                </a:solidFill>
                <a:latin typeface="Roboto"/>
              </a:rPr>
              <a:t>3 из 6 этапов выполнено</a:t>
            </a:r>
          </a:p>
        </p:txBody>
      </p:sp>
      <p:sp>
        <p:nvSpPr>
          <p:cNvPr id="30" name="DoneLabel">
            <a:extLst>
              <a:ext uri="{FF2B5EF4-FFF2-40B4-BE49-F238E27FC236}">
                <a16:creationId xmlns:a16="http://schemas.microsoft.com/office/drawing/2014/main" id="{6D4CF732-DCE4-62FD-A8E5-47FF51B9A8D7}"/>
              </a:ext>
            </a:extLst>
          </p:cNvPr>
          <p:cNvSpPr/>
          <p:nvPr/>
        </p:nvSpPr>
        <p:spPr>
          <a:xfrm>
            <a:off x="793790" y="1550000"/>
            <a:ext cx="6200000" cy="40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marL="0" indent="0" algn="l">
              <a:buNone/>
            </a:pPr>
            <a:r>
              <a:rPr lang="ru-RU" sz="2000" b="1" dirty="0">
                <a:solidFill>
                  <a:srgbClr val="1A2D6B"/>
                </a:solidFill>
                <a:latin typeface="Roboto"/>
              </a:rPr>
              <a:t>✅  Выполнено</a:t>
            </a:r>
          </a:p>
        </p:txBody>
      </p:sp>
      <p:sp>
        <p:nvSpPr>
          <p:cNvPr id="31" name="Done1BG">
            <a:extLst>
              <a:ext uri="{FF2B5EF4-FFF2-40B4-BE49-F238E27FC236}">
                <a16:creationId xmlns:a16="http://schemas.microsoft.com/office/drawing/2014/main" id="{AF8BE17D-55D4-0683-5920-C3FA01E50D4B}"/>
              </a:ext>
            </a:extLst>
          </p:cNvPr>
          <p:cNvSpPr/>
          <p:nvPr/>
        </p:nvSpPr>
        <p:spPr>
          <a:xfrm>
            <a:off x="793790" y="2050000"/>
            <a:ext cx="6200000" cy="1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DA05B"/>
            </a:solidFill>
          </a:ln>
        </p:spPr>
        <p:txBody>
          <a:bodyPr wrap="square" lIns="200000" tIns="150000" rIns="200000" bIns="15000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600" b="1" dirty="0">
                <a:solidFill>
                  <a:srgbClr val="3DA05B"/>
                </a:solidFill>
                <a:latin typeface="Roboto"/>
              </a:rPr>
              <a:t>Раздел 1 — Разведочный анализ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ru-RU" sz="1400" dirty="0">
                <a:solidFill>
                  <a:srgbClr val="4A4A4A"/>
                </a:solidFill>
                <a:latin typeface="Roboto"/>
              </a:rPr>
              <a:t>Конвейер очистки, текстовые и семантические метрики, кластеризация</a:t>
            </a:r>
          </a:p>
        </p:txBody>
      </p:sp>
      <p:sp>
        <p:nvSpPr>
          <p:cNvPr id="32" name="Done2BG">
            <a:extLst>
              <a:ext uri="{FF2B5EF4-FFF2-40B4-BE49-F238E27FC236}">
                <a16:creationId xmlns:a16="http://schemas.microsoft.com/office/drawing/2014/main" id="{27FA5F32-FB78-EA93-F61E-7C17D762D94C}"/>
              </a:ext>
            </a:extLst>
          </p:cNvPr>
          <p:cNvSpPr/>
          <p:nvPr/>
        </p:nvSpPr>
        <p:spPr>
          <a:xfrm>
            <a:off x="793790" y="3800000"/>
            <a:ext cx="6200000" cy="1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DA05B"/>
            </a:solidFill>
          </a:ln>
        </p:spPr>
        <p:txBody>
          <a:bodyPr wrap="square" lIns="200000" tIns="150000" rIns="200000" bIns="15000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600" b="1" dirty="0">
                <a:solidFill>
                  <a:srgbClr val="3DA05B"/>
                </a:solidFill>
                <a:latin typeface="Roboto"/>
              </a:rPr>
              <a:t>Раздел 2 — Аугментация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ru-RU" sz="1400" dirty="0">
                <a:solidFill>
                  <a:srgbClr val="4A4A4A"/>
                </a:solidFill>
                <a:latin typeface="Roboto"/>
              </a:rPr>
              <a:t>Трёхэтапный пайплайн с системой валидации — результаты на 5 моделях</a:t>
            </a:r>
          </a:p>
        </p:txBody>
      </p:sp>
      <p:sp>
        <p:nvSpPr>
          <p:cNvPr id="33" name="Done3BG">
            <a:extLst>
              <a:ext uri="{FF2B5EF4-FFF2-40B4-BE49-F238E27FC236}">
                <a16:creationId xmlns:a16="http://schemas.microsoft.com/office/drawing/2014/main" id="{3407D26E-0C32-C76A-EE41-5908AD831E0E}"/>
              </a:ext>
            </a:extLst>
          </p:cNvPr>
          <p:cNvSpPr/>
          <p:nvPr/>
        </p:nvSpPr>
        <p:spPr>
          <a:xfrm>
            <a:off x="793790" y="5550000"/>
            <a:ext cx="6200000" cy="1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DA05B"/>
            </a:solidFill>
          </a:ln>
        </p:spPr>
        <p:txBody>
          <a:bodyPr wrap="square" lIns="200000" tIns="150000" rIns="200000" bIns="15000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600" b="1" dirty="0">
                <a:solidFill>
                  <a:srgbClr val="3DA05B"/>
                </a:solidFill>
                <a:latin typeface="Roboto"/>
              </a:rPr>
              <a:t>Раздел 3 — Prompt-based классификация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ru-RU" sz="1400" dirty="0">
                <a:solidFill>
                  <a:srgbClr val="4A4A4A"/>
                </a:solidFill>
                <a:latin typeface="Roboto"/>
              </a:rPr>
              <a:t>Матрица 5 моделей × 6 режимов</a:t>
            </a:r>
          </a:p>
        </p:txBody>
      </p:sp>
      <p:sp>
        <p:nvSpPr>
          <p:cNvPr id="34" name="TodoLabel">
            <a:extLst>
              <a:ext uri="{FF2B5EF4-FFF2-40B4-BE49-F238E27FC236}">
                <a16:creationId xmlns:a16="http://schemas.microsoft.com/office/drawing/2014/main" id="{5B2640D6-ECC6-D6D9-E15E-866D654D0CDD}"/>
              </a:ext>
            </a:extLst>
          </p:cNvPr>
          <p:cNvSpPr/>
          <p:nvPr/>
        </p:nvSpPr>
        <p:spPr>
          <a:xfrm>
            <a:off x="7336610" y="1550000"/>
            <a:ext cx="6500000" cy="40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marL="0" indent="0" algn="l">
              <a:buNone/>
            </a:pPr>
            <a:r>
              <a:rPr lang="ru-RU" sz="2000" b="1" dirty="0">
                <a:solidFill>
                  <a:srgbClr val="3257B8"/>
                </a:solidFill>
                <a:latin typeface="Roboto"/>
              </a:rPr>
              <a:t>📋  Осталось</a:t>
            </a:r>
          </a:p>
        </p:txBody>
      </p:sp>
      <p:sp>
        <p:nvSpPr>
          <p:cNvPr id="35" name="Todo1BG">
            <a:extLst>
              <a:ext uri="{FF2B5EF4-FFF2-40B4-BE49-F238E27FC236}">
                <a16:creationId xmlns:a16="http://schemas.microsoft.com/office/drawing/2014/main" id="{7A4823F1-A70C-FFD0-43C4-CE535A227EA8}"/>
              </a:ext>
            </a:extLst>
          </p:cNvPr>
          <p:cNvSpPr/>
          <p:nvPr/>
        </p:nvSpPr>
        <p:spPr>
          <a:xfrm>
            <a:off x="7336610" y="2050000"/>
            <a:ext cx="6500000" cy="1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257B8"/>
            </a:solidFill>
          </a:ln>
        </p:spPr>
        <p:txBody>
          <a:bodyPr wrap="square" lIns="200000" tIns="150000" rIns="200000" bIns="15000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600" b="1" dirty="0">
                <a:solidFill>
                  <a:srgbClr val="3257B8"/>
                </a:solidFill>
                <a:latin typeface="Roboto"/>
              </a:rPr>
              <a:t>Раздел 4 — Дообучение LLM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ru-RU" sz="1400" dirty="0">
                <a:solidFill>
                  <a:srgbClr val="4A4A4A"/>
                </a:solidFill>
                <a:latin typeface="Roboto"/>
              </a:rPr>
              <a:t>Методы LoRA / QLoRA / AdaLoRA / TinyLoRA на аугментированных данных</a:t>
            </a:r>
          </a:p>
        </p:txBody>
      </p:sp>
      <p:sp>
        <p:nvSpPr>
          <p:cNvPr id="36" name="Todo2BG">
            <a:extLst>
              <a:ext uri="{FF2B5EF4-FFF2-40B4-BE49-F238E27FC236}">
                <a16:creationId xmlns:a16="http://schemas.microsoft.com/office/drawing/2014/main" id="{3213564A-0BCD-1306-43F5-A5E26FDFEC93}"/>
              </a:ext>
            </a:extLst>
          </p:cNvPr>
          <p:cNvSpPr/>
          <p:nvPr/>
        </p:nvSpPr>
        <p:spPr>
          <a:xfrm>
            <a:off x="7336610" y="3800000"/>
            <a:ext cx="6500000" cy="1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257B8"/>
            </a:solidFill>
          </a:ln>
        </p:spPr>
        <p:txBody>
          <a:bodyPr wrap="square" lIns="200000" tIns="150000" rIns="200000" bIns="15000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600" b="1" dirty="0">
                <a:solidFill>
                  <a:srgbClr val="3257B8"/>
                </a:solidFill>
                <a:latin typeface="Roboto"/>
              </a:rPr>
              <a:t>Сравнение подходов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ru-RU" sz="1400" dirty="0">
                <a:solidFill>
                  <a:srgbClr val="4A4A4A"/>
                </a:solidFill>
                <a:latin typeface="Roboto"/>
              </a:rPr>
              <a:t>Fine-tuned моделей с prompt-based baseline</a:t>
            </a:r>
          </a:p>
        </p:txBody>
      </p:sp>
      <p:sp>
        <p:nvSpPr>
          <p:cNvPr id="37" name="Todo3BG">
            <a:extLst>
              <a:ext uri="{FF2B5EF4-FFF2-40B4-BE49-F238E27FC236}">
                <a16:creationId xmlns:a16="http://schemas.microsoft.com/office/drawing/2014/main" id="{A5054484-5943-1885-DF14-8F18255C315E}"/>
              </a:ext>
            </a:extLst>
          </p:cNvPr>
          <p:cNvSpPr/>
          <p:nvPr/>
        </p:nvSpPr>
        <p:spPr>
          <a:xfrm>
            <a:off x="7336610" y="5550000"/>
            <a:ext cx="6500000" cy="1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257B8"/>
            </a:solidFill>
          </a:ln>
        </p:spPr>
        <p:txBody>
          <a:bodyPr wrap="square" lIns="200000" tIns="150000" rIns="200000" bIns="15000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600" b="1" dirty="0">
                <a:solidFill>
                  <a:srgbClr val="3257B8"/>
                </a:solidFill>
                <a:latin typeface="Roboto"/>
              </a:rPr>
              <a:t>Финальные метрики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ru-RU" sz="1400" dirty="0">
                <a:solidFill>
                  <a:srgbClr val="4A4A4A"/>
                </a:solidFill>
                <a:latin typeface="Roboto"/>
              </a:rPr>
              <a:t>Метрики на открытых данных, per-class анализ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</TotalTime>
  <Words>1090</Words>
  <Application>Microsoft Macintosh PowerPoint</Application>
  <PresentationFormat>Произвольный</PresentationFormat>
  <Paragraphs>239</Paragraphs>
  <Slides>12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Roboto Slab</vt:lpstr>
      <vt:lpstr>-apple-system, BlinkMacSystemFont, Segoe UI, Roboto, Helvetica Neue, Arial, sans-serif Medium</vt:lpstr>
      <vt:lpstr>Candara</vt:lpstr>
      <vt:lpstr>Arial</vt:lpstr>
      <vt:lpstr>Roboto</vt:lpstr>
      <vt:lpstr>Consolas</vt:lpstr>
      <vt:lpstr>Instrument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Константин Тураносов</cp:lastModifiedBy>
  <cp:revision>10</cp:revision>
  <dcterms:created xsi:type="dcterms:W3CDTF">2026-04-13T10:36:46Z</dcterms:created>
  <dcterms:modified xsi:type="dcterms:W3CDTF">2026-04-16T19:28:31Z</dcterms:modified>
</cp:coreProperties>
</file>